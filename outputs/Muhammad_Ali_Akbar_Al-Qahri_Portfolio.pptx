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4fb8a72cf4478f" /><Relationship Type="http://schemas.openxmlformats.org/officeDocument/2006/relationships/extended-properties" Target="/docProps/app.xml" Id="R9dc072b79f8c457b" /><Relationship Type="http://schemas.openxmlformats.org/officeDocument/2006/relationships/officeDocument" Target="/ppt/presentation.xml" Id="R3f20e89b050444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aecc7f327443c8"/>
  </p:sldMasterIdLst>
  <p:notesMasterIdLst>
    <p:notesMasterId xmlns:r="http://schemas.openxmlformats.org/officeDocument/2006/relationships" r:id="Rb8767244bdd941b9"/>
  </p:notesMasterIdLst>
  <p:sldIdLst>
    <p:sldId xmlns:r="http://schemas.openxmlformats.org/officeDocument/2006/relationships" id="256" r:id="R8227a1aec2d04c52"/>
    <p:sldId xmlns:r="http://schemas.openxmlformats.org/officeDocument/2006/relationships" id="257" r:id="R83e922ac714d4b42"/>
    <p:sldId xmlns:r="http://schemas.openxmlformats.org/officeDocument/2006/relationships" id="258" r:id="Rb7a700d923634d72"/>
    <p:sldId xmlns:r="http://schemas.openxmlformats.org/officeDocument/2006/relationships" id="259" r:id="R40ec7691f0e34268"/>
    <p:sldId xmlns:r="http://schemas.openxmlformats.org/officeDocument/2006/relationships" id="260" r:id="R85528466862f4723"/>
    <p:sldId xmlns:r="http://schemas.openxmlformats.org/officeDocument/2006/relationships" id="261" r:id="Rb403ff9b6dc44031"/>
    <p:sldId xmlns:r="http://schemas.openxmlformats.org/officeDocument/2006/relationships" id="262" r:id="R063485ee2a2c4fb4"/>
    <p:sldId xmlns:r="http://schemas.openxmlformats.org/officeDocument/2006/relationships" id="263" r:id="R1c7215f4d5e640fb"/>
    <p:sldId xmlns:r="http://schemas.openxmlformats.org/officeDocument/2006/relationships" id="264" r:id="R58d6f86db66a4e45"/>
    <p:sldId xmlns:r="http://schemas.openxmlformats.org/officeDocument/2006/relationships" id="265" r:id="R8e55402a7a4a4676"/>
    <p:sldId xmlns:r="http://schemas.openxmlformats.org/officeDocument/2006/relationships" id="266" r:id="R29514ac0a21d463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f053ed8d3f4970" /><Relationship Type="http://schemas.openxmlformats.org/officeDocument/2006/relationships/slideMaster" Target="/ppt/slideMasters/slideMaster1.xml" Id="Rb3aecc7f327443c8" /><Relationship Type="http://schemas.openxmlformats.org/officeDocument/2006/relationships/notesMaster" Target="/ppt/notesMasters/notesMaster1.xml" Id="Rb8767244bdd941b9" /><Relationship Type="http://schemas.openxmlformats.org/officeDocument/2006/relationships/presProps" Target="/ppt/presProps.xml" Id="R80bb73438fa14af6" /><Relationship Type="http://schemas.openxmlformats.org/officeDocument/2006/relationships/tableStyles" Target="/ppt/tableStyles.xml" Id="Rf36e6c703e4c4c59" /><Relationship Type="http://schemas.openxmlformats.org/officeDocument/2006/relationships/slide" Target="/ppt/slides/slide1.xml" Id="R8227a1aec2d04c52" /><Relationship Type="http://schemas.openxmlformats.org/officeDocument/2006/relationships/slide" Target="/ppt/slides/slide2.xml" Id="R83e922ac714d4b42" /><Relationship Type="http://schemas.openxmlformats.org/officeDocument/2006/relationships/slide" Target="/ppt/slides/slide3.xml" Id="Rb7a700d923634d72" /><Relationship Type="http://schemas.openxmlformats.org/officeDocument/2006/relationships/slide" Target="/ppt/slides/slide4.xml" Id="R40ec7691f0e34268" /><Relationship Type="http://schemas.openxmlformats.org/officeDocument/2006/relationships/slide" Target="/ppt/slides/slide5.xml" Id="R85528466862f4723" /><Relationship Type="http://schemas.openxmlformats.org/officeDocument/2006/relationships/slide" Target="/ppt/slides/slide6.xml" Id="Rb403ff9b6dc44031" /><Relationship Type="http://schemas.openxmlformats.org/officeDocument/2006/relationships/slide" Target="/ppt/slides/slide7.xml" Id="R063485ee2a2c4fb4" /><Relationship Type="http://schemas.openxmlformats.org/officeDocument/2006/relationships/slide" Target="/ppt/slides/slide8.xml" Id="R1c7215f4d5e640fb" /><Relationship Type="http://schemas.openxmlformats.org/officeDocument/2006/relationships/slide" Target="/ppt/slides/slide9.xml" Id="R58d6f86db66a4e45" /><Relationship Type="http://schemas.openxmlformats.org/officeDocument/2006/relationships/slide" Target="/ppt/slides/slide10.xml" Id="R8e55402a7a4a4676" /><Relationship Type="http://schemas.openxmlformats.org/officeDocument/2006/relationships/slide" Target="/ppt/slides/slide11.xml" Id="R29514ac0a21d46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43c6a829424d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2cac4eea574f9a" /><Relationship Type="http://schemas.openxmlformats.org/officeDocument/2006/relationships/notesMaster" Target="/ppt/notesMasters/notesMaster1.xml" Id="R4bae423c1ced48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fd7f0c300348a7" /><Relationship Type="http://schemas.openxmlformats.org/officeDocument/2006/relationships/notesMaster" Target="/ppt/notesMasters/notesMaster1.xml" Id="Ra7d6d4d37c7d45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c58b5ce0c14833" /><Relationship Type="http://schemas.openxmlformats.org/officeDocument/2006/relationships/notesMaster" Target="/ppt/notesMasters/notesMaster1.xml" Id="Rbf376173143f46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9a2d233b5c4d81" /><Relationship Type="http://schemas.openxmlformats.org/officeDocument/2006/relationships/notesMaster" Target="/ppt/notesMasters/notesMaster1.xml" Id="Rc9ce47f1187e4f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2b8b46f89649f7" /><Relationship Type="http://schemas.openxmlformats.org/officeDocument/2006/relationships/notesMaster" Target="/ppt/notesMasters/notesMaster1.xml" Id="Rbe32ce626e584f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772fc54b73456e" /><Relationship Type="http://schemas.openxmlformats.org/officeDocument/2006/relationships/notesMaster" Target="/ppt/notesMasters/notesMaster1.xml" Id="R07e7c0aa0a524a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edd4973e1b4f90" /><Relationship Type="http://schemas.openxmlformats.org/officeDocument/2006/relationships/notesMaster" Target="/ppt/notesMasters/notesMaster1.xml" Id="Rc4b387ec30d94f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b1cfa939354fd8" /><Relationship Type="http://schemas.openxmlformats.org/officeDocument/2006/relationships/notesMaster" Target="/ppt/notesMasters/notesMaster1.xml" Id="R27be82083e4d43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de855144394205" /><Relationship Type="http://schemas.openxmlformats.org/officeDocument/2006/relationships/notesMaster" Target="/ppt/notesMasters/notesMaster1.xml" Id="R40afde37b61f45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4405ad45c84a6a" /><Relationship Type="http://schemas.openxmlformats.org/officeDocument/2006/relationships/notesMaster" Target="/ppt/notesMasters/notesMaster1.xml" Id="Rb186b540fd344f1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f1de03511a346d5" /><Relationship Type="http://schemas.openxmlformats.org/officeDocument/2006/relationships/notesMaster" Target="/ppt/notesMasters/notesMaster1.xml" Id="Rfc0f2bd2a4494f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36e09b5a164a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20f5c1667e4e4b" /><Relationship Type="http://schemas.openxmlformats.org/officeDocument/2006/relationships/slideLayout" Target="/ppt/slideLayouts/slideLayout1.xml" Id="Rc8664c03651f46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664c03651f46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52832143e40a7" /><Relationship Type="http://schemas.openxmlformats.org/officeDocument/2006/relationships/image" Target="/ppt/media/image.png" Id="R2b28eba398554a4e" /><Relationship Type="http://schemas.openxmlformats.org/officeDocument/2006/relationships/notesSlide" Target="/ppt/notesSlides/notesSlide1.xml" Id="R2cebfeab18414e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3b5e67aef4c60" /><Relationship Type="http://schemas.openxmlformats.org/officeDocument/2006/relationships/notesSlide" Target="/ppt/notesSlides/notesSlide2.xml" Id="Rfa949e27341a48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e67cddb61464f" /><Relationship Type="http://schemas.openxmlformats.org/officeDocument/2006/relationships/notesSlide" Target="/ppt/notesSlides/notesSlide3.xml" Id="Rf7ff1b499ded40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9c15eae9a4182" /><Relationship Type="http://schemas.openxmlformats.org/officeDocument/2006/relationships/notesSlide" Target="/ppt/notesSlides/notesSlide4.xml" Id="R66ebf7863e5d49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263e39c2a4dd8" /><Relationship Type="http://schemas.openxmlformats.org/officeDocument/2006/relationships/image" Target="/ppt/media/image.jpeg" Id="R119d49ebbf264a38" /><Relationship Type="http://schemas.openxmlformats.org/officeDocument/2006/relationships/notesSlide" Target="/ppt/notesSlides/notesSlide5.xml" Id="R221963e3f9554e9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9d71958884577" /><Relationship Type="http://schemas.openxmlformats.org/officeDocument/2006/relationships/image" Target="/ppt/media/image2.jpeg" Id="R59e696ef98f74b0f" /><Relationship Type="http://schemas.openxmlformats.org/officeDocument/2006/relationships/image" Target="/ppt/media/image3.jpeg" Id="R9371c9e41ec5455e" /><Relationship Type="http://schemas.openxmlformats.org/officeDocument/2006/relationships/notesSlide" Target="/ppt/notesSlides/notesSlide6.xml" Id="Rb791c71206d34f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4ea8c1fd14790" /><Relationship Type="http://schemas.openxmlformats.org/officeDocument/2006/relationships/image" Target="/ppt/media/image4.jpeg" Id="Re33f205eaedd4281" /><Relationship Type="http://schemas.openxmlformats.org/officeDocument/2006/relationships/image" Target="/ppt/media/image5.jpeg" Id="R5da926c1163e447b" /><Relationship Type="http://schemas.openxmlformats.org/officeDocument/2006/relationships/notesSlide" Target="/ppt/notesSlides/notesSlide7.xml" Id="Rc4c404e2077445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e928c40b64097" /><Relationship Type="http://schemas.openxmlformats.org/officeDocument/2006/relationships/image" Target="/ppt/media/image6.jpeg" Id="R28a9f3ae12a44d8d" /><Relationship Type="http://schemas.openxmlformats.org/officeDocument/2006/relationships/notesSlide" Target="/ppt/notesSlides/notesSlide8.xml" Id="R5851f8c1a9634f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c55e237a949f0" /><Relationship Type="http://schemas.openxmlformats.org/officeDocument/2006/relationships/image" Target="/ppt/media/image2.png" Id="R727b4417622e492b" /><Relationship Type="http://schemas.openxmlformats.org/officeDocument/2006/relationships/image" Target="/ppt/media/image3.png" Id="Rac864c6773924795" /><Relationship Type="http://schemas.openxmlformats.org/officeDocument/2006/relationships/image" Target="/ppt/media/image4.png" Id="R4ce175943bbe423f" /><Relationship Type="http://schemas.openxmlformats.org/officeDocument/2006/relationships/notesSlide" Target="/ppt/notesSlides/notesSlide9.xml" Id="R4f54fc3b660743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91310c5ef4b3f" /><Relationship Type="http://schemas.openxmlformats.org/officeDocument/2006/relationships/notesSlide" Target="/ppt/notesSlides/notesSlide10.xml" Id="R41116dd929334a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5200e44084854" /><Relationship Type="http://schemas.openxmlformats.org/officeDocument/2006/relationships/notesSlide" Target="/ppt/notesSlides/notesSlide11.xml" Id="R00783644c7c5448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874E0670-C662-42E7-B453-32A943B1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cover-blue-rail">
            <a:extLst xmlns:a="http://schemas.openxmlformats.org/drawingml/2006/main">
              <a:ext uri="{FF2B5EF4-FFF2-40B4-BE49-F238E27FC236}">
                <a16:creationId xmlns:a16="http://schemas.microsoft.com/office/drawing/2014/main" id="{628FB84B-82C9-4022-B5FC-B75E39F9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B44F"/>
          </a:solidFill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1DE9DE61-F9B6-4717-AE27-8E6249E9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"/>
            <a:ext cx="657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DATA ANALYST  ·  DATA SCIENTIST  ·  DATABASE ENGINEER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7E19648-E717-443B-8F94-6103D579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6572250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I turn raw data
into decisions.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CF40701-CCD7-42FF-B82F-2EC68E7D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600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Reliable data. Applied models. Decision-ready products.</a:t>
            </a:r>
          </a:p>
        </p:txBody>
      </p:sp>
      <p:sp>
        <p:nvSpPr>
          <p:cNvPr id="6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E7BE3185-E624-4ECD-97A1-6A8F4268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62375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7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D999D140-8015-4577-9F34-A05397A8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3.74 / 4.00 GPA</a:t>
            </a:r>
          </a:p>
        </p:txBody>
      </p:sp>
      <p:sp>
        <p:nvSpPr>
          <p:cNvPr id="8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54E07E58-B362-4B89-9CF3-42A00960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762375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9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A09B1C40-EC50-4084-8AB3-77C3C349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29050"/>
            <a:ext cx="1562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Best Paper · ICoDSA</a:t>
            </a:r>
          </a:p>
        </p:txBody>
      </p:sp>
      <p:sp>
        <p:nvSpPr>
          <p:cNvPr id="10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F15BC570-B3E8-426E-9AF8-71DA5D1F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62375"/>
            <a:ext cx="1085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11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6B3515CA-F211-4BC9-B414-07028D6D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857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Indonesia</a:t>
            </a:r>
          </a:p>
        </p:txBody>
      </p:sp>
      <p:sp>
        <p:nvSpPr>
          <p:cNvPr id="12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F440EC31-D423-45F2-9334-6BD23B24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5934075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13" name="cover-name">
            <a:extLst xmlns:a="http://schemas.openxmlformats.org/drawingml/2006/main">
              <a:ext uri="{FF2B5EF4-FFF2-40B4-BE49-F238E27FC236}">
                <a16:creationId xmlns:a16="http://schemas.microsoft.com/office/drawing/2014/main" id="{9D1D8A8D-68F7-4C4E-A85A-22F1D58A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5000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Muhammad Ali Akbar Al-Qahri</a:t>
            </a:r>
          </a:p>
        </p:txBody>
      </p:sp>
      <p:sp>
        <p:nvSpPr>
          <p:cNvPr id="14" name="cover-email">
            <a:extLst xmlns:a="http://schemas.openxmlformats.org/drawingml/2006/main">
              <a:ext uri="{FF2B5EF4-FFF2-40B4-BE49-F238E27FC236}">
                <a16:creationId xmlns:a16="http://schemas.microsoft.com/office/drawing/2014/main" id="{E4F56AD4-527F-4A2E-B12B-047DD826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14950"/>
            <a:ext cx="523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akbaralqahri@gmail.com  ·  linkedin.com/in/akbaralqahri</a:t>
            </a:r>
          </a:p>
        </p:txBody>
      </p:sp>
      <p:sp>
        <p:nvSpPr>
          <p:cNvPr id="15" name="cover-photo-frame">
            <a:extLst xmlns:a="http://schemas.openxmlformats.org/drawingml/2006/main">
              <a:ext uri="{FF2B5EF4-FFF2-40B4-BE49-F238E27FC236}">
                <a16:creationId xmlns:a16="http://schemas.microsoft.com/office/drawing/2014/main" id="{FAE369E5-0A6B-40CB-ABCF-68E72882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0050"/>
            <a:ext cx="4362450" cy="5619750"/>
          </a:xfrm>
          <a:prstGeom xmlns:a="http://schemas.openxmlformats.org/drawingml/2006/main" prst="roundRect">
            <a:avLst>
              <a:gd name="adj" fmla="val 1747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16" name="cover-photo-accent">
            <a:extLst xmlns:a="http://schemas.openxmlformats.org/drawingml/2006/main">
              <a:ext uri="{FF2B5EF4-FFF2-40B4-BE49-F238E27FC236}">
                <a16:creationId xmlns:a16="http://schemas.microsoft.com/office/drawing/2014/main" id="{A1CF5E8C-37EE-4789-8CD5-5BA404A7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00050"/>
            <a:ext cx="723900" cy="56197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65FA8"/>
          </a:solidFill>
        </p:spPr>
      </p:sp>
      <p:sp>
        <p:nvSpPr>
          <p:cNvPr id="17" name="footer-line-1">
            <a:extLst xmlns:a="http://schemas.openxmlformats.org/drawingml/2006/main">
              <a:ext uri="{FF2B5EF4-FFF2-40B4-BE49-F238E27FC236}">
                <a16:creationId xmlns:a16="http://schemas.microsoft.com/office/drawing/2014/main" id="{DB4121B9-6E7A-4C55-AF25-C6B6E568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18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24F00833-164A-434C-B903-696D7185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9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1FBC802E-C34C-45C8-85E8-23C12B6B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8eba398554a4e"/>
          <a:srcRect xmlns:a="http://schemas.openxmlformats.org/drawingml/2006/main" l="0" t="1015" r="0" b="10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2850" y="590550"/>
            <a:ext cx="3981450" cy="5238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6472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818BC0FA-92D5-472F-8021-F05C7177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2">
            <a:extLst xmlns:a="http://schemas.openxmlformats.org/drawingml/2006/main">
              <a:ext uri="{FF2B5EF4-FFF2-40B4-BE49-F238E27FC236}">
                <a16:creationId xmlns:a16="http://schemas.microsoft.com/office/drawing/2014/main" id="{1B59F5F9-EA83-4A91-BFC5-33586D69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POSITIONING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47A712AF-4D3F-4056-883D-C6D398BF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One profile covers the full data lifecycle.</a:t>
            </a:r>
          </a:p>
        </p:txBody>
      </p:sp>
      <p:sp>
        <p:nvSpPr>
          <p:cNvPr id="4" name="subtitle-2">
            <a:extLst xmlns:a="http://schemas.openxmlformats.org/drawingml/2006/main">
              <a:ext uri="{FF2B5EF4-FFF2-40B4-BE49-F238E27FC236}">
                <a16:creationId xmlns:a16="http://schemas.microsoft.com/office/drawing/2014/main" id="{0CB2E2AF-6E6B-4E0B-9B6B-634ED9FA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From trusted inputs to decisions people can act on.</a:t>
            </a:r>
          </a:p>
        </p:txBody>
      </p:sp>
      <p:sp>
        <p:nvSpPr>
          <p:cNvPr id="5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446AB52E-F49C-41FB-B4E0-8DFAD1DB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6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0F5FAF3D-CE9C-4696-8EA6-72C9F093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0B44F"/>
          </a:solidFill>
        </p:spPr>
      </p:sp>
      <p:sp>
        <p:nvSpPr>
          <p:cNvPr id="7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3C93951F-A5DD-4610-95F9-6BE73924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53AF66AF-F63D-477F-AEFE-9DED5ED3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Data Analyst</a:t>
            </a:r>
          </a:p>
        </p:txBody>
      </p:sp>
      <p:sp>
        <p:nvSpPr>
          <p:cNvPr id="9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900F5480-240F-4180-8BDA-61CD91BE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Frames the question, defines KPIs, and communicates the decision.</a:t>
            </a:r>
          </a:p>
        </p:txBody>
      </p:sp>
      <p:sp>
        <p:nvSpPr>
          <p:cNvPr id="10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D24ACF06-0E81-438D-A572-9564435F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11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3EAD081B-8A2D-46E0-84A9-53481F9B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8 strategic dashboards</a:t>
            </a:r>
          </a:p>
        </p:txBody>
      </p:sp>
      <p:sp>
        <p:nvSpPr>
          <p:cNvPr id="12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935C5DF7-6D44-4407-9CE1-1C265F04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13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34106409-DD96-49BD-901B-CFA8D800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A78BFA"/>
          </a:solidFill>
        </p:spPr>
      </p:sp>
      <p:sp>
        <p:nvSpPr>
          <p:cNvPr id="14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6251DE9C-1BCB-47E4-BA53-3480A15D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5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2C436E90-05A6-4984-A8DF-D11CF471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Data Scientist</a:t>
            </a:r>
          </a:p>
        </p:txBody>
      </p:sp>
      <p:sp>
        <p:nvSpPr>
          <p:cNvPr id="16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1927BE34-B858-489C-A48C-E6AA3009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Builds interpretable models and validates whether they generalize.</a:t>
            </a:r>
          </a:p>
        </p:txBody>
      </p:sp>
      <p:sp>
        <p:nvSpPr>
          <p:cNvPr id="17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69BA743C-CF62-4881-A45D-35A02847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18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B215376D-6D65-4DE1-89C5-DDA0629E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85.1% R² · 89% accuracy</a:t>
            </a:r>
          </a:p>
        </p:txBody>
      </p:sp>
      <p:sp>
        <p:nvSpPr>
          <p:cNvPr id="19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804EEB0D-AC3C-499C-BB72-A6C297B2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20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573AD520-FD92-45AE-8F5E-6C4663DD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65FA8"/>
          </a:solidFill>
        </p:spPr>
      </p:sp>
      <p:sp>
        <p:nvSpPr>
          <p:cNvPr id="21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B6E72B28-417E-4C3C-8AB9-4FF105B5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22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BE3D86B3-EC89-49C2-A745-3467228C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Database Engineer</a:t>
            </a:r>
          </a:p>
        </p:txBody>
      </p:sp>
      <p:sp>
        <p:nvSpPr>
          <p:cNvPr id="23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0F587F3A-271E-4D03-AF75-D0B5E5FA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Designs reliable pipelines, transformations, and quality controls.</a:t>
            </a:r>
          </a:p>
        </p:txBody>
      </p:sp>
      <p:sp>
        <p:nvSpPr>
          <p:cNvPr id="24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C5C91A87-ED3C-4C24-B13B-DBCFA551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25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57F5AD64-05D6-4385-A0D5-4957E15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10K+ questions automated</a:t>
            </a:r>
          </a:p>
        </p:txBody>
      </p:sp>
      <p:sp>
        <p:nvSpPr>
          <p:cNvPr id="26" name="footer-line-2">
            <a:extLst xmlns:a="http://schemas.openxmlformats.org/drawingml/2006/main">
              <a:ext uri="{FF2B5EF4-FFF2-40B4-BE49-F238E27FC236}">
                <a16:creationId xmlns:a16="http://schemas.microsoft.com/office/drawing/2014/main" id="{4CCDDDC0-38D0-42C4-BEA3-CAC4C3BC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27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75189572-8B16-4FC1-8C0C-7B5DDD6B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28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DF4DCBB-3822-471A-801A-0B9C7D80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341997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BE87A7E3-E62C-4C7A-90A3-3D61C90A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3">
            <a:extLst xmlns:a="http://schemas.openxmlformats.org/drawingml/2006/main">
              <a:ext uri="{FF2B5EF4-FFF2-40B4-BE49-F238E27FC236}">
                <a16:creationId xmlns:a16="http://schemas.microsoft.com/office/drawing/2014/main" id="{DD7E3909-8788-4F22-B6E6-05AE2C6E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EVIDENCE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AA36BC9A-BF54-4CAD-9BC3-B206FB4E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The work is already measurable.</a:t>
            </a:r>
          </a:p>
        </p:txBody>
      </p:sp>
      <p:sp>
        <p:nvSpPr>
          <p:cNvPr id="4" name="subtitle-3">
            <a:extLst xmlns:a="http://schemas.openxmlformats.org/drawingml/2006/main">
              <a:ext uri="{FF2B5EF4-FFF2-40B4-BE49-F238E27FC236}">
                <a16:creationId xmlns:a16="http://schemas.microsoft.com/office/drawing/2014/main" id="{A7126580-7E95-44AF-970E-87C5C187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Three outcomes spanning business intelligence, automation, and machine learning.</a:t>
            </a:r>
          </a:p>
        </p:txBody>
      </p:sp>
      <p:sp>
        <p:nvSpPr>
          <p:cNvPr id="5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3412164B-360E-4C9E-B5B4-1FF77769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6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C0FB40D1-A8F5-4657-A590-8E9FB32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B44F"/>
          </a:solidFill>
        </p:spPr>
      </p:sp>
      <p:sp>
        <p:nvSpPr>
          <p:cNvPr id="7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AE36D262-1B0C-4C87-9A6A-50988B52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40%</a:t>
            </a:r>
          </a:p>
        </p:txBody>
      </p:sp>
      <p:sp>
        <p:nvSpPr>
          <p:cNvPr id="8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B553037E-9DE7-4F42-B042-5121B567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faster reporting</a:t>
            </a:r>
          </a:p>
        </p:txBody>
      </p:sp>
      <p:sp>
        <p:nvSpPr>
          <p:cNvPr id="9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F579D585-B4B0-4702-8840-A2714CCE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Across five Bank Indonesia branches</a:t>
            </a:r>
          </a:p>
        </p:txBody>
      </p:sp>
      <p:sp>
        <p:nvSpPr>
          <p:cNvPr id="10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A4DF6434-7580-4E28-866F-99CAC2C4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11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68D5C66D-D29F-4231-A1F0-61FAD6F9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</p:spPr>
      </p:sp>
      <p:sp>
        <p:nvSpPr>
          <p:cNvPr id="12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3DC3C3EA-9DAF-4D6A-A9D9-F28C21B5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92%</a:t>
            </a:r>
          </a:p>
        </p:txBody>
      </p:sp>
      <p:sp>
        <p:nvSpPr>
          <p:cNvPr id="13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B703B55A-95F9-4464-9111-EC5DCCF2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text-processing accuracy</a:t>
            </a:r>
          </a:p>
        </p:txBody>
      </p:sp>
      <p:sp>
        <p:nvSpPr>
          <p:cNvPr id="14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3B1DFEB5-BEAE-4639-8426-A91D71D1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Gemini API workflow for question automation</a:t>
            </a:r>
          </a:p>
        </p:txBody>
      </p:sp>
      <p:sp>
        <p:nvSpPr>
          <p:cNvPr id="15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F341EE52-5EED-4928-9897-7FBAE21E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16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4464C0EF-4179-4064-AE5E-A0D2D43F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5FA8"/>
          </a:solidFill>
        </p:spPr>
      </p:sp>
      <p:sp>
        <p:nvSpPr>
          <p:cNvPr id="17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18446EA5-10DF-4FBA-9B08-2F96EBC1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89%</a:t>
            </a:r>
          </a:p>
        </p:txBody>
      </p:sp>
      <p:sp>
        <p:nvSpPr>
          <p:cNvPr id="18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2ECBD27B-DC9D-40FC-8ED6-6FF78995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classification accuracy</a:t>
            </a:r>
          </a:p>
        </p:txBody>
      </p:sp>
      <p:sp>
        <p:nvSpPr>
          <p:cNvPr id="19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DD2548A7-5817-418D-8014-CAAADF9F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Stock movement research · Best Paper</a:t>
            </a:r>
          </a:p>
        </p:txBody>
      </p:sp>
      <p:sp>
        <p:nvSpPr>
          <p:cNvPr id="20" name="footer-line-3">
            <a:extLst xmlns:a="http://schemas.openxmlformats.org/drawingml/2006/main">
              <a:ext uri="{FF2B5EF4-FFF2-40B4-BE49-F238E27FC236}">
                <a16:creationId xmlns:a16="http://schemas.microsoft.com/office/drawing/2014/main" id="{A9BFA24B-7769-443D-816C-3056D7DE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21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2E52BDA6-BDA4-4B3F-B3A0-1D9A5423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22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99DD64F3-7C11-4E4F-9911-EF95699E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6283247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232FEB19-3239-4055-90BF-41D14502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4">
            <a:extLst xmlns:a="http://schemas.openxmlformats.org/drawingml/2006/main">
              <a:ext uri="{FF2B5EF4-FFF2-40B4-BE49-F238E27FC236}">
                <a16:creationId xmlns:a16="http://schemas.microsoft.com/office/drawing/2014/main" id="{4C1993B5-261E-4037-83E7-1E561225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EXPERIENCE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A3320AD2-4E21-4A5A-B22C-F74D033F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I have delivered across analytics, engineering, and enablement.</a:t>
            </a:r>
          </a:p>
        </p:txBody>
      </p:sp>
      <p:sp>
        <p:nvSpPr>
          <p:cNvPr id="4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94BCBC37-03BD-4D80-9B44-C4141042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5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39A6FFF-3B85-4803-A74D-70E25AD3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6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DF4A4292-BF80-44D9-B2A2-C0E193DF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B44F"/>
          </a:solidFill>
        </p:spPr>
      </p:sp>
      <p:sp>
        <p:nvSpPr>
          <p:cNvPr id="7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9C59F436-B611-447E-969E-FAA98490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2024</a:t>
            </a:r>
          </a:p>
        </p:txBody>
      </p:sp>
      <p:sp>
        <p:nvSpPr>
          <p:cNvPr id="8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6873E7E1-6571-4F7B-9F47-F410EB19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Bank Indonesia</a:t>
            </a:r>
          </a:p>
        </p:txBody>
      </p:sp>
      <p:sp>
        <p:nvSpPr>
          <p:cNvPr id="9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591854D6-A535-4370-BEDB-25428009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Business Intelligence Intern</a:t>
            </a:r>
          </a:p>
        </p:txBody>
      </p:sp>
      <p:sp>
        <p:nvSpPr>
          <p:cNvPr id="10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46F00BE0-25C3-484F-82BE-34379E7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8 dashboards · 85% stakeholder satisfaction</a:t>
            </a:r>
          </a:p>
        </p:txBody>
      </p:sp>
      <p:sp>
        <p:nvSpPr>
          <p:cNvPr id="11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06F2765D-90A2-4DD8-A49A-89FFC625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12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BB0648B0-F890-4CF1-8D43-B05A186B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B44F"/>
          </a:solidFill>
        </p:spPr>
      </p:sp>
      <p:sp>
        <p:nvSpPr>
          <p:cNvPr id="13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95D531E7-7696-43C0-A80C-6A8040DC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2024–25</a:t>
            </a:r>
          </a:p>
        </p:txBody>
      </p:sp>
      <p:sp>
        <p:nvSpPr>
          <p:cNvPr id="14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87E41F04-EE91-49ED-BA45-4A5BB324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Telkom University</a:t>
            </a:r>
          </a:p>
        </p:txBody>
      </p:sp>
      <p:sp>
        <p:nvSpPr>
          <p:cNvPr id="15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F2F89A42-E51B-4AF1-A404-4E0C05A4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Teaching Assistant</a:t>
            </a:r>
          </a:p>
        </p:txBody>
      </p:sp>
      <p:sp>
        <p:nvSpPr>
          <p:cNvPr id="16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9E07E301-013D-4C1C-BB7F-0E3886CE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500+ assignments · 30% performance lift</a:t>
            </a:r>
          </a:p>
        </p:txBody>
      </p:sp>
      <p:sp>
        <p:nvSpPr>
          <p:cNvPr id="17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16134491-6C34-4B78-B37E-DE60E4FA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18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816FF0D6-50E9-41C6-9C3F-2BA59512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B44F"/>
          </a:solidFill>
        </p:spPr>
      </p:sp>
      <p:sp>
        <p:nvSpPr>
          <p:cNvPr id="19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64E1508F-C9C5-4925-A3DC-2EF9EC45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2025</a:t>
            </a:r>
          </a:p>
        </p:txBody>
      </p:sp>
      <p:sp>
        <p:nvSpPr>
          <p:cNvPr id="20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1428C36B-66A9-4B63-A83B-ED36DA7D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Garda Abdi Negara</a:t>
            </a:r>
          </a:p>
        </p:txBody>
      </p:sp>
      <p:sp>
        <p:nvSpPr>
          <p:cNvPr id="21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B17D3980-0D2E-49D4-8168-47D74BFE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Database Engineer</a:t>
            </a:r>
          </a:p>
        </p:txBody>
      </p:sp>
      <p:sp>
        <p:nvSpPr>
          <p:cNvPr id="22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F3508A03-0510-47F4-9AC9-96D39819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10K+ questions · 75% faster processing</a:t>
            </a:r>
          </a:p>
        </p:txBody>
      </p:sp>
      <p:sp>
        <p:nvSpPr>
          <p:cNvPr id="23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89FFAABF-E869-4332-8F3B-605992AD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0B44F"/>
          </a:solidFill>
        </p:spPr>
      </p:sp>
      <p:sp>
        <p:nvSpPr>
          <p:cNvPr id="24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0E28A986-8839-4987-A22A-8E989468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5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7E3CCC75-EBED-48A8-A1A8-FB971B6F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2025–now</a:t>
            </a:r>
          </a:p>
        </p:txBody>
      </p:sp>
      <p:sp>
        <p:nvSpPr>
          <p:cNvPr id="26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2819C91C-197A-4753-AC06-0EAADB99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Cerebrum</a:t>
            </a:r>
          </a:p>
        </p:txBody>
      </p:sp>
      <p:sp>
        <p:nvSpPr>
          <p:cNvPr id="27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C42DF89F-2AA1-4EBC-B925-528AF578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Data Analyst</a:t>
            </a:r>
          </a:p>
        </p:txBody>
      </p:sp>
      <p:sp>
        <p:nvSpPr>
          <p:cNvPr id="28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7B3830D0-86DF-4EF8-B828-C7BC3578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MySQL ETL · Power BI KPI systems</a:t>
            </a:r>
          </a:p>
        </p:txBody>
      </p:sp>
      <p:sp>
        <p:nvSpPr>
          <p:cNvPr id="29" name="footer-line-4">
            <a:extLst xmlns:a="http://schemas.openxmlformats.org/drawingml/2006/main">
              <a:ext uri="{FF2B5EF4-FFF2-40B4-BE49-F238E27FC236}">
                <a16:creationId xmlns:a16="http://schemas.microsoft.com/office/drawing/2014/main" id="{F51D81FC-46DC-43B7-95B2-A2E73A91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30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AE2F22FF-13CC-4BC5-9451-3B2360FC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31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52A7D92E-6FAF-430F-91A5-2D60A1EB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6265339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5D98760D-6606-4394-86A1-4CB43F9C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5">
            <a:extLst xmlns:a="http://schemas.openxmlformats.org/drawingml/2006/main">
              <a:ext uri="{FF2B5EF4-FFF2-40B4-BE49-F238E27FC236}">
                <a16:creationId xmlns:a16="http://schemas.microsoft.com/office/drawing/2014/main" id="{2FDFE097-7ED2-4113-9921-CE470EC0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FLAGSHIP PRODUCT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5110BDB0-55BF-40F3-B113-A583502B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PDDIKTI turns fragmented education data into a national map.</a:t>
            </a:r>
          </a:p>
        </p:txBody>
      </p:sp>
      <p:sp>
        <p:nvSpPr>
          <p:cNvPr id="4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1C855B0C-9684-443D-A71F-683A5325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A public exploration product for comparing higher-education coverage across provinces and cities—supported by explicit data-quality checks.</a:t>
            </a:r>
          </a:p>
        </p:txBody>
      </p:sp>
      <p:sp>
        <p:nvSpPr>
          <p:cNvPr id="5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135C7711-E71E-45CF-A037-5D5DB7A3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6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5182A32E-1EEA-4454-B364-36730041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83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DEPLOYED WEB APP</a:t>
            </a:r>
          </a:p>
        </p:txBody>
      </p:sp>
      <p:sp>
        <p:nvSpPr>
          <p:cNvPr id="7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B683498D-3028-416D-9266-9380EE76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5,433</a:t>
            </a:r>
          </a:p>
        </p:txBody>
      </p:sp>
      <p:sp>
        <p:nvSpPr>
          <p:cNvPr id="8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9B0129FE-53CF-45EC-8106-1443A690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institutions</a:t>
            </a:r>
          </a:p>
        </p:txBody>
      </p:sp>
      <p:sp>
        <p:nvSpPr>
          <p:cNvPr id="9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DAC036C0-0B30-4359-97F8-A5E76677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38</a:t>
            </a:r>
          </a:p>
        </p:txBody>
      </p:sp>
      <p:sp>
        <p:nvSpPr>
          <p:cNvPr id="10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97A22853-6894-4D1F-A613-39FFFAA3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provinces</a:t>
            </a:r>
          </a:p>
        </p:txBody>
      </p:sp>
      <p:sp>
        <p:nvSpPr>
          <p:cNvPr id="11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F2EA13E9-6E16-4A32-81D8-5525FC54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34</a:t>
            </a:r>
          </a:p>
        </p:txBody>
      </p:sp>
      <p:sp>
        <p:nvSpPr>
          <p:cNvPr id="12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C5B73F77-CB5C-4FB1-B0F8-AD1E7D6A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quality checks</a:t>
            </a:r>
          </a:p>
        </p:txBody>
      </p:sp>
      <p:sp>
        <p:nvSpPr>
          <p:cNvPr id="13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F79C57A9-38EC-4C97-9A5E-D78E0C04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1914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14" name="pddikti-url">
            <a:extLst xmlns:a="http://schemas.openxmlformats.org/drawingml/2006/main">
              <a:ext uri="{FF2B5EF4-FFF2-40B4-BE49-F238E27FC236}">
                <a16:creationId xmlns:a16="http://schemas.microsoft.com/office/drawing/2014/main" id="{779F4F8E-0251-4998-9370-A597DD86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perguruan-tinggi-indonesia-nu.vercel.app</a:t>
            </a:r>
          </a:p>
        </p:txBody>
      </p:sp>
      <p:sp>
        <p:nvSpPr>
          <p:cNvPr id="15" name="footer-line-5">
            <a:extLst xmlns:a="http://schemas.openxmlformats.org/drawingml/2006/main">
              <a:ext uri="{FF2B5EF4-FFF2-40B4-BE49-F238E27FC236}">
                <a16:creationId xmlns:a16="http://schemas.microsoft.com/office/drawing/2014/main" id="{3839861A-6911-4953-8F9A-FADF3013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16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62FB6725-73EB-4437-88DE-486CF9E8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7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D6F9E653-BD19-478B-A28A-9ED75C20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d49ebbf264a38"/>
          <a:srcRect xmlns:a="http://schemas.openxmlformats.org/drawingml/2006/main" l="0" t="874" r="0" b="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3010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D2E1F8BE-0820-47A2-A864-15BD91D1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6">
            <a:extLst xmlns:a="http://schemas.openxmlformats.org/drawingml/2006/main">
              <a:ext uri="{FF2B5EF4-FFF2-40B4-BE49-F238E27FC236}">
                <a16:creationId xmlns:a16="http://schemas.microsoft.com/office/drawing/2014/main" id="{0E965DCA-0314-4F61-B732-D32EBBA9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DECISION PRODUCTS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EE354381-17FA-4643-A7E6-3AF3F547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Two deployed apps convert complex choices into guided analysis.</a:t>
            </a:r>
          </a:p>
        </p:txBody>
      </p:sp>
      <p:sp>
        <p:nvSpPr>
          <p:cNvPr id="4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11D0E4DC-19EE-498C-94A7-0FB423A8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5" name="snpmb-frame">
            <a:extLst xmlns:a="http://schemas.openxmlformats.org/drawingml/2006/main">
              <a:ext uri="{FF2B5EF4-FFF2-40B4-BE49-F238E27FC236}">
                <a16:creationId xmlns:a16="http://schemas.microsoft.com/office/drawing/2014/main" id="{FEDE345A-4B00-47EB-81EC-40CCB0D3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6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FEB83952-72B9-42EE-B416-A3B023016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Financial Planner</a:t>
            </a:r>
          </a:p>
        </p:txBody>
      </p:sp>
      <p:sp>
        <p:nvSpPr>
          <p:cNvPr id="7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56B999EB-03D5-47ED-8564-92D442E7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Scenario-based financial planning with actionable summaries.</a:t>
            </a:r>
          </a:p>
        </p:txBody>
      </p:sp>
      <p:sp>
        <p:nvSpPr>
          <p:cNvPr id="8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196D4310-8937-4668-9C0B-2AABE110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9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61A3A46B-D866-401A-822F-E55A265D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STREAMLIT</a:t>
            </a:r>
          </a:p>
        </p:txBody>
      </p:sp>
      <p:sp>
        <p:nvSpPr>
          <p:cNvPr id="10" name="snpmb-title">
            <a:extLst xmlns:a="http://schemas.openxmlformats.org/drawingml/2006/main">
              <a:ext uri="{FF2B5EF4-FFF2-40B4-BE49-F238E27FC236}">
                <a16:creationId xmlns:a16="http://schemas.microsoft.com/office/drawing/2014/main" id="{9782537C-6F78-4FED-8108-A51CBAE6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SNPMB Analyst</a:t>
            </a:r>
          </a:p>
        </p:txBody>
      </p:sp>
      <p:sp>
        <p:nvSpPr>
          <p:cNvPr id="11" name="snpmb-body">
            <a:extLst xmlns:a="http://schemas.openxmlformats.org/drawingml/2006/main">
              <a:ext uri="{FF2B5EF4-FFF2-40B4-BE49-F238E27FC236}">
                <a16:creationId xmlns:a16="http://schemas.microsoft.com/office/drawing/2014/main" id="{550DD1C0-2E87-4F8A-AAFD-9EDB6DE5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Exploration and comparison for Indonesia’s university admission pathway.</a:t>
            </a:r>
          </a:p>
        </p:txBody>
      </p:sp>
      <p:sp>
        <p:nvSpPr>
          <p:cNvPr id="12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4CA378BF-2CBA-44C5-A13F-DF08664A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13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C5D570C2-DD63-44E2-A6C4-5730D510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STREAMLIT</a:t>
            </a:r>
          </a:p>
        </p:txBody>
      </p:sp>
      <p:sp>
        <p:nvSpPr>
          <p:cNvPr id="14" name="footer-line-6">
            <a:extLst xmlns:a="http://schemas.openxmlformats.org/drawingml/2006/main">
              <a:ext uri="{FF2B5EF4-FFF2-40B4-BE49-F238E27FC236}">
                <a16:creationId xmlns:a16="http://schemas.microsoft.com/office/drawing/2014/main" id="{24999EDD-543E-421F-98D8-FAC695EF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15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5E4A7E80-12C0-4610-B06C-4D2EF0FD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6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46EDDEAB-CDAC-41FF-9799-E1671C77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e696ef98f74b0f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ect">
            <a:avLst/>
          </a:prstGeom>
        </p:spPr>
      </p:pic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1c9e41ec5455e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18315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84538341-7F73-4951-9F6B-617120AB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7">
            <a:extLst xmlns:a="http://schemas.openxmlformats.org/drawingml/2006/main">
              <a:ext uri="{FF2B5EF4-FFF2-40B4-BE49-F238E27FC236}">
                <a16:creationId xmlns:a16="http://schemas.microsoft.com/office/drawing/2014/main" id="{1A738EB2-0730-4CBE-8E90-F369EEA0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MARKET INTELLIGENCE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2C099D6D-4269-49F7-B639-E9319E03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Financial-market analysis becomes easier when the product leads the user.</a:t>
            </a:r>
          </a:p>
        </p:txBody>
      </p:sp>
      <p:sp>
        <p:nvSpPr>
          <p:cNvPr id="4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800C6341-E9BC-47FD-8E45-E0773FF1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5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4129E43D-2CA0-4109-A5F2-264545A1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6" name="ipo-eyebrow">
            <a:extLst xmlns:a="http://schemas.openxmlformats.org/drawingml/2006/main">
              <a:ext uri="{FF2B5EF4-FFF2-40B4-BE49-F238E27FC236}">
                <a16:creationId xmlns:a16="http://schemas.microsoft.com/office/drawing/2014/main" id="{7317282C-7524-46E5-8A41-7ABC1620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IPO TERMINAL</a:t>
            </a:r>
          </a:p>
        </p:txBody>
      </p:sp>
      <p:sp>
        <p:nvSpPr>
          <p:cNvPr id="7" name="ipo-title">
            <a:extLst xmlns:a="http://schemas.openxmlformats.org/drawingml/2006/main">
              <a:ext uri="{FF2B5EF4-FFF2-40B4-BE49-F238E27FC236}">
                <a16:creationId xmlns:a16="http://schemas.microsoft.com/office/drawing/2014/main" id="{1FEC491C-4EE6-455F-92BA-F39CF673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Screen new listings
with a focused workflow.</a:t>
            </a:r>
          </a:p>
        </p:txBody>
      </p:sp>
      <p:sp>
        <p:nvSpPr>
          <p:cNvPr id="8" name="ipo-copy">
            <a:extLst xmlns:a="http://schemas.openxmlformats.org/drawingml/2006/main">
              <a:ext uri="{FF2B5EF4-FFF2-40B4-BE49-F238E27FC236}">
                <a16:creationId xmlns:a16="http://schemas.microsoft.com/office/drawing/2014/main" id="{30E38706-780F-479B-B0A7-0B551238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A product view designed to reduce cognitive load while comparing IPO opportunities.</a:t>
            </a:r>
          </a:p>
        </p:txBody>
      </p:sp>
      <p:sp>
        <p:nvSpPr>
          <p:cNvPr id="9" name="ipo-url">
            <a:extLst xmlns:a="http://schemas.openxmlformats.org/drawingml/2006/main">
              <a:ext uri="{FF2B5EF4-FFF2-40B4-BE49-F238E27FC236}">
                <a16:creationId xmlns:a16="http://schemas.microsoft.com/office/drawing/2014/main" id="{53E224B8-07DC-447C-A4B0-F2935453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ypcemas.streamlit.app</a:t>
            </a:r>
          </a:p>
        </p:txBody>
      </p:sp>
      <p:sp>
        <p:nvSpPr>
          <p:cNvPr id="10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F5C80F84-E6C1-4C90-ADDB-0DC41489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65FA8"/>
                </a:solidFill>
                <a:latin typeface="Arial"/>
                <a:ea typeface="Arial"/>
                <a:cs typeface="Arial"/>
              </a:defRPr>
            </a:pPr>
            <a:r>
              <a:t>IHSG ANALYSIS</a:t>
            </a:r>
          </a:p>
        </p:txBody>
      </p:sp>
      <p:sp>
        <p:nvSpPr>
          <p:cNvPr id="11" name="ihsg-title">
            <a:extLst xmlns:a="http://schemas.openxmlformats.org/drawingml/2006/main">
              <a:ext uri="{FF2B5EF4-FFF2-40B4-BE49-F238E27FC236}">
                <a16:creationId xmlns:a16="http://schemas.microsoft.com/office/drawing/2014/main" id="{E7F0AD4C-AC8B-4493-8E53-2DD0B56A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Explore market signals
in one visual workspace.</a:t>
            </a:r>
          </a:p>
        </p:txBody>
      </p:sp>
      <p:sp>
        <p:nvSpPr>
          <p:cNvPr id="12" name="ihsg-url">
            <a:extLst xmlns:a="http://schemas.openxmlformats.org/drawingml/2006/main">
              <a:ext uri="{FF2B5EF4-FFF2-40B4-BE49-F238E27FC236}">
                <a16:creationId xmlns:a16="http://schemas.microsoft.com/office/drawing/2014/main" id="{E4B21BA3-0A8D-493C-8062-98AB02E6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ypcsaham.streamlit.app</a:t>
            </a:r>
          </a:p>
        </p:txBody>
      </p:sp>
      <p:sp>
        <p:nvSpPr>
          <p:cNvPr id="13" name="footer-line-7">
            <a:extLst xmlns:a="http://schemas.openxmlformats.org/drawingml/2006/main">
              <a:ext uri="{FF2B5EF4-FFF2-40B4-BE49-F238E27FC236}">
                <a16:creationId xmlns:a16="http://schemas.microsoft.com/office/drawing/2014/main" id="{A419D0D5-E2F1-42AD-91DD-DEB319D6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14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857C0951-6A53-48CC-9D92-7F917797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5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A6787E05-D6E3-4314-BDA9-FE4996D0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f205eaedd4281"/>
          <a:srcRect xmlns:a="http://schemas.openxmlformats.org/drawingml/2006/main" l="0" t="22720" r="0" b="227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4038600"/>
            <a:ext cx="4838700" cy="1485900"/>
          </a:xfrm>
          <a:prstGeom xmlns:a="http://schemas.openxmlformats.org/drawingml/2006/main" prst="rect">
            <a:avLst/>
          </a:prstGeom>
        </p:spPr>
      </p:pic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a926c1163e447b"/>
          <a:srcRect xmlns:a="http://schemas.openxmlformats.org/drawingml/2006/main" l="0" t="22324" r="0" b="223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3552825"/>
            <a:ext cx="5200650" cy="1619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4313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678694C8-9371-4F65-A709-322BE556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8">
            <a:extLst xmlns:a="http://schemas.openxmlformats.org/drawingml/2006/main">
              <a:ext uri="{FF2B5EF4-FFF2-40B4-BE49-F238E27FC236}">
                <a16:creationId xmlns:a16="http://schemas.microsoft.com/office/drawing/2014/main" id="{AAA648B4-627C-4FAE-A1DB-B37D2B44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APPLIED MACHINE LEARNING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587AFB1A-DF7A-43B5-8C59-C74B2978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Model quality matters most when it supports a real decision.</a:t>
            </a:r>
          </a:p>
        </p:txBody>
      </p:sp>
      <p:sp>
        <p:nvSpPr>
          <p:cNvPr id="4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E7C192DF-7CB8-4601-BE2E-985BFC27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5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8889D5DA-460C-4B67-82FC-10612A5A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6" name="food-metric">
            <a:extLst xmlns:a="http://schemas.openxmlformats.org/drawingml/2006/main">
              <a:ext uri="{FF2B5EF4-FFF2-40B4-BE49-F238E27FC236}">
                <a16:creationId xmlns:a16="http://schemas.microsoft.com/office/drawing/2014/main" id="{8F77F592-7085-4C5B-80C5-A4CF0AFC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85.1%</a:t>
            </a:r>
          </a:p>
        </p:txBody>
      </p:sp>
      <p:sp>
        <p:nvSpPr>
          <p:cNvPr id="7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11F72CA4-6051-48E1-9D3E-48A407ED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R² across 34 provinces</a:t>
            </a:r>
          </a:p>
        </p:txBody>
      </p:sp>
      <p:sp>
        <p:nvSpPr>
          <p:cNvPr id="8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57BA6217-BA51-470F-AABF-B66E10DB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9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A9B278A2-A2ED-45B8-9565-539B4C5B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89%</a:t>
            </a:r>
          </a:p>
        </p:txBody>
      </p:sp>
      <p:sp>
        <p:nvSpPr>
          <p:cNvPr id="10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1E8E0323-81A4-4EEF-9870-086F1785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103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stock classification accuracy</a:t>
            </a:r>
          </a:p>
        </p:txBody>
      </p:sp>
      <p:sp>
        <p:nvSpPr>
          <p:cNvPr id="11" name="food-title">
            <a:extLst xmlns:a="http://schemas.openxmlformats.org/drawingml/2006/main">
              <a:ext uri="{FF2B5EF4-FFF2-40B4-BE49-F238E27FC236}">
                <a16:creationId xmlns:a16="http://schemas.microsoft.com/office/drawing/2014/main" id="{EDDC12DB-E0BB-4A09-BE14-6C87796A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Food Security Forecasting</a:t>
            </a:r>
          </a:p>
        </p:txBody>
      </p:sp>
      <p:sp>
        <p:nvSpPr>
          <p:cNvPr id="12" name="food-copy">
            <a:extLst xmlns:a="http://schemas.openxmlformats.org/drawingml/2006/main">
              <a:ext uri="{FF2B5EF4-FFF2-40B4-BE49-F238E27FC236}">
                <a16:creationId xmlns:a16="http://schemas.microsoft.com/office/drawing/2014/main" id="{13CAA9C8-E5BA-464E-B860-ACDF6057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Forecasting highlights provinces needing closer attention and turns model output into a public-facing analytical tool.</a:t>
            </a:r>
          </a:p>
        </p:txBody>
      </p:sp>
      <p:sp>
        <p:nvSpPr>
          <p:cNvPr id="13" name="award-strip">
            <a:extLst xmlns:a="http://schemas.openxmlformats.org/drawingml/2006/main">
              <a:ext uri="{FF2B5EF4-FFF2-40B4-BE49-F238E27FC236}">
                <a16:creationId xmlns:a16="http://schemas.microsoft.com/office/drawing/2014/main" id="{708A9C4E-2722-4C57-A4E9-087DD83A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0B44F"/>
          </a:solidFill>
        </p:spPr>
      </p:sp>
      <p:sp>
        <p:nvSpPr>
          <p:cNvPr id="14" name="award-text">
            <a:extLst xmlns:a="http://schemas.openxmlformats.org/drawingml/2006/main">
              <a:ext uri="{FF2B5EF4-FFF2-40B4-BE49-F238E27FC236}">
                <a16:creationId xmlns:a16="http://schemas.microsoft.com/office/drawing/2014/main" id="{8A5E61EB-C735-4958-8953-B6A56AF2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BEST PAPER  ·  ICoDSA 2025</a:t>
            </a:r>
          </a:p>
        </p:txBody>
      </p:sp>
      <p:sp>
        <p:nvSpPr>
          <p:cNvPr id="15" name="footer-line-8">
            <a:extLst xmlns:a="http://schemas.openxmlformats.org/drawingml/2006/main">
              <a:ext uri="{FF2B5EF4-FFF2-40B4-BE49-F238E27FC236}">
                <a16:creationId xmlns:a16="http://schemas.microsoft.com/office/drawing/2014/main" id="{8CE349C5-FDB5-442A-AD84-50B9AAF5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16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958EDD60-2B2A-4897-BC83-EB4BF047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7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60ACE54D-000F-4787-92E6-D6577C3D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a9f3ae12a44d8d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73181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4AE5AD9C-E44B-4239-82EA-8FC5FD51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9">
            <a:extLst xmlns:a="http://schemas.openxmlformats.org/drawingml/2006/main">
              <a:ext uri="{FF2B5EF4-FFF2-40B4-BE49-F238E27FC236}">
                <a16:creationId xmlns:a16="http://schemas.microsoft.com/office/drawing/2014/main" id="{A41B6DAE-63BB-4AF9-BE7F-7A363F75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BUSINESS INTELLIGENCE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CCA36688-08B2-4B90-9633-4F5711B2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Dashboards are delivery systems for decisions—not decoration.</a:t>
            </a:r>
          </a:p>
        </p:txBody>
      </p:sp>
      <p:sp>
        <p:nvSpPr>
          <p:cNvPr id="4" name="bi-note">
            <a:extLst xmlns:a="http://schemas.openxmlformats.org/drawingml/2006/main">
              <a:ext uri="{FF2B5EF4-FFF2-40B4-BE49-F238E27FC236}">
                <a16:creationId xmlns:a16="http://schemas.microsoft.com/office/drawing/2014/main" id="{CC997CF6-1A61-4003-B4B7-A7D8AA01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Selected dashboard samples are intentionally blurred to protect sensitive information.</a:t>
            </a:r>
          </a:p>
        </p:txBody>
      </p:sp>
      <p:sp>
        <p:nvSpPr>
          <p:cNvPr id="5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E5566D89-1340-4281-9130-F10B85D9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6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8C656052-ECDC-4A95-9001-749DF49F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7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EFA4B472-6CB4-48AE-BFC1-E165DB01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8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68B1BF16-CC5A-47BB-8787-C6788BB5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Revenue Monitoring</a:t>
            </a:r>
          </a:p>
        </p:txBody>
      </p:sp>
      <p:sp>
        <p:nvSpPr>
          <p:cNvPr id="9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18016C80-4499-4915-A221-A9DBC184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Power BI · KPI tracking</a:t>
            </a:r>
          </a:p>
        </p:txBody>
      </p:sp>
      <p:sp>
        <p:nvSpPr>
          <p:cNvPr id="10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2945D35B-CBCB-4637-8546-639DC5F7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Sales Performance</a:t>
            </a:r>
          </a:p>
        </p:txBody>
      </p:sp>
      <p:sp>
        <p:nvSpPr>
          <p:cNvPr id="11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211ED5B7-3074-46B0-8117-B4D650B4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Looker Studio · trend analysis</a:t>
            </a:r>
          </a:p>
        </p:txBody>
      </p:sp>
      <p:sp>
        <p:nvSpPr>
          <p:cNvPr id="12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ADA3493B-DB87-446E-BECD-8D2538E7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Executive Summary</a:t>
            </a:r>
          </a:p>
        </p:txBody>
      </p:sp>
      <p:sp>
        <p:nvSpPr>
          <p:cNvPr id="13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AB6F2F2C-D9CF-4E97-8245-1BE33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Looker Studio · decision overview</a:t>
            </a:r>
          </a:p>
        </p:txBody>
      </p:sp>
      <p:sp>
        <p:nvSpPr>
          <p:cNvPr id="14" name="footer-line-9">
            <a:extLst xmlns:a="http://schemas.openxmlformats.org/drawingml/2006/main">
              <a:ext uri="{FF2B5EF4-FFF2-40B4-BE49-F238E27FC236}">
                <a16:creationId xmlns:a16="http://schemas.microsoft.com/office/drawing/2014/main" id="{879A5A0F-EC30-494C-B26B-7068F581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15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7108B7EA-B966-4428-836A-A7D9A61A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16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C1B58406-6712-4362-85B9-C4B974EE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7b4417622e492b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64c6773924795"/>
          <a:srcRect xmlns:a="http://schemas.openxmlformats.org/drawingml/2006/main" l="0" t="2817" r="0" b="28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e175943bbe423f"/>
          <a:srcRect xmlns:a="http://schemas.openxmlformats.org/drawingml/2006/main" l="0" t="2500" r="0" b="2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7052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DFC061BE-9235-4D04-B345-D904C5A3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eyebrow-10">
            <a:extLst xmlns:a="http://schemas.openxmlformats.org/drawingml/2006/main">
              <a:ext uri="{FF2B5EF4-FFF2-40B4-BE49-F238E27FC236}">
                <a16:creationId xmlns:a16="http://schemas.microsoft.com/office/drawing/2014/main" id="{C7310ACA-64DB-4470-989A-51628F16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CAPABILITY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BC0A561E-2C7A-4A8F-A6D6-25C955EC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A production-ready stack—grounded in analytical judgment.</a:t>
            </a:r>
          </a:p>
        </p:txBody>
      </p:sp>
      <p:sp>
        <p:nvSpPr>
          <p:cNvPr id="4" name="cap-card-0">
            <a:extLst xmlns:a="http://schemas.openxmlformats.org/drawingml/2006/main">
              <a:ext uri="{FF2B5EF4-FFF2-40B4-BE49-F238E27FC236}">
                <a16:creationId xmlns:a16="http://schemas.microsoft.com/office/drawing/2014/main" id="{23C57131-354B-423E-B6CD-BCA08F14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5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FBFC52CE-BBC5-4B62-81F4-3FDACD90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B44F"/>
          </a:solidFill>
        </p:spPr>
      </p:sp>
      <p:sp>
        <p:nvSpPr>
          <p:cNvPr id="6" name="cap-title-0">
            <a:extLst xmlns:a="http://schemas.openxmlformats.org/drawingml/2006/main">
              <a:ext uri="{FF2B5EF4-FFF2-40B4-BE49-F238E27FC236}">
                <a16:creationId xmlns:a16="http://schemas.microsoft.com/office/drawing/2014/main" id="{07423D7B-C12F-4C9B-9CE5-F5FCE9A3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Analyze</a:t>
            </a:r>
          </a:p>
        </p:txBody>
      </p:sp>
      <p:sp>
        <p:nvSpPr>
          <p:cNvPr id="7" name="cap-items-0">
            <a:extLst xmlns:a="http://schemas.openxmlformats.org/drawingml/2006/main">
              <a:ext uri="{FF2B5EF4-FFF2-40B4-BE49-F238E27FC236}">
                <a16:creationId xmlns:a16="http://schemas.microsoft.com/office/drawing/2014/main" id="{DFD05DAB-4C81-4303-80A1-5CF6116D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Python · SQL
Pandas · NumPy
Statistics · EDA</a:t>
            </a:r>
          </a:p>
        </p:txBody>
      </p:sp>
      <p:sp>
        <p:nvSpPr>
          <p:cNvPr id="8" name="cap-card-1">
            <a:extLst xmlns:a="http://schemas.openxmlformats.org/drawingml/2006/main">
              <a:ext uri="{FF2B5EF4-FFF2-40B4-BE49-F238E27FC236}">
                <a16:creationId xmlns:a16="http://schemas.microsoft.com/office/drawing/2014/main" id="{872455CC-9A24-410D-B995-B4EA7332F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9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755844F1-29E4-4E01-805E-B56E5150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</p:spPr>
      </p:sp>
      <p:sp>
        <p:nvSpPr>
          <p:cNvPr id="10" name="cap-title-1">
            <a:extLst xmlns:a="http://schemas.openxmlformats.org/drawingml/2006/main">
              <a:ext uri="{FF2B5EF4-FFF2-40B4-BE49-F238E27FC236}">
                <a16:creationId xmlns:a16="http://schemas.microsoft.com/office/drawing/2014/main" id="{BB10AE61-C408-4CCE-B0A7-2B35DB5F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Model</a:t>
            </a:r>
          </a:p>
        </p:txBody>
      </p:sp>
      <p:sp>
        <p:nvSpPr>
          <p:cNvPr id="11" name="cap-items-1">
            <a:extLst xmlns:a="http://schemas.openxmlformats.org/drawingml/2006/main">
              <a:ext uri="{FF2B5EF4-FFF2-40B4-BE49-F238E27FC236}">
                <a16:creationId xmlns:a16="http://schemas.microsoft.com/office/drawing/2014/main" id="{6133E922-869C-4AE2-ADAC-2E9AB049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Scikit-learn
XGBoost · TensorFlow
Forecasting · NLP</a:t>
            </a:r>
          </a:p>
        </p:txBody>
      </p:sp>
      <p:sp>
        <p:nvSpPr>
          <p:cNvPr id="12" name="cap-card-2">
            <a:extLst xmlns:a="http://schemas.openxmlformats.org/drawingml/2006/main">
              <a:ext uri="{FF2B5EF4-FFF2-40B4-BE49-F238E27FC236}">
                <a16:creationId xmlns:a16="http://schemas.microsoft.com/office/drawing/2014/main" id="{9B9AF789-5EF2-4354-89BE-7894D039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13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343F16CC-B37A-4259-A483-E706B03D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5FA8"/>
          </a:solidFill>
        </p:spPr>
      </p:sp>
      <p:sp>
        <p:nvSpPr>
          <p:cNvPr id="14" name="cap-title-2">
            <a:extLst xmlns:a="http://schemas.openxmlformats.org/drawingml/2006/main">
              <a:ext uri="{FF2B5EF4-FFF2-40B4-BE49-F238E27FC236}">
                <a16:creationId xmlns:a16="http://schemas.microsoft.com/office/drawing/2014/main" id="{FD138D6A-57AE-44F7-BC04-AA17287E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Engineer</a:t>
            </a:r>
          </a:p>
        </p:txBody>
      </p:sp>
      <p:sp>
        <p:nvSpPr>
          <p:cNvPr id="15" name="cap-items-2">
            <a:extLst xmlns:a="http://schemas.openxmlformats.org/drawingml/2006/main">
              <a:ext uri="{FF2B5EF4-FFF2-40B4-BE49-F238E27FC236}">
                <a16:creationId xmlns:a16="http://schemas.microsoft.com/office/drawing/2014/main" id="{4631D334-F265-4F31-8F48-061F013B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MySQL · PostgreSQL
ETL · Data quality
Git · API workflows</a:t>
            </a:r>
          </a:p>
        </p:txBody>
      </p:sp>
      <p:sp>
        <p:nvSpPr>
          <p:cNvPr id="16" name="cap-card-3">
            <a:extLst xmlns:a="http://schemas.openxmlformats.org/drawingml/2006/main">
              <a:ext uri="{FF2B5EF4-FFF2-40B4-BE49-F238E27FC236}">
                <a16:creationId xmlns:a16="http://schemas.microsoft.com/office/drawing/2014/main" id="{0FB20EF8-026F-419F-B2EB-59A99628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BF7EF"/>
          </a:solidFill>
        </p:spPr>
      </p:sp>
      <p:sp>
        <p:nvSpPr>
          <p:cNvPr id="17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CBE2A702-EF9B-4BE0-91EE-04C11F2C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845C6"/>
          </a:solidFill>
        </p:spPr>
      </p:sp>
      <p:sp>
        <p:nvSpPr>
          <p:cNvPr id="18" name="cap-title-3">
            <a:extLst xmlns:a="http://schemas.openxmlformats.org/drawingml/2006/main">
              <a:ext uri="{FF2B5EF4-FFF2-40B4-BE49-F238E27FC236}">
                <a16:creationId xmlns:a16="http://schemas.microsoft.com/office/drawing/2014/main" id="{1459A81A-DA91-4FC1-B32E-19A8C412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Communicate</a:t>
            </a:r>
          </a:p>
        </p:txBody>
      </p:sp>
      <p:sp>
        <p:nvSpPr>
          <p:cNvPr id="19" name="cap-items-3">
            <a:extLst xmlns:a="http://schemas.openxmlformats.org/drawingml/2006/main">
              <a:ext uri="{FF2B5EF4-FFF2-40B4-BE49-F238E27FC236}">
                <a16:creationId xmlns:a16="http://schemas.microsoft.com/office/drawing/2014/main" id="{D9EEFA4E-1713-48DF-912E-53E070E4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Power BI · Looker
Streamlit · Tableau
Storytelling</a:t>
            </a:r>
          </a:p>
        </p:txBody>
      </p:sp>
      <p:sp>
        <p:nvSpPr>
          <p:cNvPr id="20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DFAAE59E-9589-407E-8F70-0BA07A8A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1EBFF"/>
          </a:solidFill>
        </p:spPr>
      </p:sp>
      <p:sp>
        <p:nvSpPr>
          <p:cNvPr id="21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40127A28-820F-42B9-AA39-AEA5B9A3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CREDENTIALS</a:t>
            </a:r>
          </a:p>
        </p:txBody>
      </p:sp>
      <p:sp>
        <p:nvSpPr>
          <p:cNvPr id="22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CEEA3CB4-9B1D-46AD-BCE7-D4C3809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B.Sc. Data Science · GPA 3.74/4.00     |     Best Paper, ICoDSA 2025     |     NVIDIA DLI · Google Analytics · Alibaba Cloud</a:t>
            </a:r>
          </a:p>
        </p:txBody>
      </p:sp>
      <p:sp>
        <p:nvSpPr>
          <p:cNvPr id="23" name="footer-line-10">
            <a:extLst xmlns:a="http://schemas.openxmlformats.org/drawingml/2006/main">
              <a:ext uri="{FF2B5EF4-FFF2-40B4-BE49-F238E27FC236}">
                <a16:creationId xmlns:a16="http://schemas.microsoft.com/office/drawing/2014/main" id="{8B949F16-F0C7-481D-AF0C-9D2B1155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24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3B5E951F-09E3-40EE-8F00-1DC1BF45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MUHAMMAD ALI AKBAR AL-QAHRI  /  DATA PORTFOLIO</a:t>
            </a:r>
          </a:p>
        </p:txBody>
      </p:sp>
      <p:sp>
        <p:nvSpPr>
          <p:cNvPr id="25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C97D4472-CE2F-430E-AFDA-4421E429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4010395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C61273E1-5C14-482D-BA15-61DB09C9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closing-blue">
            <a:extLst xmlns:a="http://schemas.openxmlformats.org/drawingml/2006/main">
              <a:ext uri="{FF2B5EF4-FFF2-40B4-BE49-F238E27FC236}">
                <a16:creationId xmlns:a16="http://schemas.microsoft.com/office/drawing/2014/main" id="{6BEE99CF-85B3-44A5-89CA-A491A88B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0D20"/>
          </a:solidFill>
        </p:spPr>
      </p:sp>
      <p:sp>
        <p:nvSpPr>
          <p:cNvPr id="3" name="closing-blue-detail">
            <a:extLst xmlns:a="http://schemas.openxmlformats.org/drawingml/2006/main">
              <a:ext uri="{FF2B5EF4-FFF2-40B4-BE49-F238E27FC236}">
                <a16:creationId xmlns:a16="http://schemas.microsoft.com/office/drawing/2014/main" id="{7716D1E4-CCC4-45A1-92ED-B5F2126A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300990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6845C6"/>
          </a:solidFill>
        </p:spPr>
      </p:sp>
      <p:sp>
        <p:nvSpPr>
          <p:cNvPr id="4" name="closing-monogram">
            <a:extLst xmlns:a="http://schemas.openxmlformats.org/drawingml/2006/main">
              <a:ext uri="{FF2B5EF4-FFF2-40B4-BE49-F238E27FC236}">
                <a16:creationId xmlns:a16="http://schemas.microsoft.com/office/drawing/2014/main" id="{51F82954-8E04-42A7-B15B-09FC5102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"/>
            <a:ext cx="26289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350" b="1">
                <a:solidFill>
                  <a:srgbClr val="E0B44F"/>
                </a:solidFill>
                <a:latin typeface="Arial"/>
                <a:ea typeface="Arial"/>
                <a:cs typeface="Arial"/>
              </a:defRPr>
            </a:pPr>
            <a:r>
              <a:t>MA</a:t>
            </a:r>
          </a:p>
        </p:txBody>
      </p:sp>
      <p:sp>
        <p:nvSpPr>
          <p:cNvPr id="5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9CA143AB-97A0-428E-87AF-8861DFDB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2876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65FA8"/>
                </a:solidFill>
                <a:latin typeface="Arial"/>
                <a:ea typeface="Arial"/>
                <a:cs typeface="Arial"/>
              </a:defRPr>
            </a:pPr>
            <a:r>
              <a:t>DATA · MODELS · DECISIONS</a:t>
            </a:r>
          </a:p>
        </p:txBody>
      </p:sp>
      <p:sp>
        <p:nvSpPr>
          <p:cNvPr id="6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B1FDF5A7-8D04-46FB-8D47-E3D2BF13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Let’s build decisions
people can act on.</a:t>
            </a:r>
          </a:p>
        </p:txBody>
      </p:sp>
      <p:sp>
        <p:nvSpPr>
          <p:cNvPr id="7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A49F3D27-B105-4CAA-90D3-A0D00906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Available for data analyst, business intelligence, data science, and data engineering opportunities.</a:t>
            </a:r>
          </a:p>
        </p:txBody>
      </p:sp>
      <p:sp>
        <p:nvSpPr>
          <p:cNvPr id="8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D12C9D6F-992C-418D-A0CB-D725A012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6134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4E6"/>
          </a:solidFill>
        </p:spPr>
      </p:sp>
      <p:sp>
        <p:nvSpPr>
          <p:cNvPr id="9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F7FC7CEE-E350-43C6-B2D9-E766708E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845C6"/>
                </a:solidFill>
                <a:latin typeface="Arial"/>
                <a:ea typeface="Arial"/>
                <a:cs typeface="Arial"/>
              </a:defRPr>
            </a:pPr>
            <a:r>
              <a:t>EMAIL</a:t>
            </a:r>
          </a:p>
        </p:txBody>
      </p:sp>
      <p:sp>
        <p:nvSpPr>
          <p:cNvPr id="10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0B3D969D-6BE8-4BC2-9632-CBB27760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akbaralqahri@gmail.com</a:t>
            </a:r>
          </a:p>
        </p:txBody>
      </p:sp>
      <p:sp>
        <p:nvSpPr>
          <p:cNvPr id="11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7B9C0E9B-04A1-4F6B-B687-7EE0C25F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linkedin.com/in/akbaralqahri
akbaralqahri.github.io/portofolio</a:t>
            </a:r>
          </a:p>
        </p:txBody>
      </p:sp>
      <p:sp>
        <p:nvSpPr>
          <p:cNvPr id="12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ED998B23-023E-4A17-A158-6444550D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0D20"/>
                </a:solidFill>
                <a:latin typeface="Arial"/>
                <a:ea typeface="Arial"/>
                <a:cs typeface="Arial"/>
              </a:defRPr>
            </a:pPr>
            <a:r>
              <a:t>+62 852 1194 4977</a:t>
            </a:r>
          </a:p>
        </p:txBody>
      </p:sp>
      <p:sp>
        <p:nvSpPr>
          <p:cNvPr id="13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FA4C20BB-7B73-412D-A199-26448E22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0647A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922136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2026-07-16T04:23:39.6510000Z</dcterms:created>
  <dcterms:modified xsi:type="dcterms:W3CDTF">2026-07-16T04:23:39.6510000Z</dcterms:modified>
</coreProperties>
</file>