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666a8b1fec44ab" /><Relationship Type="http://schemas.openxmlformats.org/officeDocument/2006/relationships/extended-properties" Target="/docProps/app.xml" Id="Ra64cf4658d23472e" /><Relationship Type="http://schemas.openxmlformats.org/officeDocument/2006/relationships/officeDocument" Target="/ppt/presentation.xml" Id="R17ca519c075e4a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c41cd20ab047e5"/>
  </p:sldMasterIdLst>
  <p:notesMasterIdLst>
    <p:notesMasterId xmlns:r="http://schemas.openxmlformats.org/officeDocument/2006/relationships" r:id="Rc11a8191fb874bf4"/>
  </p:notesMasterIdLst>
  <p:sldIdLst>
    <p:sldId xmlns:r="http://schemas.openxmlformats.org/officeDocument/2006/relationships" id="256" r:id="R367263dc2683456d"/>
    <p:sldId xmlns:r="http://schemas.openxmlformats.org/officeDocument/2006/relationships" id="257" r:id="R267e7b15ca204ff8"/>
    <p:sldId xmlns:r="http://schemas.openxmlformats.org/officeDocument/2006/relationships" id="258" r:id="R1028904b46784514"/>
    <p:sldId xmlns:r="http://schemas.openxmlformats.org/officeDocument/2006/relationships" id="259" r:id="Re3597415478f41a8"/>
    <p:sldId xmlns:r="http://schemas.openxmlformats.org/officeDocument/2006/relationships" id="260" r:id="R3c273cd166c34cad"/>
    <p:sldId xmlns:r="http://schemas.openxmlformats.org/officeDocument/2006/relationships" id="261" r:id="R2db5aa3f83934917"/>
    <p:sldId xmlns:r="http://schemas.openxmlformats.org/officeDocument/2006/relationships" id="262" r:id="R8240c1d1f1fc4e86"/>
    <p:sldId xmlns:r="http://schemas.openxmlformats.org/officeDocument/2006/relationships" id="263" r:id="R5c10c51e98794864"/>
    <p:sldId xmlns:r="http://schemas.openxmlformats.org/officeDocument/2006/relationships" id="264" r:id="R5ce7ab29fe8643e7"/>
    <p:sldId xmlns:r="http://schemas.openxmlformats.org/officeDocument/2006/relationships" id="265" r:id="R1b33f5d04aa94dee"/>
    <p:sldId xmlns:r="http://schemas.openxmlformats.org/officeDocument/2006/relationships" id="266" r:id="R261616ffbac44b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664b3fe1f7479b" /><Relationship Type="http://schemas.openxmlformats.org/officeDocument/2006/relationships/slideMaster" Target="/ppt/slideMasters/slideMaster1.xml" Id="R32c41cd20ab047e5" /><Relationship Type="http://schemas.openxmlformats.org/officeDocument/2006/relationships/notesMaster" Target="/ppt/notesMasters/notesMaster1.xml" Id="Rc11a8191fb874bf4" /><Relationship Type="http://schemas.openxmlformats.org/officeDocument/2006/relationships/presProps" Target="/ppt/presProps.xml" Id="R5572acfa62084643" /><Relationship Type="http://schemas.openxmlformats.org/officeDocument/2006/relationships/tableStyles" Target="/ppt/tableStyles.xml" Id="Red6815dbb012472c" /><Relationship Type="http://schemas.openxmlformats.org/officeDocument/2006/relationships/slide" Target="/ppt/slides/slide1.xml" Id="R367263dc2683456d" /><Relationship Type="http://schemas.openxmlformats.org/officeDocument/2006/relationships/slide" Target="/ppt/slides/slide2.xml" Id="R267e7b15ca204ff8" /><Relationship Type="http://schemas.openxmlformats.org/officeDocument/2006/relationships/slide" Target="/ppt/slides/slide3.xml" Id="R1028904b46784514" /><Relationship Type="http://schemas.openxmlformats.org/officeDocument/2006/relationships/slide" Target="/ppt/slides/slide4.xml" Id="Re3597415478f41a8" /><Relationship Type="http://schemas.openxmlformats.org/officeDocument/2006/relationships/slide" Target="/ppt/slides/slide5.xml" Id="R3c273cd166c34cad" /><Relationship Type="http://schemas.openxmlformats.org/officeDocument/2006/relationships/slide" Target="/ppt/slides/slide6.xml" Id="R2db5aa3f83934917" /><Relationship Type="http://schemas.openxmlformats.org/officeDocument/2006/relationships/slide" Target="/ppt/slides/slide7.xml" Id="R8240c1d1f1fc4e86" /><Relationship Type="http://schemas.openxmlformats.org/officeDocument/2006/relationships/slide" Target="/ppt/slides/slide8.xml" Id="R5c10c51e98794864" /><Relationship Type="http://schemas.openxmlformats.org/officeDocument/2006/relationships/slide" Target="/ppt/slides/slide9.xml" Id="R5ce7ab29fe8643e7" /><Relationship Type="http://schemas.openxmlformats.org/officeDocument/2006/relationships/slide" Target="/ppt/slides/slide10.xml" Id="R1b33f5d04aa94dee" /><Relationship Type="http://schemas.openxmlformats.org/officeDocument/2006/relationships/slide" Target="/ppt/slides/slide11.xml" Id="R261616ffbac44b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da8d749c2d41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c7051f254d4168" /><Relationship Type="http://schemas.openxmlformats.org/officeDocument/2006/relationships/notesMaster" Target="/ppt/notesMasters/notesMaster1.xml" Id="R6b144d47b84448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da2039842b4996" /><Relationship Type="http://schemas.openxmlformats.org/officeDocument/2006/relationships/notesMaster" Target="/ppt/notesMasters/notesMaster1.xml" Id="R38ec429439484b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880baa228f488f" /><Relationship Type="http://schemas.openxmlformats.org/officeDocument/2006/relationships/notesMaster" Target="/ppt/notesMasters/notesMaster1.xml" Id="R5e293c23100542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0b3ba9180048a4" /><Relationship Type="http://schemas.openxmlformats.org/officeDocument/2006/relationships/notesMaster" Target="/ppt/notesMasters/notesMaster1.xml" Id="Rf5d1b191ae334b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5f9e8ea2634476" /><Relationship Type="http://schemas.openxmlformats.org/officeDocument/2006/relationships/notesMaster" Target="/ppt/notesMasters/notesMaster1.xml" Id="R09f104bd1a8540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4cf4be1e5d4913" /><Relationship Type="http://schemas.openxmlformats.org/officeDocument/2006/relationships/notesMaster" Target="/ppt/notesMasters/notesMaster1.xml" Id="Ra1830435a9ba43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3367498b064d99" /><Relationship Type="http://schemas.openxmlformats.org/officeDocument/2006/relationships/notesMaster" Target="/ppt/notesMasters/notesMaster1.xml" Id="R6cf806d1edcc4c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32e7418b884393" /><Relationship Type="http://schemas.openxmlformats.org/officeDocument/2006/relationships/notesMaster" Target="/ppt/notesMasters/notesMaster1.xml" Id="R329affb199db42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daea6f058445c1" /><Relationship Type="http://schemas.openxmlformats.org/officeDocument/2006/relationships/notesMaster" Target="/ppt/notesMasters/notesMaster1.xml" Id="Ra5d71c5462e64c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70d9c953fb40e4" /><Relationship Type="http://schemas.openxmlformats.org/officeDocument/2006/relationships/notesMaster" Target="/ppt/notesMasters/notesMaster1.xml" Id="R82956e588b3a44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960428d37446b4" /><Relationship Type="http://schemas.openxmlformats.org/officeDocument/2006/relationships/notesMaster" Target="/ppt/notesMasters/notesMaster1.xml" Id="Rf1071a8b114e4d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0e9ccef09c4a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555ca5a8864e9a" /><Relationship Type="http://schemas.openxmlformats.org/officeDocument/2006/relationships/slideLayout" Target="/ppt/slideLayouts/slideLayout1.xml" Id="R9f213c02ad3943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213c02ad3943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16a09c87c4df6" /><Relationship Type="http://schemas.openxmlformats.org/officeDocument/2006/relationships/image" Target="/ppt/media/image.jpeg" Id="Rfdd6d71ca8bf4f6a" /><Relationship Type="http://schemas.openxmlformats.org/officeDocument/2006/relationships/notesSlide" Target="/ppt/notesSlides/notesSlide1.xml" Id="Rcb38f5e7d23d4b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b8a3ec1b2421c" /><Relationship Type="http://schemas.openxmlformats.org/officeDocument/2006/relationships/notesSlide" Target="/ppt/notesSlides/notesSlide2.xml" Id="R0a48fe7e812643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84d0efa3b4cdb" /><Relationship Type="http://schemas.openxmlformats.org/officeDocument/2006/relationships/notesSlide" Target="/ppt/notesSlides/notesSlide3.xml" Id="R4f4d3d4520334b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70482505a425e" /><Relationship Type="http://schemas.openxmlformats.org/officeDocument/2006/relationships/notesSlide" Target="/ppt/notesSlides/notesSlide4.xml" Id="R8f3dc080e81747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6aef637804286" /><Relationship Type="http://schemas.openxmlformats.org/officeDocument/2006/relationships/image" Target="/ppt/media/image2.jpeg" Id="Ra7194dd9eae544d9" /><Relationship Type="http://schemas.openxmlformats.org/officeDocument/2006/relationships/notesSlide" Target="/ppt/notesSlides/notesSlide5.xml" Id="R7311125164514f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87df73b3e481a" /><Relationship Type="http://schemas.openxmlformats.org/officeDocument/2006/relationships/image" Target="/ppt/media/image3.jpeg" Id="Rbd9dabab005f4680" /><Relationship Type="http://schemas.openxmlformats.org/officeDocument/2006/relationships/image" Target="/ppt/media/image4.jpeg" Id="R39027b46dd574b40" /><Relationship Type="http://schemas.openxmlformats.org/officeDocument/2006/relationships/notesSlide" Target="/ppt/notesSlides/notesSlide6.xml" Id="R941669b97a0a48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88f89e5fe4252" /><Relationship Type="http://schemas.openxmlformats.org/officeDocument/2006/relationships/image" Target="/ppt/media/image5.jpeg" Id="R8373d698530c42a2" /><Relationship Type="http://schemas.openxmlformats.org/officeDocument/2006/relationships/image" Target="/ppt/media/image6.jpeg" Id="R7e310f0735cc4938" /><Relationship Type="http://schemas.openxmlformats.org/officeDocument/2006/relationships/notesSlide" Target="/ppt/notesSlides/notesSlide7.xml" Id="R1ac887f9218246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b5ee11d694418" /><Relationship Type="http://schemas.openxmlformats.org/officeDocument/2006/relationships/image" Target="/ppt/media/image7.jpeg" Id="R4c9ad065010646e4" /><Relationship Type="http://schemas.openxmlformats.org/officeDocument/2006/relationships/notesSlide" Target="/ppt/notesSlides/notesSlide8.xml" Id="R2ca80882d0064b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f61722f23452d" /><Relationship Type="http://schemas.openxmlformats.org/officeDocument/2006/relationships/image" Target="/ppt/media/image.png" Id="R5e88c9c6a85a4237" /><Relationship Type="http://schemas.openxmlformats.org/officeDocument/2006/relationships/image" Target="/ppt/media/image2.png" Id="Raa724df7dcde4c25" /><Relationship Type="http://schemas.openxmlformats.org/officeDocument/2006/relationships/image" Target="/ppt/media/image3.png" Id="Ra489cd6bc9374d07" /><Relationship Type="http://schemas.openxmlformats.org/officeDocument/2006/relationships/notesSlide" Target="/ppt/notesSlides/notesSlide9.xml" Id="R779ae369a62745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5afef39a04a1a" /><Relationship Type="http://schemas.openxmlformats.org/officeDocument/2006/relationships/notesSlide" Target="/ppt/notesSlides/notesSlide10.xml" Id="R91841c57ef6c49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8f8d604274944" /><Relationship Type="http://schemas.openxmlformats.org/officeDocument/2006/relationships/image" Target="/ppt/media/image4.png" Id="R7acddbad5bf140d9" /><Relationship Type="http://schemas.openxmlformats.org/officeDocument/2006/relationships/notesSlide" Target="/ppt/notesSlides/notesSlide11.xml" Id="R967d03f65e90481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01-cover-canvas">
            <a:extLst xmlns:a="http://schemas.openxmlformats.org/drawingml/2006/main">
              <a:ext uri="{FF2B5EF4-FFF2-40B4-BE49-F238E27FC236}">
                <a16:creationId xmlns:a16="http://schemas.microsoft.com/office/drawing/2014/main" id="{626A7567-6B99-471C-BF89-BCB893C1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0A"/>
          </a:solidFill>
        </p:spPr>
      </p:sp>
      <p:sp>
        <p:nvSpPr>
          <p:cNvPr id="2" name="01-cover-edge-gold">
            <a:extLst xmlns:a="http://schemas.openxmlformats.org/drawingml/2006/main">
              <a:ext uri="{FF2B5EF4-FFF2-40B4-BE49-F238E27FC236}">
                <a16:creationId xmlns:a16="http://schemas.microsoft.com/office/drawing/2014/main" id="{56CF41E0-2736-47CF-A150-45924B55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</p:spPr>
      </p:sp>
      <p:sp>
        <p:nvSpPr>
          <p:cNvPr id="3" name="01-cover-edge-coral">
            <a:extLst xmlns:a="http://schemas.openxmlformats.org/drawingml/2006/main">
              <a:ext uri="{FF2B5EF4-FFF2-40B4-BE49-F238E27FC236}">
                <a16:creationId xmlns:a16="http://schemas.microsoft.com/office/drawing/2014/main" id="{56FE4387-6D13-4FC9-932A-7367600A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</p:spPr>
      </p:sp>
      <p:sp>
        <p:nvSpPr>
          <p:cNvPr id="4" name="01-cover-edge-teal">
            <a:extLst xmlns:a="http://schemas.openxmlformats.org/drawingml/2006/main">
              <a:ext uri="{FF2B5EF4-FFF2-40B4-BE49-F238E27FC236}">
                <a16:creationId xmlns:a16="http://schemas.microsoft.com/office/drawing/2014/main" id="{D9BF8D9F-E261-4721-874F-300A622C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A577762-EB20-420F-BE16-FDD59CD8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542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C453"/>
                </a:solidFill>
                <a:latin typeface="Consolas"/>
                <a:ea typeface="Consolas"/>
                <a:cs typeface="Consolas"/>
              </a:defRPr>
            </a:pPr>
            <a:r>
              <a:t>~/ SUNSET SIGNAL  /  DATA INTELLIGENCE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C439319-C5EB-494B-ACD8-A43A40AB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5095875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I turn raw data
into decisions.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AF36F89-E7BD-4DBA-B020-9173229E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24175"/>
            <a:ext cx="495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Reliable data. Applied models. Decision-ready products.</a:t>
            </a:r>
          </a:p>
        </p:txBody>
      </p:sp>
      <p:sp>
        <p:nvSpPr>
          <p:cNvPr id="8" name="cover-pill-1-bg">
            <a:extLst xmlns:a="http://schemas.openxmlformats.org/drawingml/2006/main">
              <a:ext uri="{FF2B5EF4-FFF2-40B4-BE49-F238E27FC236}">
                <a16:creationId xmlns:a16="http://schemas.microsoft.com/office/drawing/2014/main" id="{50D6ABE1-F49B-47C0-9119-C10BF9B2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1581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1A17"/>
          </a:solidFill>
        </p:spPr>
      </p:sp>
      <p:sp>
        <p:nvSpPr>
          <p:cNvPr id="9" name="cover-pill-1-text">
            <a:extLst xmlns:a="http://schemas.openxmlformats.org/drawingml/2006/main">
              <a:ext uri="{FF2B5EF4-FFF2-40B4-BE49-F238E27FC236}">
                <a16:creationId xmlns:a16="http://schemas.microsoft.com/office/drawing/2014/main" id="{55C69B13-9D5A-4AB4-A1FD-2B785C52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1352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C453"/>
                </a:solidFill>
                <a:latin typeface="Aptos"/>
                <a:ea typeface="Aptos"/>
                <a:cs typeface="Aptos"/>
              </a:defRPr>
            </a:pPr>
            <a:r>
              <a:t>3.74 / 4.00 GPA</a:t>
            </a:r>
          </a:p>
        </p:txBody>
      </p:sp>
      <p:sp>
        <p:nvSpPr>
          <p:cNvPr id="10" name="cover-pill-2-bg">
            <a:extLst xmlns:a="http://schemas.openxmlformats.org/drawingml/2006/main">
              <a:ext uri="{FF2B5EF4-FFF2-40B4-BE49-F238E27FC236}">
                <a16:creationId xmlns:a16="http://schemas.microsoft.com/office/drawing/2014/main" id="{CEB04690-7F22-44B1-A6BA-E672ECE6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14750"/>
            <a:ext cx="1352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1A17"/>
          </a:solidFill>
        </p:spPr>
      </p:sp>
      <p:sp>
        <p:nvSpPr>
          <p:cNvPr id="11" name="cover-pill-2-text">
            <a:extLst xmlns:a="http://schemas.openxmlformats.org/drawingml/2006/main">
              <a:ext uri="{FF2B5EF4-FFF2-40B4-BE49-F238E27FC236}">
                <a16:creationId xmlns:a16="http://schemas.microsoft.com/office/drawing/2014/main" id="{AB63C782-5FED-4A1C-8C96-986F0133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81425"/>
            <a:ext cx="112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t>BEST PAPER</a:t>
            </a:r>
          </a:p>
        </p:txBody>
      </p:sp>
      <p:sp>
        <p:nvSpPr>
          <p:cNvPr id="12" name="cover-pill-3-bg">
            <a:extLst xmlns:a="http://schemas.openxmlformats.org/drawingml/2006/main">
              <a:ext uri="{FF2B5EF4-FFF2-40B4-BE49-F238E27FC236}">
                <a16:creationId xmlns:a16="http://schemas.microsoft.com/office/drawing/2014/main" id="{60EAB2A2-F65F-4E27-A3F4-EE52155B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1A17"/>
          </a:solidFill>
        </p:spPr>
      </p:sp>
      <p:sp>
        <p:nvSpPr>
          <p:cNvPr id="13" name="cover-pill-3-text">
            <a:extLst xmlns:a="http://schemas.openxmlformats.org/drawingml/2006/main">
              <a:ext uri="{FF2B5EF4-FFF2-40B4-BE49-F238E27FC236}">
                <a16:creationId xmlns:a16="http://schemas.microsoft.com/office/drawing/2014/main" id="{A6DDF7A0-54AE-449A-8AC0-20E0E580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81425"/>
            <a:ext cx="990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EEAD4"/>
                </a:solidFill>
                <a:latin typeface="Aptos"/>
                <a:ea typeface="Aptos"/>
                <a:cs typeface="Aptos"/>
              </a:defRPr>
            </a:pPr>
            <a:r>
              <a:t>INDONESIA</a:t>
            </a:r>
          </a:p>
        </p:txBody>
      </p:sp>
      <p:sp>
        <p:nvSpPr>
          <p:cNvPr id="14" name="cover-contact-panel">
            <a:extLst xmlns:a="http://schemas.openxmlformats.org/drawingml/2006/main">
              <a:ext uri="{FF2B5EF4-FFF2-40B4-BE49-F238E27FC236}">
                <a16:creationId xmlns:a16="http://schemas.microsoft.com/office/drawing/2014/main" id="{F8F9C3CD-4F6B-4994-8EF8-DDDF5E4E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5010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11512"/>
          </a:solidFill>
        </p:spPr>
      </p:sp>
      <p:sp>
        <p:nvSpPr>
          <p:cNvPr id="15" name="cover-name">
            <a:extLst xmlns:a="http://schemas.openxmlformats.org/drawingml/2006/main">
              <a:ext uri="{FF2B5EF4-FFF2-40B4-BE49-F238E27FC236}">
                <a16:creationId xmlns:a16="http://schemas.microsoft.com/office/drawing/2014/main" id="{50B5DBA1-1B45-4069-B4E4-0A13EA31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Muhammad Ali Akbar Al-Qahri</a:t>
            </a:r>
          </a:p>
        </p:txBody>
      </p:sp>
      <p:sp>
        <p:nvSpPr>
          <p:cNvPr id="16" name="cover-role">
            <a:extLst xmlns:a="http://schemas.openxmlformats.org/drawingml/2006/main">
              <a:ext uri="{FF2B5EF4-FFF2-40B4-BE49-F238E27FC236}">
                <a16:creationId xmlns:a16="http://schemas.microsoft.com/office/drawing/2014/main" id="{D2F9E8FD-1735-4C9B-BEBA-27A6304A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447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59"/>
                </a:solidFill>
                <a:latin typeface="Consolas"/>
                <a:ea typeface="Consolas"/>
                <a:cs typeface="Consolas"/>
              </a:defRPr>
            </a:pPr>
            <a:r>
              <a:t>DATA &amp; AI ENGINEER  /  DATA ANALYST  /  DATA SCIENTIST</a:t>
            </a:r>
          </a:p>
        </p:txBody>
      </p:sp>
      <p:sp>
        <p:nvSpPr>
          <p:cNvPr id="17" name="cover-email">
            <a:extLst xmlns:a="http://schemas.openxmlformats.org/drawingml/2006/main">
              <a:ext uri="{FF2B5EF4-FFF2-40B4-BE49-F238E27FC236}">
                <a16:creationId xmlns:a16="http://schemas.microsoft.com/office/drawing/2014/main" id="{6F081AD7-93B1-4CDC-9FFF-AA9E3A3C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381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A59B"/>
                </a:solidFill>
                <a:latin typeface="Consolas"/>
                <a:ea typeface="Consolas"/>
                <a:cs typeface="Consolas"/>
              </a:defRPr>
            </a:pPr>
            <a:r>
              <a:t>akbaralqahri@gmail.com</a:t>
            </a:r>
          </a:p>
        </p:txBody>
      </p:sp>
      <p:sp>
        <p:nvSpPr>
          <p:cNvPr id="18" name="cover-site-frame">
            <a:extLst xmlns:a="http://schemas.openxmlformats.org/drawingml/2006/main">
              <a:ext uri="{FF2B5EF4-FFF2-40B4-BE49-F238E27FC236}">
                <a16:creationId xmlns:a16="http://schemas.microsoft.com/office/drawing/2014/main" id="{F824071E-C9CF-4B24-AA6B-8E5D6140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876300"/>
            <a:ext cx="5829300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2A1A17"/>
          </a:solidFill>
        </p:spPr>
      </p:sp>
      <p:sp>
        <p:nvSpPr>
          <p:cNvPr id="19" name="cover-site-label">
            <a:extLst xmlns:a="http://schemas.openxmlformats.org/drawingml/2006/main">
              <a:ext uri="{FF2B5EF4-FFF2-40B4-BE49-F238E27FC236}">
                <a16:creationId xmlns:a16="http://schemas.microsoft.com/office/drawing/2014/main" id="{31BAF09D-9CF8-4C49-9291-BD84EE8B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9105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59"/>
                </a:solidFill>
                <a:latin typeface="Consolas"/>
                <a:ea typeface="Consolas"/>
                <a:cs typeface="Consolas"/>
              </a:defRPr>
            </a:pPr>
            <a:r>
              <a:t>LIVE PORTFOLIO  /  SAME DESIGN SYSTEM</a:t>
            </a:r>
          </a:p>
        </p:txBody>
      </p:sp>
      <p:sp>
        <p:nvSpPr>
          <p:cNvPr id="20" name="cover-swatch-gold">
            <a:extLst xmlns:a="http://schemas.openxmlformats.org/drawingml/2006/main">
              <a:ext uri="{FF2B5EF4-FFF2-40B4-BE49-F238E27FC236}">
                <a16:creationId xmlns:a16="http://schemas.microsoft.com/office/drawing/2014/main" id="{BD085350-5D73-4793-8CE3-EF125BF1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10150"/>
            <a:ext cx="8953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453"/>
          </a:solidFill>
        </p:spPr>
      </p:sp>
      <p:sp>
        <p:nvSpPr>
          <p:cNvPr id="21" name="cover-swatch-coral">
            <a:extLst xmlns:a="http://schemas.openxmlformats.org/drawingml/2006/main">
              <a:ext uri="{FF2B5EF4-FFF2-40B4-BE49-F238E27FC236}">
                <a16:creationId xmlns:a16="http://schemas.microsoft.com/office/drawing/2014/main" id="{CC35DF65-1D94-4CCA-B701-79DED1DF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10150"/>
            <a:ext cx="8953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59"/>
          </a:solidFill>
        </p:spPr>
      </p:sp>
      <p:sp>
        <p:nvSpPr>
          <p:cNvPr id="22" name="cover-swatch-teal">
            <a:extLst xmlns:a="http://schemas.openxmlformats.org/drawingml/2006/main">
              <a:ext uri="{FF2B5EF4-FFF2-40B4-BE49-F238E27FC236}">
                <a16:creationId xmlns:a16="http://schemas.microsoft.com/office/drawing/2014/main" id="{46DC0973-660A-47ED-88BB-C9409A6B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8953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</p:spPr>
      </p:sp>
      <p:sp>
        <p:nvSpPr>
          <p:cNvPr id="23" name="cover-site-copy">
            <a:extLst xmlns:a="http://schemas.openxmlformats.org/drawingml/2006/main">
              <a:ext uri="{FF2B5EF4-FFF2-40B4-BE49-F238E27FC236}">
                <a16:creationId xmlns:a16="http://schemas.microsoft.com/office/drawing/2014/main" id="{DDE5F6BA-C887-4BF5-801A-C889DA51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95900"/>
            <a:ext cx="552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A consistent visual language across web, PowerPoint, and PDF: cosmic dark surfaces, signal colors, monospaced labels, and decision-focused storytelling.</a:t>
            </a:r>
          </a:p>
        </p:txBody>
      </p:sp>
      <p:sp>
        <p:nvSpPr>
          <p:cNvPr id="24" name="footer-line-gold-1">
            <a:extLst xmlns:a="http://schemas.openxmlformats.org/drawingml/2006/main">
              <a:ext uri="{FF2B5EF4-FFF2-40B4-BE49-F238E27FC236}">
                <a16:creationId xmlns:a16="http://schemas.microsoft.com/office/drawing/2014/main" id="{0AEB74FF-8149-4F70-93BE-3002F7C7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5276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</p:spPr>
      </p:sp>
      <p:sp>
        <p:nvSpPr>
          <p:cNvPr id="25" name="footer-line-coral-1">
            <a:extLst xmlns:a="http://schemas.openxmlformats.org/drawingml/2006/main">
              <a:ext uri="{FF2B5EF4-FFF2-40B4-BE49-F238E27FC236}">
                <a16:creationId xmlns:a16="http://schemas.microsoft.com/office/drawing/2014/main" id="{BDB39D0F-CC88-4B70-973A-F684635D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29375"/>
            <a:ext cx="2638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</p:spPr>
      </p:sp>
      <p:sp>
        <p:nvSpPr>
          <p:cNvPr id="26" name="footer-line-teal-1">
            <a:extLst xmlns:a="http://schemas.openxmlformats.org/drawingml/2006/main">
              <a:ext uri="{FF2B5EF4-FFF2-40B4-BE49-F238E27FC236}">
                <a16:creationId xmlns:a16="http://schemas.microsoft.com/office/drawing/2014/main" id="{1C805FB7-B64F-4ED8-B322-27E4E9A2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429375"/>
            <a:ext cx="2638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27" name="footer-name-1">
            <a:extLst xmlns:a="http://schemas.openxmlformats.org/drawingml/2006/main">
              <a:ext uri="{FF2B5EF4-FFF2-40B4-BE49-F238E27FC236}">
                <a16:creationId xmlns:a16="http://schemas.microsoft.com/office/drawing/2014/main" id="{B3B15A19-F6CA-4C77-8834-EA085CEC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95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A59B"/>
                </a:solidFill>
                <a:latin typeface="Consolas"/>
                <a:ea typeface="Consolas"/>
                <a:cs typeface="Consolas"/>
              </a:defRPr>
            </a:pPr>
            <a:r>
              <a:t>~/ali_  /  DATA INTELLIGENCE PORTFOLIO</a:t>
            </a:r>
          </a:p>
        </p:txBody>
      </p:sp>
      <p:sp>
        <p:nvSpPr>
          <p:cNvPr id="28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BA1F091B-4F3F-4A0D-98A2-F6C8EFE5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6C453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6d71ca8bf4f6a"/>
          <a:srcRect xmlns:a="http://schemas.openxmlformats.org/drawingml/2006/main" l="836" t="0" r="8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028700"/>
            <a:ext cx="5524500" cy="3162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7330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02-lifecycle-canvas">
            <a:extLst xmlns:a="http://schemas.openxmlformats.org/drawingml/2006/main">
              <a:ext uri="{FF2B5EF4-FFF2-40B4-BE49-F238E27FC236}">
                <a16:creationId xmlns:a16="http://schemas.microsoft.com/office/drawing/2014/main" id="{818A2599-B14F-4E28-A1E3-9BF7CDE4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0A"/>
          </a:solidFill>
        </p:spPr>
      </p:sp>
      <p:sp>
        <p:nvSpPr>
          <p:cNvPr id="2" name="02-lifecycle-edge-gold">
            <a:extLst xmlns:a="http://schemas.openxmlformats.org/drawingml/2006/main">
              <a:ext uri="{FF2B5EF4-FFF2-40B4-BE49-F238E27FC236}">
                <a16:creationId xmlns:a16="http://schemas.microsoft.com/office/drawing/2014/main" id="{3ABD1544-1231-4779-BCFE-527272C1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</p:spPr>
      </p:sp>
      <p:sp>
        <p:nvSpPr>
          <p:cNvPr id="3" name="02-lifecycle-edge-coral">
            <a:extLst xmlns:a="http://schemas.openxmlformats.org/drawingml/2006/main">
              <a:ext uri="{FF2B5EF4-FFF2-40B4-BE49-F238E27FC236}">
                <a16:creationId xmlns:a16="http://schemas.microsoft.com/office/drawing/2014/main" id="{87CC7411-A334-46AE-8291-A9191079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</p:spPr>
      </p:sp>
      <p:sp>
        <p:nvSpPr>
          <p:cNvPr id="4" name="02-lifecycle-edge-teal">
            <a:extLst xmlns:a="http://schemas.openxmlformats.org/drawingml/2006/main">
              <a:ext uri="{FF2B5EF4-FFF2-40B4-BE49-F238E27FC236}">
                <a16:creationId xmlns:a16="http://schemas.microsoft.com/office/drawing/2014/main" id="{1D9F495A-15DB-4F2B-B63E-421F096C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5" name="eyebrow-2">
            <a:extLst xmlns:a="http://schemas.openxmlformats.org/drawingml/2006/main">
              <a:ext uri="{FF2B5EF4-FFF2-40B4-BE49-F238E27FC236}">
                <a16:creationId xmlns:a16="http://schemas.microsoft.com/office/drawing/2014/main" id="{8CC9A524-75CF-4A73-8E6D-A3C3B2EE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59"/>
                </a:solidFill>
                <a:latin typeface="Consolas"/>
                <a:ea typeface="Consolas"/>
                <a:cs typeface="Consolas"/>
              </a:defRPr>
            </a:pPr>
            <a:r>
              <a:t>~/ POSITIONING</a:t>
            </a:r>
          </a:p>
        </p:txBody>
      </p:sp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3928F3F0-4417-4E1C-9EAA-6112B233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668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One profile covers the full data lifecycle.</a:t>
            </a:r>
          </a:p>
        </p:txBody>
      </p:sp>
      <p:sp>
        <p:nvSpPr>
          <p:cNvPr id="7" name="subtitle-2">
            <a:extLst xmlns:a="http://schemas.openxmlformats.org/drawingml/2006/main">
              <a:ext uri="{FF2B5EF4-FFF2-40B4-BE49-F238E27FC236}">
                <a16:creationId xmlns:a16="http://schemas.microsoft.com/office/drawing/2014/main" id="{DF16A094-D544-4782-9C97-30F62BBC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10287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From trusted inputs to decisions people can act on.</a:t>
            </a:r>
          </a:p>
        </p:txBody>
      </p:sp>
      <p:sp>
        <p:nvSpPr>
          <p:cNvPr id="8" name="role-card-01">
            <a:extLst xmlns:a="http://schemas.openxmlformats.org/drawingml/2006/main">
              <a:ext uri="{FF2B5EF4-FFF2-40B4-BE49-F238E27FC236}">
                <a16:creationId xmlns:a16="http://schemas.microsoft.com/office/drawing/2014/main" id="{B19C6AA4-428B-420A-A66C-AF46EF9E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35814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211512"/>
          </a:solidFill>
        </p:spPr>
      </p:sp>
      <p:sp>
        <p:nvSpPr>
          <p:cNvPr id="9" name="role-step-bg-01">
            <a:extLst xmlns:a="http://schemas.openxmlformats.org/drawingml/2006/main">
              <a:ext uri="{FF2B5EF4-FFF2-40B4-BE49-F238E27FC236}">
                <a16:creationId xmlns:a16="http://schemas.microsoft.com/office/drawing/2014/main" id="{8D15D020-0A09-456D-A446-5D1715EA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C453"/>
          </a:solidFill>
        </p:spPr>
      </p:sp>
      <p:sp>
        <p:nvSpPr>
          <p:cNvPr id="10" name="role-step-01">
            <a:extLst xmlns:a="http://schemas.openxmlformats.org/drawingml/2006/main">
              <a:ext uri="{FF2B5EF4-FFF2-40B4-BE49-F238E27FC236}">
                <a16:creationId xmlns:a16="http://schemas.microsoft.com/office/drawing/2014/main" id="{67900E45-76A6-4A9F-B303-53EE5481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0325"/>
            <a:ext cx="55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0D08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11" name="role-title-01">
            <a:extLst xmlns:a="http://schemas.openxmlformats.org/drawingml/2006/main">
              <a:ext uri="{FF2B5EF4-FFF2-40B4-BE49-F238E27FC236}">
                <a16:creationId xmlns:a16="http://schemas.microsoft.com/office/drawing/2014/main" id="{36651BD3-F0CF-400E-BFED-710E3D75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285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Data Analyst</a:t>
            </a:r>
          </a:p>
        </p:txBody>
      </p:sp>
      <p:sp>
        <p:nvSpPr>
          <p:cNvPr id="12" name="role-desc-01">
            <a:extLst xmlns:a="http://schemas.openxmlformats.org/drawingml/2006/main">
              <a:ext uri="{FF2B5EF4-FFF2-40B4-BE49-F238E27FC236}">
                <a16:creationId xmlns:a16="http://schemas.microsoft.com/office/drawing/2014/main" id="{79AF3D9E-DD53-4807-AD3E-9A236C17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30670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Frames the question, defines KPIs, and communicates the decision.</a:t>
            </a:r>
          </a:p>
        </p:txBody>
      </p:sp>
      <p:sp>
        <p:nvSpPr>
          <p:cNvPr id="13" name="role-proof-line-01">
            <a:extLst xmlns:a="http://schemas.openxmlformats.org/drawingml/2006/main">
              <a:ext uri="{FF2B5EF4-FFF2-40B4-BE49-F238E27FC236}">
                <a16:creationId xmlns:a16="http://schemas.microsoft.com/office/drawing/2014/main" id="{7ABA5537-EDE9-4D57-94EE-B2634025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312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02A"/>
          </a:solidFill>
        </p:spPr>
      </p:sp>
      <p:sp>
        <p:nvSpPr>
          <p:cNvPr id="14" name="role-proof-01">
            <a:extLst xmlns:a="http://schemas.openxmlformats.org/drawingml/2006/main">
              <a:ext uri="{FF2B5EF4-FFF2-40B4-BE49-F238E27FC236}">
                <a16:creationId xmlns:a16="http://schemas.microsoft.com/office/drawing/2014/main" id="{0408B396-9B3E-4884-A7F9-415EE19E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t>8 strategic dashboards</a:t>
            </a:r>
          </a:p>
        </p:txBody>
      </p:sp>
      <p:sp>
        <p:nvSpPr>
          <p:cNvPr id="15" name="role-card-02">
            <a:extLst xmlns:a="http://schemas.openxmlformats.org/drawingml/2006/main">
              <a:ext uri="{FF2B5EF4-FFF2-40B4-BE49-F238E27FC236}">
                <a16:creationId xmlns:a16="http://schemas.microsoft.com/office/drawing/2014/main" id="{A804A581-7C66-4377-BFE7-B8A1B5E1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35814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211512"/>
          </a:solidFill>
        </p:spPr>
      </p:sp>
      <p:sp>
        <p:nvSpPr>
          <p:cNvPr id="16" name="role-step-bg-02">
            <a:extLst xmlns:a="http://schemas.openxmlformats.org/drawingml/2006/main">
              <a:ext uri="{FF2B5EF4-FFF2-40B4-BE49-F238E27FC236}">
                <a16:creationId xmlns:a16="http://schemas.microsoft.com/office/drawing/2014/main" id="{1D9739E2-115E-46E1-AB8E-8F309464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47925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7A59"/>
          </a:solidFill>
        </p:spPr>
      </p:sp>
      <p:sp>
        <p:nvSpPr>
          <p:cNvPr id="17" name="role-step-02">
            <a:extLst xmlns:a="http://schemas.openxmlformats.org/drawingml/2006/main">
              <a:ext uri="{FF2B5EF4-FFF2-40B4-BE49-F238E27FC236}">
                <a16:creationId xmlns:a16="http://schemas.microsoft.com/office/drawing/2014/main" id="{9F1546B2-BAE5-4F0E-AB89-CD24F556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00325"/>
            <a:ext cx="55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0D08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18" name="role-title-02">
            <a:extLst xmlns:a="http://schemas.openxmlformats.org/drawingml/2006/main">
              <a:ext uri="{FF2B5EF4-FFF2-40B4-BE49-F238E27FC236}">
                <a16:creationId xmlns:a16="http://schemas.microsoft.com/office/drawing/2014/main" id="{E4A4A153-1DD9-451B-ABB2-ECD21D9D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38500"/>
            <a:ext cx="285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Data Scientist</a:t>
            </a:r>
          </a:p>
        </p:txBody>
      </p:sp>
      <p:sp>
        <p:nvSpPr>
          <p:cNvPr id="19" name="role-desc-02">
            <a:extLst xmlns:a="http://schemas.openxmlformats.org/drawingml/2006/main">
              <a:ext uri="{FF2B5EF4-FFF2-40B4-BE49-F238E27FC236}">
                <a16:creationId xmlns:a16="http://schemas.microsoft.com/office/drawing/2014/main" id="{517B3BD2-C1C3-467C-8BAB-E4A28B67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90950"/>
            <a:ext cx="30670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Builds interpretable models and validates whether they generalize.</a:t>
            </a:r>
          </a:p>
        </p:txBody>
      </p:sp>
      <p:sp>
        <p:nvSpPr>
          <p:cNvPr id="20" name="role-proof-line-02">
            <a:extLst xmlns:a="http://schemas.openxmlformats.org/drawingml/2006/main">
              <a:ext uri="{FF2B5EF4-FFF2-40B4-BE49-F238E27FC236}">
                <a16:creationId xmlns:a16="http://schemas.microsoft.com/office/drawing/2014/main" id="{CF3D9917-2B72-46EE-A14F-5617BCFA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95850"/>
            <a:ext cx="312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02A"/>
          </a:solidFill>
        </p:spPr>
      </p:sp>
      <p:sp>
        <p:nvSpPr>
          <p:cNvPr id="21" name="role-proof-02">
            <a:extLst xmlns:a="http://schemas.openxmlformats.org/drawingml/2006/main">
              <a:ext uri="{FF2B5EF4-FFF2-40B4-BE49-F238E27FC236}">
                <a16:creationId xmlns:a16="http://schemas.microsoft.com/office/drawing/2014/main" id="{E197AA7E-2099-4F91-9053-EC07DA65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6730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t>85.1% R² · 89% accuracy</a:t>
            </a:r>
          </a:p>
        </p:txBody>
      </p:sp>
      <p:sp>
        <p:nvSpPr>
          <p:cNvPr id="22" name="role-card-03">
            <a:extLst xmlns:a="http://schemas.openxmlformats.org/drawingml/2006/main">
              <a:ext uri="{FF2B5EF4-FFF2-40B4-BE49-F238E27FC236}">
                <a16:creationId xmlns:a16="http://schemas.microsoft.com/office/drawing/2014/main" id="{9C344AD6-7590-42C8-A50D-1AA6984B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35814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211512"/>
          </a:solidFill>
        </p:spPr>
      </p:sp>
      <p:sp>
        <p:nvSpPr>
          <p:cNvPr id="23" name="role-step-bg-03">
            <a:extLst xmlns:a="http://schemas.openxmlformats.org/drawingml/2006/main">
              <a:ext uri="{FF2B5EF4-FFF2-40B4-BE49-F238E27FC236}">
                <a16:creationId xmlns:a16="http://schemas.microsoft.com/office/drawing/2014/main" id="{B14EA19C-E383-4FA6-8C4A-7CEC0EA2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47925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5EEAD4"/>
          </a:solidFill>
        </p:spPr>
      </p:sp>
      <p:sp>
        <p:nvSpPr>
          <p:cNvPr id="24" name="role-step-03">
            <a:extLst xmlns:a="http://schemas.openxmlformats.org/drawingml/2006/main">
              <a:ext uri="{FF2B5EF4-FFF2-40B4-BE49-F238E27FC236}">
                <a16:creationId xmlns:a16="http://schemas.microsoft.com/office/drawing/2014/main" id="{CA9A42DD-4AF8-4708-9D1D-5B39EBA9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00325"/>
            <a:ext cx="55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0D08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25" name="role-title-03">
            <a:extLst xmlns:a="http://schemas.openxmlformats.org/drawingml/2006/main">
              <a:ext uri="{FF2B5EF4-FFF2-40B4-BE49-F238E27FC236}">
                <a16:creationId xmlns:a16="http://schemas.microsoft.com/office/drawing/2014/main" id="{A7ACD6D4-F224-4A80-B56B-00CBF82C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38500"/>
            <a:ext cx="285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Database Engineer</a:t>
            </a:r>
          </a:p>
        </p:txBody>
      </p:sp>
      <p:sp>
        <p:nvSpPr>
          <p:cNvPr id="26" name="role-desc-03">
            <a:extLst xmlns:a="http://schemas.openxmlformats.org/drawingml/2006/main">
              <a:ext uri="{FF2B5EF4-FFF2-40B4-BE49-F238E27FC236}">
                <a16:creationId xmlns:a16="http://schemas.microsoft.com/office/drawing/2014/main" id="{0364B1AD-761E-4458-98AF-CF3F816C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90950"/>
            <a:ext cx="30670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Designs reliable pipelines, transformations, and quality controls.</a:t>
            </a:r>
          </a:p>
        </p:txBody>
      </p:sp>
      <p:sp>
        <p:nvSpPr>
          <p:cNvPr id="27" name="role-proof-line-03">
            <a:extLst xmlns:a="http://schemas.openxmlformats.org/drawingml/2006/main">
              <a:ext uri="{FF2B5EF4-FFF2-40B4-BE49-F238E27FC236}">
                <a16:creationId xmlns:a16="http://schemas.microsoft.com/office/drawing/2014/main" id="{B0748118-43F2-4B52-82DF-3E28F946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95850"/>
            <a:ext cx="312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02A"/>
          </a:solidFill>
        </p:spPr>
      </p:sp>
      <p:sp>
        <p:nvSpPr>
          <p:cNvPr id="28" name="role-proof-03">
            <a:extLst xmlns:a="http://schemas.openxmlformats.org/drawingml/2006/main">
              <a:ext uri="{FF2B5EF4-FFF2-40B4-BE49-F238E27FC236}">
                <a16:creationId xmlns:a16="http://schemas.microsoft.com/office/drawing/2014/main" id="{CC19A5E4-A68E-4DED-9623-C701D291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6730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t>10K+ questions automated</a:t>
            </a:r>
          </a:p>
        </p:txBody>
      </p:sp>
      <p:sp>
        <p:nvSpPr>
          <p:cNvPr id="29" name="footer-line-gold-2">
            <a:extLst xmlns:a="http://schemas.openxmlformats.org/drawingml/2006/main">
              <a:ext uri="{FF2B5EF4-FFF2-40B4-BE49-F238E27FC236}">
                <a16:creationId xmlns:a16="http://schemas.microsoft.com/office/drawing/2014/main" id="{6998AD76-4FE4-4FEA-B2BB-6FB31A4E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5276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</p:spPr>
      </p:sp>
      <p:sp>
        <p:nvSpPr>
          <p:cNvPr id="30" name="footer-line-coral-2">
            <a:extLst xmlns:a="http://schemas.openxmlformats.org/drawingml/2006/main">
              <a:ext uri="{FF2B5EF4-FFF2-40B4-BE49-F238E27FC236}">
                <a16:creationId xmlns:a16="http://schemas.microsoft.com/office/drawing/2014/main" id="{80AEABCA-F969-4E01-82F2-30108CC2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29375"/>
            <a:ext cx="2638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</p:spPr>
      </p:sp>
      <p:sp>
        <p:nvSpPr>
          <p:cNvPr id="31" name="footer-line-teal-2">
            <a:extLst xmlns:a="http://schemas.openxmlformats.org/drawingml/2006/main">
              <a:ext uri="{FF2B5EF4-FFF2-40B4-BE49-F238E27FC236}">
                <a16:creationId xmlns:a16="http://schemas.microsoft.com/office/drawing/2014/main" id="{DC62C39B-08AE-45CB-919E-E042ED0C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429375"/>
            <a:ext cx="2638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32" name="footer-name-2">
            <a:extLst xmlns:a="http://schemas.openxmlformats.org/drawingml/2006/main">
              <a:ext uri="{FF2B5EF4-FFF2-40B4-BE49-F238E27FC236}">
                <a16:creationId xmlns:a16="http://schemas.microsoft.com/office/drawing/2014/main" id="{422B1619-D3EC-4318-9098-5A371833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95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A59B"/>
                </a:solidFill>
                <a:latin typeface="Consolas"/>
                <a:ea typeface="Consolas"/>
                <a:cs typeface="Consolas"/>
              </a:defRPr>
            </a:pPr>
            <a:r>
              <a:t>~/ali_  /  DATA INTELLIGENCE PORTFOLIO</a:t>
            </a:r>
          </a:p>
        </p:txBody>
      </p:sp>
      <p:sp>
        <p:nvSpPr>
          <p:cNvPr id="33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0DAE97B1-31A4-4D1C-B34C-289D4FD8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6C453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326087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03-proof-canvas">
            <a:extLst xmlns:a="http://schemas.openxmlformats.org/drawingml/2006/main">
              <a:ext uri="{FF2B5EF4-FFF2-40B4-BE49-F238E27FC236}">
                <a16:creationId xmlns:a16="http://schemas.microsoft.com/office/drawing/2014/main" id="{FCEB0AE1-5231-46C5-BA91-90A92496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0A"/>
          </a:solidFill>
        </p:spPr>
      </p:sp>
      <p:sp>
        <p:nvSpPr>
          <p:cNvPr id="2" name="03-proof-edge-gold">
            <a:extLst xmlns:a="http://schemas.openxmlformats.org/drawingml/2006/main">
              <a:ext uri="{FF2B5EF4-FFF2-40B4-BE49-F238E27FC236}">
                <a16:creationId xmlns:a16="http://schemas.microsoft.com/office/drawing/2014/main" id="{9E53666F-7919-445E-954D-F04760EA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</p:spPr>
      </p:sp>
      <p:sp>
        <p:nvSpPr>
          <p:cNvPr id="3" name="03-proof-edge-coral">
            <a:extLst xmlns:a="http://schemas.openxmlformats.org/drawingml/2006/main">
              <a:ext uri="{FF2B5EF4-FFF2-40B4-BE49-F238E27FC236}">
                <a16:creationId xmlns:a16="http://schemas.microsoft.com/office/drawing/2014/main" id="{249F11A7-7FEC-4BBF-893A-C378E9CD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</p:spPr>
      </p:sp>
      <p:sp>
        <p:nvSpPr>
          <p:cNvPr id="4" name="03-proof-edge-teal">
            <a:extLst xmlns:a="http://schemas.openxmlformats.org/drawingml/2006/main">
              <a:ext uri="{FF2B5EF4-FFF2-40B4-BE49-F238E27FC236}">
                <a16:creationId xmlns:a16="http://schemas.microsoft.com/office/drawing/2014/main" id="{71BEB81C-0950-48CC-8995-C97A4F60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5" name="eyebrow-3">
            <a:extLst xmlns:a="http://schemas.openxmlformats.org/drawingml/2006/main">
              <a:ext uri="{FF2B5EF4-FFF2-40B4-BE49-F238E27FC236}">
                <a16:creationId xmlns:a16="http://schemas.microsoft.com/office/drawing/2014/main" id="{EB95093A-3861-4AD6-9ABF-80D2A09A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59"/>
                </a:solidFill>
                <a:latin typeface="Consolas"/>
                <a:ea typeface="Consolas"/>
                <a:cs typeface="Consolas"/>
              </a:defRPr>
            </a:pPr>
            <a:r>
              <a:t>~/ EVIDENCE</a:t>
            </a:r>
          </a:p>
        </p:txBody>
      </p:sp>
      <p:sp>
        <p:nvSpPr>
          <p:cNvPr id="6" name="title-3">
            <a:extLst xmlns:a="http://schemas.openxmlformats.org/drawingml/2006/main">
              <a:ext uri="{FF2B5EF4-FFF2-40B4-BE49-F238E27FC236}">
                <a16:creationId xmlns:a16="http://schemas.microsoft.com/office/drawing/2014/main" id="{99D16CC8-8B3E-40C6-AE20-74894A13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668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The work is already measurable.</a:t>
            </a:r>
          </a:p>
        </p:txBody>
      </p:sp>
      <p:sp>
        <p:nvSpPr>
          <p:cNvPr id="7" name="subtitle-3">
            <a:extLst xmlns:a="http://schemas.openxmlformats.org/drawingml/2006/main">
              <a:ext uri="{FF2B5EF4-FFF2-40B4-BE49-F238E27FC236}">
                <a16:creationId xmlns:a16="http://schemas.microsoft.com/office/drawing/2014/main" id="{3C49B761-2E26-40DA-BC6D-B245ECC1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10287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Three outcomes spanning business intelligence, automation, and machine learning.</a:t>
            </a:r>
          </a:p>
        </p:txBody>
      </p:sp>
      <p:sp>
        <p:nvSpPr>
          <p:cNvPr id="8" name="metric-card-40%">
            <a:extLst xmlns:a="http://schemas.openxmlformats.org/drawingml/2006/main">
              <a:ext uri="{FF2B5EF4-FFF2-40B4-BE49-F238E27FC236}">
                <a16:creationId xmlns:a16="http://schemas.microsoft.com/office/drawing/2014/main" id="{5FA75417-7A16-4728-9493-16D436B2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5814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211512"/>
          </a:solidFill>
        </p:spPr>
      </p:sp>
      <p:sp>
        <p:nvSpPr>
          <p:cNvPr id="9" name="metric-accent-40%">
            <a:extLst xmlns:a="http://schemas.openxmlformats.org/drawingml/2006/main">
              <a:ext uri="{FF2B5EF4-FFF2-40B4-BE49-F238E27FC236}">
                <a16:creationId xmlns:a16="http://schemas.microsoft.com/office/drawing/2014/main" id="{C43D3A3A-31C1-4674-8B16-620D67A3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5814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453"/>
          </a:solidFill>
        </p:spPr>
      </p:sp>
      <p:sp>
        <p:nvSpPr>
          <p:cNvPr id="10" name="metric-value-40%">
            <a:extLst xmlns:a="http://schemas.openxmlformats.org/drawingml/2006/main">
              <a:ext uri="{FF2B5EF4-FFF2-40B4-BE49-F238E27FC236}">
                <a16:creationId xmlns:a16="http://schemas.microsoft.com/office/drawing/2014/main" id="{1D09153F-9F13-44D5-8108-5516F2D9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295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40%</a:t>
            </a:r>
          </a:p>
        </p:txBody>
      </p:sp>
      <p:sp>
        <p:nvSpPr>
          <p:cNvPr id="11" name="metric-label-40%">
            <a:extLst xmlns:a="http://schemas.openxmlformats.org/drawingml/2006/main">
              <a:ext uri="{FF2B5EF4-FFF2-40B4-BE49-F238E27FC236}">
                <a16:creationId xmlns:a16="http://schemas.microsoft.com/office/drawing/2014/main" id="{30948EEF-385C-46F7-918D-19FE10DA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295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faster reporting</a:t>
            </a:r>
          </a:p>
        </p:txBody>
      </p:sp>
      <p:sp>
        <p:nvSpPr>
          <p:cNvPr id="12" name="metric-detail-40%">
            <a:extLst xmlns:a="http://schemas.openxmlformats.org/drawingml/2006/main">
              <a:ext uri="{FF2B5EF4-FFF2-40B4-BE49-F238E27FC236}">
                <a16:creationId xmlns:a16="http://schemas.microsoft.com/office/drawing/2014/main" id="{4FFC0768-8CBF-402A-BDD3-B7B2569B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Across five Bank Indonesia branches</a:t>
            </a:r>
          </a:p>
        </p:txBody>
      </p:sp>
      <p:sp>
        <p:nvSpPr>
          <p:cNvPr id="13" name="metric-card-92%">
            <a:extLst xmlns:a="http://schemas.openxmlformats.org/drawingml/2006/main">
              <a:ext uri="{FF2B5EF4-FFF2-40B4-BE49-F238E27FC236}">
                <a16:creationId xmlns:a16="http://schemas.microsoft.com/office/drawing/2014/main" id="{D6E2B219-E4AE-4FC9-B304-EF2ED7D4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35814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211512"/>
          </a:solidFill>
        </p:spPr>
      </p:sp>
      <p:sp>
        <p:nvSpPr>
          <p:cNvPr id="14" name="metric-accent-92%">
            <a:extLst xmlns:a="http://schemas.openxmlformats.org/drawingml/2006/main">
              <a:ext uri="{FF2B5EF4-FFF2-40B4-BE49-F238E27FC236}">
                <a16:creationId xmlns:a16="http://schemas.microsoft.com/office/drawing/2014/main" id="{3633AAD5-760F-460F-AD5F-A2040F30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35814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59"/>
          </a:solidFill>
        </p:spPr>
      </p:sp>
      <p:sp>
        <p:nvSpPr>
          <p:cNvPr id="15" name="metric-value-92%">
            <a:extLst xmlns:a="http://schemas.openxmlformats.org/drawingml/2006/main">
              <a:ext uri="{FF2B5EF4-FFF2-40B4-BE49-F238E27FC236}">
                <a16:creationId xmlns:a16="http://schemas.microsoft.com/office/drawing/2014/main" id="{C2E258A5-D36D-4BFE-B429-C532F925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76550"/>
            <a:ext cx="295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92%</a:t>
            </a:r>
          </a:p>
        </p:txBody>
      </p:sp>
      <p:sp>
        <p:nvSpPr>
          <p:cNvPr id="16" name="metric-label-92%">
            <a:extLst xmlns:a="http://schemas.openxmlformats.org/drawingml/2006/main">
              <a:ext uri="{FF2B5EF4-FFF2-40B4-BE49-F238E27FC236}">
                <a16:creationId xmlns:a16="http://schemas.microsoft.com/office/drawing/2014/main" id="{EC4F8A7C-594D-4A98-AC88-01E851C1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76675"/>
            <a:ext cx="295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text-processing accuracy</a:t>
            </a:r>
          </a:p>
        </p:txBody>
      </p:sp>
      <p:sp>
        <p:nvSpPr>
          <p:cNvPr id="17" name="metric-detail-92%">
            <a:extLst xmlns:a="http://schemas.openxmlformats.org/drawingml/2006/main">
              <a:ext uri="{FF2B5EF4-FFF2-40B4-BE49-F238E27FC236}">
                <a16:creationId xmlns:a16="http://schemas.microsoft.com/office/drawing/2014/main" id="{F9ACEFBE-5CAE-4B18-8F9D-B57C0335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2915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Gemini API workflow for question automation</a:t>
            </a:r>
          </a:p>
        </p:txBody>
      </p:sp>
      <p:sp>
        <p:nvSpPr>
          <p:cNvPr id="18" name="metric-card-89%">
            <a:extLst xmlns:a="http://schemas.openxmlformats.org/drawingml/2006/main">
              <a:ext uri="{FF2B5EF4-FFF2-40B4-BE49-F238E27FC236}">
                <a16:creationId xmlns:a16="http://schemas.microsoft.com/office/drawing/2014/main" id="{FC728E5F-5963-4C44-BC67-935C3E65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35814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211512"/>
          </a:solidFill>
        </p:spPr>
      </p:sp>
      <p:sp>
        <p:nvSpPr>
          <p:cNvPr id="19" name="metric-accent-89%">
            <a:extLst xmlns:a="http://schemas.openxmlformats.org/drawingml/2006/main">
              <a:ext uri="{FF2B5EF4-FFF2-40B4-BE49-F238E27FC236}">
                <a16:creationId xmlns:a16="http://schemas.microsoft.com/office/drawing/2014/main" id="{81F7E2DE-D099-48F3-A7A6-239A03CB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35814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</p:spPr>
      </p:sp>
      <p:sp>
        <p:nvSpPr>
          <p:cNvPr id="20" name="metric-value-89%">
            <a:extLst xmlns:a="http://schemas.openxmlformats.org/drawingml/2006/main">
              <a:ext uri="{FF2B5EF4-FFF2-40B4-BE49-F238E27FC236}">
                <a16:creationId xmlns:a16="http://schemas.microsoft.com/office/drawing/2014/main" id="{C1F29B35-C77A-4A9B-95A0-D1567492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295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89%</a:t>
            </a:r>
          </a:p>
        </p:txBody>
      </p:sp>
      <p:sp>
        <p:nvSpPr>
          <p:cNvPr id="21" name="metric-label-89%">
            <a:extLst xmlns:a="http://schemas.openxmlformats.org/drawingml/2006/main">
              <a:ext uri="{FF2B5EF4-FFF2-40B4-BE49-F238E27FC236}">
                <a16:creationId xmlns:a16="http://schemas.microsoft.com/office/drawing/2014/main" id="{90048BAD-26C4-4917-98A5-78B57D2B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76675"/>
            <a:ext cx="295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classification accuracy</a:t>
            </a:r>
          </a:p>
        </p:txBody>
      </p:sp>
      <p:sp>
        <p:nvSpPr>
          <p:cNvPr id="22" name="metric-detail-89%">
            <a:extLst xmlns:a="http://schemas.openxmlformats.org/drawingml/2006/main">
              <a:ext uri="{FF2B5EF4-FFF2-40B4-BE49-F238E27FC236}">
                <a16:creationId xmlns:a16="http://schemas.microsoft.com/office/drawing/2014/main" id="{EDF31DA2-D898-4DDE-9BA1-5EFCFC4B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2915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Stock movement research · Best Paper</a:t>
            </a:r>
          </a:p>
        </p:txBody>
      </p:sp>
      <p:sp>
        <p:nvSpPr>
          <p:cNvPr id="23" name="footer-line-gold-3">
            <a:extLst xmlns:a="http://schemas.openxmlformats.org/drawingml/2006/main">
              <a:ext uri="{FF2B5EF4-FFF2-40B4-BE49-F238E27FC236}">
                <a16:creationId xmlns:a16="http://schemas.microsoft.com/office/drawing/2014/main" id="{292FAEFC-B2CC-4C5C-B421-55E46A55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5276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</p:spPr>
      </p:sp>
      <p:sp>
        <p:nvSpPr>
          <p:cNvPr id="24" name="footer-line-coral-3">
            <a:extLst xmlns:a="http://schemas.openxmlformats.org/drawingml/2006/main">
              <a:ext uri="{FF2B5EF4-FFF2-40B4-BE49-F238E27FC236}">
                <a16:creationId xmlns:a16="http://schemas.microsoft.com/office/drawing/2014/main" id="{82AF6605-FD30-47FC-9E25-A201C691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29375"/>
            <a:ext cx="2638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</p:spPr>
      </p:sp>
      <p:sp>
        <p:nvSpPr>
          <p:cNvPr id="25" name="footer-line-teal-3">
            <a:extLst xmlns:a="http://schemas.openxmlformats.org/drawingml/2006/main">
              <a:ext uri="{FF2B5EF4-FFF2-40B4-BE49-F238E27FC236}">
                <a16:creationId xmlns:a16="http://schemas.microsoft.com/office/drawing/2014/main" id="{D5A16C03-CA09-4577-9A84-3C2C1D67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429375"/>
            <a:ext cx="2638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26" name="footer-name-3">
            <a:extLst xmlns:a="http://schemas.openxmlformats.org/drawingml/2006/main">
              <a:ext uri="{FF2B5EF4-FFF2-40B4-BE49-F238E27FC236}">
                <a16:creationId xmlns:a16="http://schemas.microsoft.com/office/drawing/2014/main" id="{11D8DDAB-0F78-4460-8D74-B27A6563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95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A59B"/>
                </a:solidFill>
                <a:latin typeface="Consolas"/>
                <a:ea typeface="Consolas"/>
                <a:cs typeface="Consolas"/>
              </a:defRPr>
            </a:pPr>
            <a:r>
              <a:t>~/ali_  /  DATA INTELLIGENCE PORTFOLIO</a:t>
            </a:r>
          </a:p>
        </p:txBody>
      </p:sp>
      <p:sp>
        <p:nvSpPr>
          <p:cNvPr id="27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16BD8E6E-9E8A-4A3E-BDC3-FD1B42FE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6C453"/>
                </a:solidFill>
                <a:latin typeface="Consolas"/>
                <a:ea typeface="Consolas"/>
                <a:cs typeface="Consolas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100369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04-experience-canvas">
            <a:extLst xmlns:a="http://schemas.openxmlformats.org/drawingml/2006/main">
              <a:ext uri="{FF2B5EF4-FFF2-40B4-BE49-F238E27FC236}">
                <a16:creationId xmlns:a16="http://schemas.microsoft.com/office/drawing/2014/main" id="{CD327683-F04E-4FA3-9B9E-0502AEF9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0A"/>
          </a:solidFill>
        </p:spPr>
      </p:sp>
      <p:sp>
        <p:nvSpPr>
          <p:cNvPr id="2" name="04-experience-edge-gold">
            <a:extLst xmlns:a="http://schemas.openxmlformats.org/drawingml/2006/main">
              <a:ext uri="{FF2B5EF4-FFF2-40B4-BE49-F238E27FC236}">
                <a16:creationId xmlns:a16="http://schemas.microsoft.com/office/drawing/2014/main" id="{02003481-4A4A-426C-A333-BDD6D722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</p:spPr>
      </p:sp>
      <p:sp>
        <p:nvSpPr>
          <p:cNvPr id="3" name="04-experience-edge-coral">
            <a:extLst xmlns:a="http://schemas.openxmlformats.org/drawingml/2006/main">
              <a:ext uri="{FF2B5EF4-FFF2-40B4-BE49-F238E27FC236}">
                <a16:creationId xmlns:a16="http://schemas.microsoft.com/office/drawing/2014/main" id="{C08DC786-0111-45D1-A582-4B53E6A7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</p:spPr>
      </p:sp>
      <p:sp>
        <p:nvSpPr>
          <p:cNvPr id="4" name="04-experience-edge-teal">
            <a:extLst xmlns:a="http://schemas.openxmlformats.org/drawingml/2006/main">
              <a:ext uri="{FF2B5EF4-FFF2-40B4-BE49-F238E27FC236}">
                <a16:creationId xmlns:a16="http://schemas.microsoft.com/office/drawing/2014/main" id="{69D6F485-1240-4808-B79C-DE49AB13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5" name="eyebrow-4">
            <a:extLst xmlns:a="http://schemas.openxmlformats.org/drawingml/2006/main">
              <a:ext uri="{FF2B5EF4-FFF2-40B4-BE49-F238E27FC236}">
                <a16:creationId xmlns:a16="http://schemas.microsoft.com/office/drawing/2014/main" id="{31F5337A-8604-44AF-801A-39AC972D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59"/>
                </a:solidFill>
                <a:latin typeface="Consolas"/>
                <a:ea typeface="Consolas"/>
                <a:cs typeface="Consolas"/>
              </a:defRPr>
            </a:pPr>
            <a:r>
              <a:t>~/ EXPERIENCE</a:t>
            </a:r>
          </a:p>
        </p:txBody>
      </p:sp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7911A25D-187E-4E48-97EC-980B6E2D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668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023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I have delivered across analytics, engineering, and enablement.</a:t>
            </a:r>
          </a:p>
        </p:txBody>
      </p:sp>
      <p:sp>
        <p:nvSpPr>
          <p:cNvPr id="7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1029863C-7847-426F-AC7C-C2612404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02A"/>
          </a:solidFill>
        </p:spPr>
      </p:sp>
      <p:sp>
        <p:nvSpPr>
          <p:cNvPr id="8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C2F4EDA8-4192-4819-B517-AB1A0E41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7146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A1A17"/>
          </a:solidFill>
        </p:spPr>
      </p:sp>
      <p:sp>
        <p:nvSpPr>
          <p:cNvPr id="9" name="timeline-dot-core-0">
            <a:extLst xmlns:a="http://schemas.openxmlformats.org/drawingml/2006/main">
              <a:ext uri="{FF2B5EF4-FFF2-40B4-BE49-F238E27FC236}">
                <a16:creationId xmlns:a16="http://schemas.microsoft.com/office/drawing/2014/main" id="{9125C25E-4438-4B91-B396-7E0A78AD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453"/>
          </a:solidFill>
        </p:spPr>
      </p:sp>
      <p:sp>
        <p:nvSpPr>
          <p:cNvPr id="10" name="timeline-period-0">
            <a:extLst xmlns:a="http://schemas.openxmlformats.org/drawingml/2006/main">
              <a:ext uri="{FF2B5EF4-FFF2-40B4-BE49-F238E27FC236}">
                <a16:creationId xmlns:a16="http://schemas.microsoft.com/office/drawing/2014/main" id="{49FABED0-361E-4F4F-89E4-9EC64FFE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130552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t>2024</a:t>
            </a:r>
          </a:p>
        </p:txBody>
      </p:sp>
      <p:sp>
        <p:nvSpPr>
          <p:cNvPr id="11" name="timeline-org-0">
            <a:extLst xmlns:a="http://schemas.openxmlformats.org/drawingml/2006/main">
              <a:ext uri="{FF2B5EF4-FFF2-40B4-BE49-F238E27FC236}">
                <a16:creationId xmlns:a16="http://schemas.microsoft.com/office/drawing/2014/main" id="{7AA96355-F88C-4383-82E2-F404E007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43275"/>
            <a:ext cx="2130552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Bank Indonesia</a:t>
            </a:r>
          </a:p>
        </p:txBody>
      </p:sp>
      <p:sp>
        <p:nvSpPr>
          <p:cNvPr id="12" name="timeline-role-0">
            <a:extLst xmlns:a="http://schemas.openxmlformats.org/drawingml/2006/main">
              <a:ext uri="{FF2B5EF4-FFF2-40B4-BE49-F238E27FC236}">
                <a16:creationId xmlns:a16="http://schemas.microsoft.com/office/drawing/2014/main" id="{7AF89F7F-8DA7-4A12-BCA9-B3EB976D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71925"/>
            <a:ext cx="2130552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Data Analyst Intern</a:t>
            </a:r>
          </a:p>
        </p:txBody>
      </p:sp>
      <p:sp>
        <p:nvSpPr>
          <p:cNvPr id="13" name="timeline-result-0">
            <a:extLst xmlns:a="http://schemas.openxmlformats.org/drawingml/2006/main">
              <a:ext uri="{FF2B5EF4-FFF2-40B4-BE49-F238E27FC236}">
                <a16:creationId xmlns:a16="http://schemas.microsoft.com/office/drawing/2014/main" id="{12F576EA-FE19-4201-AF0E-DE63A428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2130552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8 dashboards · 85% stakeholder satisfaction</a:t>
            </a:r>
          </a:p>
        </p:txBody>
      </p:sp>
      <p:sp>
        <p:nvSpPr>
          <p:cNvPr id="14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A506158D-C8B8-4F98-9DDE-B759217A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6357" y="27146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A1A17"/>
          </a:solidFill>
        </p:spPr>
      </p:sp>
      <p:sp>
        <p:nvSpPr>
          <p:cNvPr id="15" name="timeline-dot-core-1">
            <a:extLst xmlns:a="http://schemas.openxmlformats.org/drawingml/2006/main">
              <a:ext uri="{FF2B5EF4-FFF2-40B4-BE49-F238E27FC236}">
                <a16:creationId xmlns:a16="http://schemas.microsoft.com/office/drawing/2014/main" id="{B1C90E96-DDB5-4F2D-A8F5-796B2AE5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82" y="2838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453"/>
          </a:solidFill>
        </p:spPr>
      </p:sp>
      <p:sp>
        <p:nvSpPr>
          <p:cNvPr id="16" name="timeline-period-1">
            <a:extLst xmlns:a="http://schemas.openxmlformats.org/drawingml/2006/main">
              <a:ext uri="{FF2B5EF4-FFF2-40B4-BE49-F238E27FC236}">
                <a16:creationId xmlns:a16="http://schemas.microsoft.com/office/drawing/2014/main" id="{76C58D01-B7C8-442E-BD90-C4061496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482" y="2238375"/>
            <a:ext cx="2130552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t>2024–25</a:t>
            </a:r>
          </a:p>
        </p:txBody>
      </p:sp>
      <p:sp>
        <p:nvSpPr>
          <p:cNvPr id="17" name="timeline-org-1">
            <a:extLst xmlns:a="http://schemas.openxmlformats.org/drawingml/2006/main">
              <a:ext uri="{FF2B5EF4-FFF2-40B4-BE49-F238E27FC236}">
                <a16:creationId xmlns:a16="http://schemas.microsoft.com/office/drawing/2014/main" id="{B25C4E1D-C008-49EF-B396-60A83B18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482" y="3343275"/>
            <a:ext cx="2130552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Telkom University</a:t>
            </a:r>
          </a:p>
        </p:txBody>
      </p:sp>
      <p:sp>
        <p:nvSpPr>
          <p:cNvPr id="18" name="timeline-role-1">
            <a:extLst xmlns:a="http://schemas.openxmlformats.org/drawingml/2006/main">
              <a:ext uri="{FF2B5EF4-FFF2-40B4-BE49-F238E27FC236}">
                <a16:creationId xmlns:a16="http://schemas.microsoft.com/office/drawing/2014/main" id="{F4FE63DD-D2C3-40A2-8507-147C6E13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482" y="3971925"/>
            <a:ext cx="2130552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Teaching Assistant</a:t>
            </a:r>
          </a:p>
        </p:txBody>
      </p:sp>
      <p:sp>
        <p:nvSpPr>
          <p:cNvPr id="19" name="timeline-result-1">
            <a:extLst xmlns:a="http://schemas.openxmlformats.org/drawingml/2006/main">
              <a:ext uri="{FF2B5EF4-FFF2-40B4-BE49-F238E27FC236}">
                <a16:creationId xmlns:a16="http://schemas.microsoft.com/office/drawing/2014/main" id="{085C76BB-9C99-41AB-8D42-7427D332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482" y="4695825"/>
            <a:ext cx="2130552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500+ assignments · 30% performance lift</a:t>
            </a:r>
          </a:p>
        </p:txBody>
      </p:sp>
      <p:sp>
        <p:nvSpPr>
          <p:cNvPr id="20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DB39153F-9CFE-47D8-80FD-E065DCBB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9789" y="27146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A1A17"/>
          </a:solidFill>
        </p:spPr>
      </p:sp>
      <p:sp>
        <p:nvSpPr>
          <p:cNvPr id="21" name="timeline-dot-core-2">
            <a:extLst xmlns:a="http://schemas.openxmlformats.org/drawingml/2006/main">
              <a:ext uri="{FF2B5EF4-FFF2-40B4-BE49-F238E27FC236}">
                <a16:creationId xmlns:a16="http://schemas.microsoft.com/office/drawing/2014/main" id="{14C05002-DB88-4985-92A7-CB17C90E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3614" y="2838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453"/>
          </a:solidFill>
        </p:spPr>
      </p:sp>
      <p:sp>
        <p:nvSpPr>
          <p:cNvPr id="22" name="timeline-period-2">
            <a:extLst xmlns:a="http://schemas.openxmlformats.org/drawingml/2006/main">
              <a:ext uri="{FF2B5EF4-FFF2-40B4-BE49-F238E27FC236}">
                <a16:creationId xmlns:a16="http://schemas.microsoft.com/office/drawing/2014/main" id="{F568D920-1924-4958-96E2-BE861A07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6914" y="2238375"/>
            <a:ext cx="2130552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t>2025</a:t>
            </a:r>
          </a:p>
        </p:txBody>
      </p:sp>
      <p:sp>
        <p:nvSpPr>
          <p:cNvPr id="23" name="timeline-org-2">
            <a:extLst xmlns:a="http://schemas.openxmlformats.org/drawingml/2006/main">
              <a:ext uri="{FF2B5EF4-FFF2-40B4-BE49-F238E27FC236}">
                <a16:creationId xmlns:a16="http://schemas.microsoft.com/office/drawing/2014/main" id="{48217E0C-A918-45CD-BE72-E130E346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6914" y="3343275"/>
            <a:ext cx="2130552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Garda Abdi Negara</a:t>
            </a:r>
          </a:p>
        </p:txBody>
      </p:sp>
      <p:sp>
        <p:nvSpPr>
          <p:cNvPr id="24" name="timeline-role-2">
            <a:extLst xmlns:a="http://schemas.openxmlformats.org/drawingml/2006/main">
              <a:ext uri="{FF2B5EF4-FFF2-40B4-BE49-F238E27FC236}">
                <a16:creationId xmlns:a16="http://schemas.microsoft.com/office/drawing/2014/main" id="{00A9934B-9B06-4A12-81FA-3184F530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6914" y="3971925"/>
            <a:ext cx="2130552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Database Engineer</a:t>
            </a:r>
          </a:p>
        </p:txBody>
      </p:sp>
      <p:sp>
        <p:nvSpPr>
          <p:cNvPr id="25" name="timeline-result-2">
            <a:extLst xmlns:a="http://schemas.openxmlformats.org/drawingml/2006/main">
              <a:ext uri="{FF2B5EF4-FFF2-40B4-BE49-F238E27FC236}">
                <a16:creationId xmlns:a16="http://schemas.microsoft.com/office/drawing/2014/main" id="{69CE96FB-B817-4BD3-8740-C7638C9A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6914" y="4695825"/>
            <a:ext cx="2130552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10K+ questions · 75% faster processing</a:t>
            </a:r>
          </a:p>
        </p:txBody>
      </p:sp>
      <p:sp>
        <p:nvSpPr>
          <p:cNvPr id="26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092BF931-D785-45F1-B693-645DB6F0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3221" y="27146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A1A17"/>
          </a:solidFill>
        </p:spPr>
      </p:sp>
      <p:sp>
        <p:nvSpPr>
          <p:cNvPr id="27" name="timeline-dot-core-3">
            <a:extLst xmlns:a="http://schemas.openxmlformats.org/drawingml/2006/main">
              <a:ext uri="{FF2B5EF4-FFF2-40B4-BE49-F238E27FC236}">
                <a16:creationId xmlns:a16="http://schemas.microsoft.com/office/drawing/2014/main" id="{1752A3B8-4913-4104-8625-21DEF1E1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046" y="2838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453"/>
          </a:solidFill>
        </p:spPr>
      </p:sp>
      <p:sp>
        <p:nvSpPr>
          <p:cNvPr id="28" name="timeline-period-3">
            <a:extLst xmlns:a="http://schemas.openxmlformats.org/drawingml/2006/main">
              <a:ext uri="{FF2B5EF4-FFF2-40B4-BE49-F238E27FC236}">
                <a16:creationId xmlns:a16="http://schemas.microsoft.com/office/drawing/2014/main" id="{FCF68070-52A9-4882-8102-03E5286E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346" y="2238375"/>
            <a:ext cx="2130552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t>2025–26</a:t>
            </a:r>
          </a:p>
        </p:txBody>
      </p:sp>
      <p:sp>
        <p:nvSpPr>
          <p:cNvPr id="29" name="timeline-org-3">
            <a:extLst xmlns:a="http://schemas.openxmlformats.org/drawingml/2006/main">
              <a:ext uri="{FF2B5EF4-FFF2-40B4-BE49-F238E27FC236}">
                <a16:creationId xmlns:a16="http://schemas.microsoft.com/office/drawing/2014/main" id="{3C8B2300-8EFA-4DCE-BFCB-64F69087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346" y="3343275"/>
            <a:ext cx="2130552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Cerebrum</a:t>
            </a:r>
          </a:p>
        </p:txBody>
      </p:sp>
      <p:sp>
        <p:nvSpPr>
          <p:cNvPr id="30" name="timeline-role-3">
            <a:extLst xmlns:a="http://schemas.openxmlformats.org/drawingml/2006/main">
              <a:ext uri="{FF2B5EF4-FFF2-40B4-BE49-F238E27FC236}">
                <a16:creationId xmlns:a16="http://schemas.microsoft.com/office/drawing/2014/main" id="{D47CBC0A-D5DA-47BD-932B-04C86A6E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346" y="3971925"/>
            <a:ext cx="2130552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Data Analyst</a:t>
            </a:r>
          </a:p>
        </p:txBody>
      </p:sp>
      <p:sp>
        <p:nvSpPr>
          <p:cNvPr id="31" name="timeline-result-3">
            <a:extLst xmlns:a="http://schemas.openxmlformats.org/drawingml/2006/main">
              <a:ext uri="{FF2B5EF4-FFF2-40B4-BE49-F238E27FC236}">
                <a16:creationId xmlns:a16="http://schemas.microsoft.com/office/drawing/2014/main" id="{9B0C500F-DC18-43E6-ABA5-FA8E2286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346" y="4695825"/>
            <a:ext cx="2130552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Prophet forecasting · Power BI KPI dashboards</a:t>
            </a:r>
          </a:p>
        </p:txBody>
      </p:sp>
      <p:sp>
        <p:nvSpPr>
          <p:cNvPr id="38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32ED1BD9-C8F1-49A6-8FEF-931E60DE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653" y="27146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6C453"/>
          </a:solidFill>
        </p:spPr>
      </p:sp>
      <p:sp>
        <p:nvSpPr>
          <p:cNvPr id="39" name="timeline-dot-core-4">
            <a:extLst xmlns:a="http://schemas.openxmlformats.org/drawingml/2006/main">
              <a:ext uri="{FF2B5EF4-FFF2-40B4-BE49-F238E27FC236}">
                <a16:creationId xmlns:a16="http://schemas.microsoft.com/office/drawing/2014/main" id="{694D59E8-8477-46CC-AE62-E128D2C1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478" y="2838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</p:spPr>
      </p:sp>
      <p:sp>
        <p:nvSpPr>
          <p:cNvPr id="40" name="timeline-period-4">
            <a:extLst xmlns:a="http://schemas.openxmlformats.org/drawingml/2006/main">
              <a:ext uri="{FF2B5EF4-FFF2-40B4-BE49-F238E27FC236}">
                <a16:creationId xmlns:a16="http://schemas.microsoft.com/office/drawing/2014/main" id="{E0C322C1-7B1D-4553-941D-A8DE3E4A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778" y="2238375"/>
            <a:ext cx="2130552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t>2026–now</a:t>
            </a:r>
          </a:p>
        </p:txBody>
      </p:sp>
      <p:sp>
        <p:nvSpPr>
          <p:cNvPr id="41" name="timeline-org-4">
            <a:extLst xmlns:a="http://schemas.openxmlformats.org/drawingml/2006/main">
              <a:ext uri="{FF2B5EF4-FFF2-40B4-BE49-F238E27FC236}">
                <a16:creationId xmlns:a16="http://schemas.microsoft.com/office/drawing/2014/main" id="{BE44C1F6-AF52-4E09-A859-FAD7EB35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778" y="3343275"/>
            <a:ext cx="2130552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Cerebrum</a:t>
            </a:r>
          </a:p>
        </p:txBody>
      </p:sp>
      <p:sp>
        <p:nvSpPr>
          <p:cNvPr id="42" name="timeline-role-4">
            <a:extLst xmlns:a="http://schemas.openxmlformats.org/drawingml/2006/main">
              <a:ext uri="{FF2B5EF4-FFF2-40B4-BE49-F238E27FC236}">
                <a16:creationId xmlns:a16="http://schemas.microsoft.com/office/drawing/2014/main" id="{2D8770E6-6A18-45E9-AF57-2D1723B5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778" y="3971925"/>
            <a:ext cx="2130552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Data &amp; AI Engineer</a:t>
            </a:r>
          </a:p>
        </p:txBody>
      </p:sp>
      <p:sp>
        <p:nvSpPr>
          <p:cNvPr id="43" name="timeline-result-4">
            <a:extLst xmlns:a="http://schemas.openxmlformats.org/drawingml/2006/main">
              <a:ext uri="{FF2B5EF4-FFF2-40B4-BE49-F238E27FC236}">
                <a16:creationId xmlns:a16="http://schemas.microsoft.com/office/drawing/2014/main" id="{1A879A9C-A00B-4B6B-97A4-D98BC34F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778" y="4695825"/>
            <a:ext cx="2130552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33.5K+ questions auto-QC'd · LLM content pipelines</a:t>
            </a:r>
          </a:p>
        </p:txBody>
      </p:sp>
      <p:sp>
        <p:nvSpPr>
          <p:cNvPr id="32" name="footer-line-gold-4">
            <a:extLst xmlns:a="http://schemas.openxmlformats.org/drawingml/2006/main">
              <a:ext uri="{FF2B5EF4-FFF2-40B4-BE49-F238E27FC236}">
                <a16:creationId xmlns:a16="http://schemas.microsoft.com/office/drawing/2014/main" id="{C9132E5E-AB25-4388-AF48-FE10B5C5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5276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</p:spPr>
      </p:sp>
      <p:sp>
        <p:nvSpPr>
          <p:cNvPr id="33" name="footer-line-coral-4">
            <a:extLst xmlns:a="http://schemas.openxmlformats.org/drawingml/2006/main">
              <a:ext uri="{FF2B5EF4-FFF2-40B4-BE49-F238E27FC236}">
                <a16:creationId xmlns:a16="http://schemas.microsoft.com/office/drawing/2014/main" id="{6CDC92BC-1C32-4884-B05D-49FBFD7C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29375"/>
            <a:ext cx="2638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</p:spPr>
      </p:sp>
      <p:sp>
        <p:nvSpPr>
          <p:cNvPr id="34" name="footer-line-teal-4">
            <a:extLst xmlns:a="http://schemas.openxmlformats.org/drawingml/2006/main">
              <a:ext uri="{FF2B5EF4-FFF2-40B4-BE49-F238E27FC236}">
                <a16:creationId xmlns:a16="http://schemas.microsoft.com/office/drawing/2014/main" id="{FB1D56C0-9479-4B7C-AEBE-5AD5F954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429375"/>
            <a:ext cx="2638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35" name="footer-name-4">
            <a:extLst xmlns:a="http://schemas.openxmlformats.org/drawingml/2006/main">
              <a:ext uri="{FF2B5EF4-FFF2-40B4-BE49-F238E27FC236}">
                <a16:creationId xmlns:a16="http://schemas.microsoft.com/office/drawing/2014/main" id="{72336046-5EFB-4E96-866C-2B6166A5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95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A59B"/>
                </a:solidFill>
                <a:latin typeface="Consolas"/>
                <a:ea typeface="Consolas"/>
                <a:cs typeface="Consolas"/>
              </a:defRPr>
            </a:pPr>
            <a:r>
              <a:t>~/ali_  /  DATA INTELLIGENCE PORTFOLIO</a:t>
            </a:r>
          </a:p>
        </p:txBody>
      </p:sp>
      <p:sp>
        <p:nvSpPr>
          <p:cNvPr id="36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F2A70A78-D57F-4C70-9911-8B9AB1F7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6C453"/>
                </a:solidFill>
                <a:latin typeface="Consolas"/>
                <a:ea typeface="Consolas"/>
                <a:cs typeface="Consolas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11309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05-pddikti-canvas">
            <a:extLst xmlns:a="http://schemas.openxmlformats.org/drawingml/2006/main">
              <a:ext uri="{FF2B5EF4-FFF2-40B4-BE49-F238E27FC236}">
                <a16:creationId xmlns:a16="http://schemas.microsoft.com/office/drawing/2014/main" id="{4BBC7FAD-C44A-45F0-84DB-2537DCA2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0A"/>
          </a:solidFill>
        </p:spPr>
      </p:sp>
      <p:sp>
        <p:nvSpPr>
          <p:cNvPr id="2" name="05-pddikti-edge-gold">
            <a:extLst xmlns:a="http://schemas.openxmlformats.org/drawingml/2006/main">
              <a:ext uri="{FF2B5EF4-FFF2-40B4-BE49-F238E27FC236}">
                <a16:creationId xmlns:a16="http://schemas.microsoft.com/office/drawing/2014/main" id="{E610EB48-7764-4924-9B7C-5AB88E5A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</p:spPr>
      </p:sp>
      <p:sp>
        <p:nvSpPr>
          <p:cNvPr id="3" name="05-pddikti-edge-coral">
            <a:extLst xmlns:a="http://schemas.openxmlformats.org/drawingml/2006/main">
              <a:ext uri="{FF2B5EF4-FFF2-40B4-BE49-F238E27FC236}">
                <a16:creationId xmlns:a16="http://schemas.microsoft.com/office/drawing/2014/main" id="{433C09C6-6380-416A-ACDA-E11C948C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</p:spPr>
      </p:sp>
      <p:sp>
        <p:nvSpPr>
          <p:cNvPr id="4" name="05-pddikti-edge-teal">
            <a:extLst xmlns:a="http://schemas.openxmlformats.org/drawingml/2006/main">
              <a:ext uri="{FF2B5EF4-FFF2-40B4-BE49-F238E27FC236}">
                <a16:creationId xmlns:a16="http://schemas.microsoft.com/office/drawing/2014/main" id="{B86967D4-4347-4022-BBC9-51035776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5" name="eyebrow-5">
            <a:extLst xmlns:a="http://schemas.openxmlformats.org/drawingml/2006/main">
              <a:ext uri="{FF2B5EF4-FFF2-40B4-BE49-F238E27FC236}">
                <a16:creationId xmlns:a16="http://schemas.microsoft.com/office/drawing/2014/main" id="{8211264E-B160-46CE-A70F-EDA7C0FB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59"/>
                </a:solidFill>
                <a:latin typeface="Consolas"/>
                <a:ea typeface="Consolas"/>
                <a:cs typeface="Consolas"/>
              </a:defRPr>
            </a:pPr>
            <a:r>
              <a:t>~/ FLAGSHIP PRODUCT</a:t>
            </a:r>
          </a:p>
        </p:txBody>
      </p:sp>
      <p:sp>
        <p:nvSpPr>
          <p:cNvPr id="6" name="title-5">
            <a:extLst xmlns:a="http://schemas.openxmlformats.org/drawingml/2006/main">
              <a:ext uri="{FF2B5EF4-FFF2-40B4-BE49-F238E27FC236}">
                <a16:creationId xmlns:a16="http://schemas.microsoft.com/office/drawing/2014/main" id="{26D3E3F7-73D7-4995-AFAD-3A17C312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668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023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PDDIKTI turns fragmented education data into a national map.</a:t>
            </a:r>
          </a:p>
        </p:txBody>
      </p:sp>
      <p:sp>
        <p:nvSpPr>
          <p:cNvPr id="7" name="pddikti-copy">
            <a:extLst xmlns:a="http://schemas.openxmlformats.org/drawingml/2006/main">
              <a:ext uri="{FF2B5EF4-FFF2-40B4-BE49-F238E27FC236}">
                <a16:creationId xmlns:a16="http://schemas.microsoft.com/office/drawing/2014/main" id="{07AB2978-B689-4F82-8BEE-EFA8397F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40195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A public exploration product for comparing higher-education coverage across provinces and cities—supported by explicit data-quality checks.</a:t>
            </a:r>
          </a:p>
        </p:txBody>
      </p:sp>
      <p:sp>
        <p:nvSpPr>
          <p:cNvPr id="8" name="pddikti-pill-bg">
            <a:extLst xmlns:a="http://schemas.openxmlformats.org/drawingml/2006/main">
              <a:ext uri="{FF2B5EF4-FFF2-40B4-BE49-F238E27FC236}">
                <a16:creationId xmlns:a16="http://schemas.microsoft.com/office/drawing/2014/main" id="{269B7704-68C6-49CE-80ED-5DB8877B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33750"/>
            <a:ext cx="1657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1A17"/>
          </a:solidFill>
        </p:spPr>
      </p:sp>
      <p:sp>
        <p:nvSpPr>
          <p:cNvPr id="9" name="pddikti-pill-text">
            <a:extLst xmlns:a="http://schemas.openxmlformats.org/drawingml/2006/main">
              <a:ext uri="{FF2B5EF4-FFF2-40B4-BE49-F238E27FC236}">
                <a16:creationId xmlns:a16="http://schemas.microsoft.com/office/drawing/2014/main" id="{C4868F6F-7069-4C95-808A-340FA67C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042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t>DEPLOYED WEB APP</a:t>
            </a:r>
          </a:p>
        </p:txBody>
      </p:sp>
      <p:sp>
        <p:nvSpPr>
          <p:cNvPr id="10" name="pddikti-metric-1">
            <a:extLst xmlns:a="http://schemas.openxmlformats.org/drawingml/2006/main">
              <a:ext uri="{FF2B5EF4-FFF2-40B4-BE49-F238E27FC236}">
                <a16:creationId xmlns:a16="http://schemas.microsoft.com/office/drawing/2014/main" id="{D32CAE39-36FB-4112-B401-7D2505D2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0025"/>
            <a:ext cx="1714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5,433</a:t>
            </a:r>
          </a:p>
        </p:txBody>
      </p:sp>
      <p:sp>
        <p:nvSpPr>
          <p:cNvPr id="11" name="pddikti-label-1">
            <a:extLst xmlns:a="http://schemas.openxmlformats.org/drawingml/2006/main">
              <a:ext uri="{FF2B5EF4-FFF2-40B4-BE49-F238E27FC236}">
                <a16:creationId xmlns:a16="http://schemas.microsoft.com/office/drawing/2014/main" id="{71BDE9E8-764E-4CE6-AF77-EC402253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38675"/>
            <a:ext cx="1524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institutions</a:t>
            </a:r>
          </a:p>
        </p:txBody>
      </p:sp>
      <p:sp>
        <p:nvSpPr>
          <p:cNvPr id="12" name="pddikti-metric-2">
            <a:extLst xmlns:a="http://schemas.openxmlformats.org/drawingml/2006/main">
              <a:ext uri="{FF2B5EF4-FFF2-40B4-BE49-F238E27FC236}">
                <a16:creationId xmlns:a16="http://schemas.microsoft.com/office/drawing/2014/main" id="{DF8F9BA8-7934-42EE-9AA4-DE9E123B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10025"/>
            <a:ext cx="10001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38</a:t>
            </a:r>
          </a:p>
        </p:txBody>
      </p:sp>
      <p:sp>
        <p:nvSpPr>
          <p:cNvPr id="13" name="pddikti-label-2">
            <a:extLst xmlns:a="http://schemas.openxmlformats.org/drawingml/2006/main">
              <a:ext uri="{FF2B5EF4-FFF2-40B4-BE49-F238E27FC236}">
                <a16:creationId xmlns:a16="http://schemas.microsoft.com/office/drawing/2014/main" id="{1E6519B3-2B7D-4291-90EC-5E47667D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38675"/>
            <a:ext cx="952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provinces</a:t>
            </a:r>
          </a:p>
        </p:txBody>
      </p:sp>
      <p:sp>
        <p:nvSpPr>
          <p:cNvPr id="14" name="pddikti-metric-3">
            <a:extLst xmlns:a="http://schemas.openxmlformats.org/drawingml/2006/main">
              <a:ext uri="{FF2B5EF4-FFF2-40B4-BE49-F238E27FC236}">
                <a16:creationId xmlns:a16="http://schemas.microsoft.com/office/drawing/2014/main" id="{C04CD348-F1A0-45E0-899C-B114B259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10025"/>
            <a:ext cx="10001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34</a:t>
            </a:r>
          </a:p>
        </p:txBody>
      </p:sp>
      <p:sp>
        <p:nvSpPr>
          <p:cNvPr id="15" name="pddikti-label-3">
            <a:extLst xmlns:a="http://schemas.openxmlformats.org/drawingml/2006/main">
              <a:ext uri="{FF2B5EF4-FFF2-40B4-BE49-F238E27FC236}">
                <a16:creationId xmlns:a16="http://schemas.microsoft.com/office/drawing/2014/main" id="{24FD7010-6E0D-487D-B690-71B57035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38675"/>
            <a:ext cx="11049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quality checks</a:t>
            </a:r>
          </a:p>
        </p:txBody>
      </p:sp>
      <p:sp>
        <p:nvSpPr>
          <p:cNvPr id="16" name="pddikti-frame">
            <a:extLst xmlns:a="http://schemas.openxmlformats.org/drawingml/2006/main">
              <a:ext uri="{FF2B5EF4-FFF2-40B4-BE49-F238E27FC236}">
                <a16:creationId xmlns:a16="http://schemas.microsoft.com/office/drawing/2014/main" id="{D2DFC813-275F-4F34-9C32-FFA48775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952625"/>
            <a:ext cx="6953250" cy="398145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211512"/>
          </a:solidFill>
        </p:spPr>
      </p:sp>
      <p:sp>
        <p:nvSpPr>
          <p:cNvPr id="17" name="pddikti-url">
            <a:extLst xmlns:a="http://schemas.openxmlformats.org/drawingml/2006/main">
              <a:ext uri="{FF2B5EF4-FFF2-40B4-BE49-F238E27FC236}">
                <a16:creationId xmlns:a16="http://schemas.microsoft.com/office/drawing/2014/main" id="{8AC55254-1C3F-4B85-AB9C-20D42CC3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057900"/>
            <a:ext cx="666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t>perguruan-tinggi-indonesia-nu.vercel.app</a:t>
            </a:r>
          </a:p>
        </p:txBody>
      </p:sp>
      <p:sp>
        <p:nvSpPr>
          <p:cNvPr id="18" name="footer-line-gold-5">
            <a:extLst xmlns:a="http://schemas.openxmlformats.org/drawingml/2006/main">
              <a:ext uri="{FF2B5EF4-FFF2-40B4-BE49-F238E27FC236}">
                <a16:creationId xmlns:a16="http://schemas.microsoft.com/office/drawing/2014/main" id="{425395C5-BF1F-4120-844A-44E6F2CA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5276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</p:spPr>
      </p:sp>
      <p:sp>
        <p:nvSpPr>
          <p:cNvPr id="19" name="footer-line-coral-5">
            <a:extLst xmlns:a="http://schemas.openxmlformats.org/drawingml/2006/main">
              <a:ext uri="{FF2B5EF4-FFF2-40B4-BE49-F238E27FC236}">
                <a16:creationId xmlns:a16="http://schemas.microsoft.com/office/drawing/2014/main" id="{4A53174C-F4A7-4861-89BF-22CA167E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29375"/>
            <a:ext cx="2638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</p:spPr>
      </p:sp>
      <p:sp>
        <p:nvSpPr>
          <p:cNvPr id="20" name="footer-line-teal-5">
            <a:extLst xmlns:a="http://schemas.openxmlformats.org/drawingml/2006/main">
              <a:ext uri="{FF2B5EF4-FFF2-40B4-BE49-F238E27FC236}">
                <a16:creationId xmlns:a16="http://schemas.microsoft.com/office/drawing/2014/main" id="{463BE9C1-20AB-4C08-AC90-DF31D6FB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429375"/>
            <a:ext cx="2638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21" name="footer-name-5">
            <a:extLst xmlns:a="http://schemas.openxmlformats.org/drawingml/2006/main">
              <a:ext uri="{FF2B5EF4-FFF2-40B4-BE49-F238E27FC236}">
                <a16:creationId xmlns:a16="http://schemas.microsoft.com/office/drawing/2014/main" id="{73B43F15-048B-460A-B733-3F2B0412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95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A59B"/>
                </a:solidFill>
                <a:latin typeface="Consolas"/>
                <a:ea typeface="Consolas"/>
                <a:cs typeface="Consolas"/>
              </a:defRPr>
            </a:pPr>
            <a:r>
              <a:t>~/ali_  /  DATA INTELLIGENCE PORTFOLIO</a:t>
            </a:r>
          </a:p>
        </p:txBody>
      </p:sp>
      <p:sp>
        <p:nvSpPr>
          <p:cNvPr id="22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28E761BF-E4A1-460D-8F94-9AC020F2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6C453"/>
                </a:solidFill>
                <a:latin typeface="Consolas"/>
                <a:ea typeface="Consolas"/>
                <a:cs typeface="Consolas"/>
              </a:defRPr>
            </a:pPr>
            <a:r>
              <a:t>05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94dd9eae544d9"/>
          <a:srcRect xmlns:a="http://schemas.openxmlformats.org/drawingml/2006/main" l="0" t="874" r="0" b="8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2050" y="2105025"/>
            <a:ext cx="6648450" cy="3676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7292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06-decision-products-canvas">
            <a:extLst xmlns:a="http://schemas.openxmlformats.org/drawingml/2006/main">
              <a:ext uri="{FF2B5EF4-FFF2-40B4-BE49-F238E27FC236}">
                <a16:creationId xmlns:a16="http://schemas.microsoft.com/office/drawing/2014/main" id="{6C0997BB-EE16-4C69-BFDB-E9CF5750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0A"/>
          </a:solidFill>
        </p:spPr>
      </p:sp>
      <p:sp>
        <p:nvSpPr>
          <p:cNvPr id="2" name="06-decision-products-edge-gold">
            <a:extLst xmlns:a="http://schemas.openxmlformats.org/drawingml/2006/main">
              <a:ext uri="{FF2B5EF4-FFF2-40B4-BE49-F238E27FC236}">
                <a16:creationId xmlns:a16="http://schemas.microsoft.com/office/drawing/2014/main" id="{2B0F1CCC-9BBB-4982-A617-99004E27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</p:spPr>
      </p:sp>
      <p:sp>
        <p:nvSpPr>
          <p:cNvPr id="3" name="06-decision-products-edge-coral">
            <a:extLst xmlns:a="http://schemas.openxmlformats.org/drawingml/2006/main">
              <a:ext uri="{FF2B5EF4-FFF2-40B4-BE49-F238E27FC236}">
                <a16:creationId xmlns:a16="http://schemas.microsoft.com/office/drawing/2014/main" id="{173B64FF-C703-4CCC-A0A8-BABCC185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</p:spPr>
      </p:sp>
      <p:sp>
        <p:nvSpPr>
          <p:cNvPr id="4" name="06-decision-products-edge-teal">
            <a:extLst xmlns:a="http://schemas.openxmlformats.org/drawingml/2006/main">
              <a:ext uri="{FF2B5EF4-FFF2-40B4-BE49-F238E27FC236}">
                <a16:creationId xmlns:a16="http://schemas.microsoft.com/office/drawing/2014/main" id="{7A8CEEE1-CB1F-4207-9D2A-071E9040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5" name="eyebrow-6">
            <a:extLst xmlns:a="http://schemas.openxmlformats.org/drawingml/2006/main">
              <a:ext uri="{FF2B5EF4-FFF2-40B4-BE49-F238E27FC236}">
                <a16:creationId xmlns:a16="http://schemas.microsoft.com/office/drawing/2014/main" id="{26FBA457-0BEB-4D3F-BD27-6E984E90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59"/>
                </a:solidFill>
                <a:latin typeface="Consolas"/>
                <a:ea typeface="Consolas"/>
                <a:cs typeface="Consolas"/>
              </a:defRPr>
            </a:pPr>
            <a:r>
              <a:t>~/ DECISION PRODUCTS</a:t>
            </a:r>
          </a:p>
        </p:txBody>
      </p:sp>
      <p:sp>
        <p:nvSpPr>
          <p:cNvPr id="6" name="title-6">
            <a:extLst xmlns:a="http://schemas.openxmlformats.org/drawingml/2006/main">
              <a:ext uri="{FF2B5EF4-FFF2-40B4-BE49-F238E27FC236}">
                <a16:creationId xmlns:a16="http://schemas.microsoft.com/office/drawing/2014/main" id="{C2B69544-7F01-48A9-A275-069910CF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668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023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Two deployed apps convert complex choices into guided analysis.</a:t>
            </a:r>
          </a:p>
        </p:txBody>
      </p:sp>
      <p:sp>
        <p:nvSpPr>
          <p:cNvPr id="7" name="planner-frame">
            <a:extLst xmlns:a="http://schemas.openxmlformats.org/drawingml/2006/main">
              <a:ext uri="{FF2B5EF4-FFF2-40B4-BE49-F238E27FC236}">
                <a16:creationId xmlns:a16="http://schemas.microsoft.com/office/drawing/2014/main" id="{43777A7C-CF0A-4BE8-9CA3-32212846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486400" cy="2886075"/>
          </a:xfrm>
          <a:prstGeom xmlns:a="http://schemas.openxmlformats.org/drawingml/2006/main" prst="roundRect">
            <a:avLst>
              <a:gd name="adj" fmla="val 2640"/>
            </a:avLst>
          </a:prstGeom>
          <a:solidFill xmlns:a="http://schemas.openxmlformats.org/drawingml/2006/main">
            <a:srgbClr val="211512"/>
          </a:solidFill>
        </p:spPr>
      </p:sp>
      <p:sp>
        <p:nvSpPr>
          <p:cNvPr id="8" name="snpmb-frame">
            <a:extLst xmlns:a="http://schemas.openxmlformats.org/drawingml/2006/main">
              <a:ext uri="{FF2B5EF4-FFF2-40B4-BE49-F238E27FC236}">
                <a16:creationId xmlns:a16="http://schemas.microsoft.com/office/drawing/2014/main" id="{83A91163-4439-4EE3-8976-23E59504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5486400" cy="2886075"/>
          </a:xfrm>
          <a:prstGeom xmlns:a="http://schemas.openxmlformats.org/drawingml/2006/main" prst="roundRect">
            <a:avLst>
              <a:gd name="adj" fmla="val 2640"/>
            </a:avLst>
          </a:prstGeom>
          <a:solidFill xmlns:a="http://schemas.openxmlformats.org/drawingml/2006/main">
            <a:srgbClr val="211512"/>
          </a:solidFill>
        </p:spPr>
      </p:sp>
      <p:sp>
        <p:nvSpPr>
          <p:cNvPr id="9" name="planner-title">
            <a:extLst xmlns:a="http://schemas.openxmlformats.org/drawingml/2006/main">
              <a:ext uri="{FF2B5EF4-FFF2-40B4-BE49-F238E27FC236}">
                <a16:creationId xmlns:a16="http://schemas.microsoft.com/office/drawing/2014/main" id="{53F4B6E7-90C6-4C0C-9BD1-940C7D60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76825"/>
            <a:ext cx="3714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Financial Planner</a:t>
            </a:r>
          </a:p>
        </p:txBody>
      </p:sp>
      <p:sp>
        <p:nvSpPr>
          <p:cNvPr id="10" name="planner-body">
            <a:extLst xmlns:a="http://schemas.openxmlformats.org/drawingml/2006/main">
              <a:ext uri="{FF2B5EF4-FFF2-40B4-BE49-F238E27FC236}">
                <a16:creationId xmlns:a16="http://schemas.microsoft.com/office/drawing/2014/main" id="{063F303A-D216-4CC2-BB3F-AAA88A49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514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Scenario-based financial planning with actionable summaries.</a:t>
            </a:r>
          </a:p>
        </p:txBody>
      </p:sp>
      <p:sp>
        <p:nvSpPr>
          <p:cNvPr id="11" name="planner-tech-bg">
            <a:extLst xmlns:a="http://schemas.openxmlformats.org/drawingml/2006/main">
              <a:ext uri="{FF2B5EF4-FFF2-40B4-BE49-F238E27FC236}">
                <a16:creationId xmlns:a16="http://schemas.microsoft.com/office/drawing/2014/main" id="{9F535B13-A4F7-4283-89CC-1741A44F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38725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1A17"/>
          </a:solidFill>
        </p:spPr>
      </p:sp>
      <p:sp>
        <p:nvSpPr>
          <p:cNvPr id="12" name="planner-tech-text">
            <a:extLst xmlns:a="http://schemas.openxmlformats.org/drawingml/2006/main">
              <a:ext uri="{FF2B5EF4-FFF2-40B4-BE49-F238E27FC236}">
                <a16:creationId xmlns:a16="http://schemas.microsoft.com/office/drawing/2014/main" id="{28B14AE7-CD7A-4DC2-AE14-73B72BAE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05400"/>
            <a:ext cx="1028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t>STREAMLIT</a:t>
            </a:r>
          </a:p>
        </p:txBody>
      </p:sp>
      <p:sp>
        <p:nvSpPr>
          <p:cNvPr id="13" name="snpmb-title">
            <a:extLst xmlns:a="http://schemas.openxmlformats.org/drawingml/2006/main">
              <a:ext uri="{FF2B5EF4-FFF2-40B4-BE49-F238E27FC236}">
                <a16:creationId xmlns:a16="http://schemas.microsoft.com/office/drawing/2014/main" id="{AFB30CC7-DA94-4D57-B4E3-F1D0F5EF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76825"/>
            <a:ext cx="3714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SNPMB Analyst</a:t>
            </a:r>
          </a:p>
        </p:txBody>
      </p:sp>
      <p:sp>
        <p:nvSpPr>
          <p:cNvPr id="14" name="snpmb-body">
            <a:extLst xmlns:a="http://schemas.openxmlformats.org/drawingml/2006/main">
              <a:ext uri="{FF2B5EF4-FFF2-40B4-BE49-F238E27FC236}">
                <a16:creationId xmlns:a16="http://schemas.microsoft.com/office/drawing/2014/main" id="{D104936C-38E2-43AB-8846-5AF59A6D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76875"/>
            <a:ext cx="514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Exploration and comparison for Indonesia’s university admission pathway.</a:t>
            </a:r>
          </a:p>
        </p:txBody>
      </p:sp>
      <p:sp>
        <p:nvSpPr>
          <p:cNvPr id="15" name="snpmb-tech-bg">
            <a:extLst xmlns:a="http://schemas.openxmlformats.org/drawingml/2006/main">
              <a:ext uri="{FF2B5EF4-FFF2-40B4-BE49-F238E27FC236}">
                <a16:creationId xmlns:a16="http://schemas.microsoft.com/office/drawing/2014/main" id="{26D78B8C-4BDA-42E4-9630-F2139EED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038725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1A17"/>
          </a:solidFill>
        </p:spPr>
      </p:sp>
      <p:sp>
        <p:nvSpPr>
          <p:cNvPr id="16" name="snpmb-tech-text">
            <a:extLst xmlns:a="http://schemas.openxmlformats.org/drawingml/2006/main">
              <a:ext uri="{FF2B5EF4-FFF2-40B4-BE49-F238E27FC236}">
                <a16:creationId xmlns:a16="http://schemas.microsoft.com/office/drawing/2014/main" id="{5631348D-BF84-4FFB-B03C-2D8BB42E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105400"/>
            <a:ext cx="1028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t>STREAMLIT</a:t>
            </a:r>
          </a:p>
        </p:txBody>
      </p:sp>
      <p:sp>
        <p:nvSpPr>
          <p:cNvPr id="17" name="footer-line-gold-6">
            <a:extLst xmlns:a="http://schemas.openxmlformats.org/drawingml/2006/main">
              <a:ext uri="{FF2B5EF4-FFF2-40B4-BE49-F238E27FC236}">
                <a16:creationId xmlns:a16="http://schemas.microsoft.com/office/drawing/2014/main" id="{9B84F3A5-F36B-4E69-AB3B-9D23A750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5276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</p:spPr>
      </p:sp>
      <p:sp>
        <p:nvSpPr>
          <p:cNvPr id="18" name="footer-line-coral-6">
            <a:extLst xmlns:a="http://schemas.openxmlformats.org/drawingml/2006/main">
              <a:ext uri="{FF2B5EF4-FFF2-40B4-BE49-F238E27FC236}">
                <a16:creationId xmlns:a16="http://schemas.microsoft.com/office/drawing/2014/main" id="{5FE01863-A006-48D8-80F3-9AFDAB8B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29375"/>
            <a:ext cx="2638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</p:spPr>
      </p:sp>
      <p:sp>
        <p:nvSpPr>
          <p:cNvPr id="19" name="footer-line-teal-6">
            <a:extLst xmlns:a="http://schemas.openxmlformats.org/drawingml/2006/main">
              <a:ext uri="{FF2B5EF4-FFF2-40B4-BE49-F238E27FC236}">
                <a16:creationId xmlns:a16="http://schemas.microsoft.com/office/drawing/2014/main" id="{E215FB64-C2DF-4788-BD36-BFF1A389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429375"/>
            <a:ext cx="2638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20" name="footer-name-6">
            <a:extLst xmlns:a="http://schemas.openxmlformats.org/drawingml/2006/main">
              <a:ext uri="{FF2B5EF4-FFF2-40B4-BE49-F238E27FC236}">
                <a16:creationId xmlns:a16="http://schemas.microsoft.com/office/drawing/2014/main" id="{E6524ABD-8412-4EC9-A1EA-A06CA8A6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95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A59B"/>
                </a:solidFill>
                <a:latin typeface="Consolas"/>
                <a:ea typeface="Consolas"/>
                <a:cs typeface="Consolas"/>
              </a:defRPr>
            </a:pPr>
            <a:r>
              <a:t>~/ali_  /  DATA INTELLIGENCE PORTFOLIO</a:t>
            </a:r>
          </a:p>
        </p:txBody>
      </p:sp>
      <p:sp>
        <p:nvSpPr>
          <p:cNvPr id="21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F8F586FB-EE99-489C-8426-6788904C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6C453"/>
                </a:solidFill>
                <a:latin typeface="Consolas"/>
                <a:ea typeface="Consolas"/>
                <a:cs typeface="Consolas"/>
              </a:defRPr>
            </a:pPr>
            <a:r>
              <a:t>06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dabab005f4680"/>
          <a:srcRect xmlns:a="http://schemas.openxmlformats.org/drawingml/2006/main" l="0" t="5719" r="0" b="57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05025"/>
            <a:ext cx="5181600" cy="2581275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27b46dd574b40"/>
          <a:srcRect xmlns:a="http://schemas.openxmlformats.org/drawingml/2006/main" l="0" t="5719" r="0" b="57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105025"/>
            <a:ext cx="5181600" cy="2581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0896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07-market-products-canvas">
            <a:extLst xmlns:a="http://schemas.openxmlformats.org/drawingml/2006/main">
              <a:ext uri="{FF2B5EF4-FFF2-40B4-BE49-F238E27FC236}">
                <a16:creationId xmlns:a16="http://schemas.microsoft.com/office/drawing/2014/main" id="{DE7367E3-81C3-4B17-A7C5-6866741B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0A"/>
          </a:solidFill>
        </p:spPr>
      </p:sp>
      <p:sp>
        <p:nvSpPr>
          <p:cNvPr id="2" name="07-market-products-edge-gold">
            <a:extLst xmlns:a="http://schemas.openxmlformats.org/drawingml/2006/main">
              <a:ext uri="{FF2B5EF4-FFF2-40B4-BE49-F238E27FC236}">
                <a16:creationId xmlns:a16="http://schemas.microsoft.com/office/drawing/2014/main" id="{64437B72-EB7A-48A0-AB68-4BA435EF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</p:spPr>
      </p:sp>
      <p:sp>
        <p:nvSpPr>
          <p:cNvPr id="3" name="07-market-products-edge-coral">
            <a:extLst xmlns:a="http://schemas.openxmlformats.org/drawingml/2006/main">
              <a:ext uri="{FF2B5EF4-FFF2-40B4-BE49-F238E27FC236}">
                <a16:creationId xmlns:a16="http://schemas.microsoft.com/office/drawing/2014/main" id="{D58621E7-47CB-4C16-85CC-4A975742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</p:spPr>
      </p:sp>
      <p:sp>
        <p:nvSpPr>
          <p:cNvPr id="4" name="07-market-products-edge-teal">
            <a:extLst xmlns:a="http://schemas.openxmlformats.org/drawingml/2006/main">
              <a:ext uri="{FF2B5EF4-FFF2-40B4-BE49-F238E27FC236}">
                <a16:creationId xmlns:a16="http://schemas.microsoft.com/office/drawing/2014/main" id="{35960CC0-CAF6-47B9-AE2C-D3E68BA7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5" name="eyebrow-7">
            <a:extLst xmlns:a="http://schemas.openxmlformats.org/drawingml/2006/main">
              <a:ext uri="{FF2B5EF4-FFF2-40B4-BE49-F238E27FC236}">
                <a16:creationId xmlns:a16="http://schemas.microsoft.com/office/drawing/2014/main" id="{274113CA-5D3C-4B46-B991-5CB4189C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59"/>
                </a:solidFill>
                <a:latin typeface="Consolas"/>
                <a:ea typeface="Consolas"/>
                <a:cs typeface="Consolas"/>
              </a:defRPr>
            </a:pPr>
            <a:r>
              <a:t>~/ MARKET INTELLIGENCE</a:t>
            </a:r>
          </a:p>
        </p:txBody>
      </p:sp>
      <p:sp>
        <p:nvSpPr>
          <p:cNvPr id="6" name="title-7">
            <a:extLst xmlns:a="http://schemas.openxmlformats.org/drawingml/2006/main">
              <a:ext uri="{FF2B5EF4-FFF2-40B4-BE49-F238E27FC236}">
                <a16:creationId xmlns:a16="http://schemas.microsoft.com/office/drawing/2014/main" id="{4FCCFD00-2432-401B-9B70-AE0B6C5F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668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023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Financial-market analysis becomes easier when the product leads the user.</a:t>
            </a:r>
          </a:p>
        </p:txBody>
      </p:sp>
      <p:sp>
        <p:nvSpPr>
          <p:cNvPr id="7" name="market-left-panel">
            <a:extLst xmlns:a="http://schemas.openxmlformats.org/drawingml/2006/main">
              <a:ext uri="{FF2B5EF4-FFF2-40B4-BE49-F238E27FC236}">
                <a16:creationId xmlns:a16="http://schemas.microsoft.com/office/drawing/2014/main" id="{6E6788E3-F9F6-4DEA-BFD8-24392C6D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5334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211512"/>
          </a:solidFill>
        </p:spPr>
      </p:sp>
      <p:sp>
        <p:nvSpPr>
          <p:cNvPr id="8" name="market-right-panel">
            <a:extLst xmlns:a="http://schemas.openxmlformats.org/drawingml/2006/main">
              <a:ext uri="{FF2B5EF4-FFF2-40B4-BE49-F238E27FC236}">
                <a16:creationId xmlns:a16="http://schemas.microsoft.com/office/drawing/2014/main" id="{4CBCC058-245E-4B9A-BE52-817FC831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19300"/>
            <a:ext cx="5715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211512"/>
          </a:solidFill>
        </p:spPr>
      </p:sp>
      <p:sp>
        <p:nvSpPr>
          <p:cNvPr id="9" name="ipo-eyebrow">
            <a:extLst xmlns:a="http://schemas.openxmlformats.org/drawingml/2006/main">
              <a:ext uri="{FF2B5EF4-FFF2-40B4-BE49-F238E27FC236}">
                <a16:creationId xmlns:a16="http://schemas.microsoft.com/office/drawing/2014/main" id="{868613C3-9549-4482-9EA6-53BFA549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t>IPO TERMINAL</a:t>
            </a:r>
          </a:p>
        </p:txBody>
      </p:sp>
      <p:sp>
        <p:nvSpPr>
          <p:cNvPr id="10" name="ipo-title">
            <a:extLst xmlns:a="http://schemas.openxmlformats.org/drawingml/2006/main">
              <a:ext uri="{FF2B5EF4-FFF2-40B4-BE49-F238E27FC236}">
                <a16:creationId xmlns:a16="http://schemas.microsoft.com/office/drawing/2014/main" id="{6730570D-47B7-457F-BC9F-0B2FAEB9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0325"/>
            <a:ext cx="44767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Screen new listings
with a focused workflow.</a:t>
            </a:r>
          </a:p>
        </p:txBody>
      </p:sp>
      <p:sp>
        <p:nvSpPr>
          <p:cNvPr id="11" name="ipo-copy">
            <a:extLst xmlns:a="http://schemas.openxmlformats.org/drawingml/2006/main">
              <a:ext uri="{FF2B5EF4-FFF2-40B4-BE49-F238E27FC236}">
                <a16:creationId xmlns:a16="http://schemas.microsoft.com/office/drawing/2014/main" id="{4272AF03-6E29-41CF-B1F5-F173865F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4572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A product view designed to reduce cognitive load while comparing IPO opportunities.</a:t>
            </a:r>
          </a:p>
        </p:txBody>
      </p:sp>
      <p:sp>
        <p:nvSpPr>
          <p:cNvPr id="12" name="ipo-url">
            <a:extLst xmlns:a="http://schemas.openxmlformats.org/drawingml/2006/main">
              <a:ext uri="{FF2B5EF4-FFF2-40B4-BE49-F238E27FC236}">
                <a16:creationId xmlns:a16="http://schemas.microsoft.com/office/drawing/2014/main" id="{535A7BCF-88B5-4A75-812A-1ABAE0EC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00700"/>
            <a:ext cx="257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t>saham-ipo.vercel.app</a:t>
            </a:r>
          </a:p>
        </p:txBody>
      </p:sp>
      <p:sp>
        <p:nvSpPr>
          <p:cNvPr id="13" name="ihsg-eyebrow">
            <a:extLst xmlns:a="http://schemas.openxmlformats.org/drawingml/2006/main">
              <a:ext uri="{FF2B5EF4-FFF2-40B4-BE49-F238E27FC236}">
                <a16:creationId xmlns:a16="http://schemas.microsoft.com/office/drawing/2014/main" id="{03F1432F-A804-43B8-A05D-C5BA7BC5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ptos"/>
                <a:ea typeface="Aptos"/>
                <a:cs typeface="Aptos"/>
              </a:defRPr>
            </a:pPr>
            <a:r>
              <a:t>IHSG ANALYSIS</a:t>
            </a:r>
          </a:p>
        </p:txBody>
      </p:sp>
      <p:sp>
        <p:nvSpPr>
          <p:cNvPr id="14" name="ihsg-title">
            <a:extLst xmlns:a="http://schemas.openxmlformats.org/drawingml/2006/main">
              <a:ext uri="{FF2B5EF4-FFF2-40B4-BE49-F238E27FC236}">
                <a16:creationId xmlns:a16="http://schemas.microsoft.com/office/drawing/2014/main" id="{8C70F14F-2407-4CA0-91A0-29494C9B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0325"/>
            <a:ext cx="49530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Explore market signals
in one visual workspace.</a:t>
            </a:r>
          </a:p>
        </p:txBody>
      </p:sp>
      <p:sp>
        <p:nvSpPr>
          <p:cNvPr id="15" name="ihsg-url">
            <a:extLst xmlns:a="http://schemas.openxmlformats.org/drawingml/2006/main">
              <a:ext uri="{FF2B5EF4-FFF2-40B4-BE49-F238E27FC236}">
                <a16:creationId xmlns:a16="http://schemas.microsoft.com/office/drawing/2014/main" id="{44AA251D-6818-49E2-BEE0-8F7C50D7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00675"/>
            <a:ext cx="257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t>ypcsaham.streamlit.app</a:t>
            </a:r>
          </a:p>
        </p:txBody>
      </p:sp>
      <p:sp>
        <p:nvSpPr>
          <p:cNvPr id="16" name="footer-line-gold-7">
            <a:extLst xmlns:a="http://schemas.openxmlformats.org/drawingml/2006/main">
              <a:ext uri="{FF2B5EF4-FFF2-40B4-BE49-F238E27FC236}">
                <a16:creationId xmlns:a16="http://schemas.microsoft.com/office/drawing/2014/main" id="{9063E10C-1E3B-4F5C-8430-412632A7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5276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</p:spPr>
      </p:sp>
      <p:sp>
        <p:nvSpPr>
          <p:cNvPr id="17" name="footer-line-coral-7">
            <a:extLst xmlns:a="http://schemas.openxmlformats.org/drawingml/2006/main">
              <a:ext uri="{FF2B5EF4-FFF2-40B4-BE49-F238E27FC236}">
                <a16:creationId xmlns:a16="http://schemas.microsoft.com/office/drawing/2014/main" id="{D06331ED-8D81-47DD-9388-74A51209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29375"/>
            <a:ext cx="2638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</p:spPr>
      </p:sp>
      <p:sp>
        <p:nvSpPr>
          <p:cNvPr id="18" name="footer-line-teal-7">
            <a:extLst xmlns:a="http://schemas.openxmlformats.org/drawingml/2006/main">
              <a:ext uri="{FF2B5EF4-FFF2-40B4-BE49-F238E27FC236}">
                <a16:creationId xmlns:a16="http://schemas.microsoft.com/office/drawing/2014/main" id="{9AE6866F-6B76-4217-BCA5-E06EB2A5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429375"/>
            <a:ext cx="2638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19" name="footer-name-7">
            <a:extLst xmlns:a="http://schemas.openxmlformats.org/drawingml/2006/main">
              <a:ext uri="{FF2B5EF4-FFF2-40B4-BE49-F238E27FC236}">
                <a16:creationId xmlns:a16="http://schemas.microsoft.com/office/drawing/2014/main" id="{779DEBA5-E818-4A61-ACE4-31A2C3D3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95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A59B"/>
                </a:solidFill>
                <a:latin typeface="Consolas"/>
                <a:ea typeface="Consolas"/>
                <a:cs typeface="Consolas"/>
              </a:defRPr>
            </a:pPr>
            <a:r>
              <a:t>~/ali_  /  DATA INTELLIGENCE PORTFOLIO</a:t>
            </a:r>
          </a:p>
        </p:txBody>
      </p:sp>
      <p:sp>
        <p:nvSpPr>
          <p:cNvPr id="20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3D63983A-945A-4BE2-94F8-7D2BE3E1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6C453"/>
                </a:solidFill>
                <a:latin typeface="Consolas"/>
                <a:ea typeface="Consolas"/>
                <a:cs typeface="Consolas"/>
              </a:defRPr>
            </a:pPr>
            <a:r>
              <a:t>07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3d698530c42a2"/>
          <a:srcRect xmlns:a="http://schemas.openxmlformats.org/drawingml/2006/main" l="0" t="22720" r="0" b="227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4038600"/>
            <a:ext cx="4838700" cy="148590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10f0735cc4938"/>
          <a:srcRect xmlns:a="http://schemas.openxmlformats.org/drawingml/2006/main" l="0" t="22324" r="0" b="223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3552825"/>
            <a:ext cx="5200650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97893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08-ml-evidence-canvas">
            <a:extLst xmlns:a="http://schemas.openxmlformats.org/drawingml/2006/main">
              <a:ext uri="{FF2B5EF4-FFF2-40B4-BE49-F238E27FC236}">
                <a16:creationId xmlns:a16="http://schemas.microsoft.com/office/drawing/2014/main" id="{BB8D3548-C68C-400C-9B61-006B51F8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0A"/>
          </a:solidFill>
        </p:spPr>
      </p:sp>
      <p:sp>
        <p:nvSpPr>
          <p:cNvPr id="2" name="08-ml-evidence-edge-gold">
            <a:extLst xmlns:a="http://schemas.openxmlformats.org/drawingml/2006/main">
              <a:ext uri="{FF2B5EF4-FFF2-40B4-BE49-F238E27FC236}">
                <a16:creationId xmlns:a16="http://schemas.microsoft.com/office/drawing/2014/main" id="{3D80AA65-2279-41E9-8797-CDE7CAB5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</p:spPr>
      </p:sp>
      <p:sp>
        <p:nvSpPr>
          <p:cNvPr id="3" name="08-ml-evidence-edge-coral">
            <a:extLst xmlns:a="http://schemas.openxmlformats.org/drawingml/2006/main">
              <a:ext uri="{FF2B5EF4-FFF2-40B4-BE49-F238E27FC236}">
                <a16:creationId xmlns:a16="http://schemas.microsoft.com/office/drawing/2014/main" id="{8E85FA43-65FC-4504-B5FA-9A01EECF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</p:spPr>
      </p:sp>
      <p:sp>
        <p:nvSpPr>
          <p:cNvPr id="4" name="08-ml-evidence-edge-teal">
            <a:extLst xmlns:a="http://schemas.openxmlformats.org/drawingml/2006/main">
              <a:ext uri="{FF2B5EF4-FFF2-40B4-BE49-F238E27FC236}">
                <a16:creationId xmlns:a16="http://schemas.microsoft.com/office/drawing/2014/main" id="{AF905316-705A-4913-9BEC-04529094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5" name="eyebrow-8">
            <a:extLst xmlns:a="http://schemas.openxmlformats.org/drawingml/2006/main">
              <a:ext uri="{FF2B5EF4-FFF2-40B4-BE49-F238E27FC236}">
                <a16:creationId xmlns:a16="http://schemas.microsoft.com/office/drawing/2014/main" id="{487DC618-F8B8-4BEB-A935-EAFF8841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59"/>
                </a:solidFill>
                <a:latin typeface="Consolas"/>
                <a:ea typeface="Consolas"/>
                <a:cs typeface="Consolas"/>
              </a:defRPr>
            </a:pPr>
            <a:r>
              <a:t>~/ APPLIED MACHINE LEARNING</a:t>
            </a:r>
          </a:p>
        </p:txBody>
      </p:sp>
      <p:sp>
        <p:nvSpPr>
          <p:cNvPr id="6" name="title-8">
            <a:extLst xmlns:a="http://schemas.openxmlformats.org/drawingml/2006/main">
              <a:ext uri="{FF2B5EF4-FFF2-40B4-BE49-F238E27FC236}">
                <a16:creationId xmlns:a16="http://schemas.microsoft.com/office/drawing/2014/main" id="{A09CF7FF-301E-4AD9-9919-0ED5C229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668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117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Model quality matters most when it supports a real decision.</a:t>
            </a:r>
          </a:p>
        </p:txBody>
      </p:sp>
      <p:sp>
        <p:nvSpPr>
          <p:cNvPr id="7" name="food-image-frame">
            <a:extLst xmlns:a="http://schemas.openxmlformats.org/drawingml/2006/main">
              <a:ext uri="{FF2B5EF4-FFF2-40B4-BE49-F238E27FC236}">
                <a16:creationId xmlns:a16="http://schemas.microsoft.com/office/drawing/2014/main" id="{FAE550B9-2B1B-4882-91A4-9BFA235B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61912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211512"/>
          </a:solidFill>
        </p:spPr>
      </p:sp>
      <p:sp>
        <p:nvSpPr>
          <p:cNvPr id="8" name="food-metric-card">
            <a:extLst xmlns:a="http://schemas.openxmlformats.org/drawingml/2006/main">
              <a:ext uri="{FF2B5EF4-FFF2-40B4-BE49-F238E27FC236}">
                <a16:creationId xmlns:a16="http://schemas.microsoft.com/office/drawing/2014/main" id="{F80BD0D1-1F44-4D6C-926C-74EDCF1C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81200"/>
            <a:ext cx="22860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2A1A17"/>
          </a:solidFill>
        </p:spPr>
      </p:sp>
      <p:sp>
        <p:nvSpPr>
          <p:cNvPr id="9" name="food-metric">
            <a:extLst xmlns:a="http://schemas.openxmlformats.org/drawingml/2006/main">
              <a:ext uri="{FF2B5EF4-FFF2-40B4-BE49-F238E27FC236}">
                <a16:creationId xmlns:a16="http://schemas.microsoft.com/office/drawing/2014/main" id="{360167B3-779A-4D3F-8A0A-46D57C55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305050"/>
            <a:ext cx="1809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7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85.1%</a:t>
            </a:r>
          </a:p>
        </p:txBody>
      </p:sp>
      <p:sp>
        <p:nvSpPr>
          <p:cNvPr id="10" name="food-metric-label">
            <a:extLst xmlns:a="http://schemas.openxmlformats.org/drawingml/2006/main">
              <a:ext uri="{FF2B5EF4-FFF2-40B4-BE49-F238E27FC236}">
                <a16:creationId xmlns:a16="http://schemas.microsoft.com/office/drawing/2014/main" id="{7CA48D61-0679-4FF1-8F60-E54677AC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105150"/>
            <a:ext cx="1809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R² across 34 provinces</a:t>
            </a:r>
          </a:p>
        </p:txBody>
      </p:sp>
      <p:sp>
        <p:nvSpPr>
          <p:cNvPr id="11" name="stock-metric-card">
            <a:extLst xmlns:a="http://schemas.openxmlformats.org/drawingml/2006/main">
              <a:ext uri="{FF2B5EF4-FFF2-40B4-BE49-F238E27FC236}">
                <a16:creationId xmlns:a16="http://schemas.microsoft.com/office/drawing/2014/main" id="{F93EFCA8-F0A5-4B40-95B0-2436ED7F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81200"/>
            <a:ext cx="23812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211512"/>
          </a:solidFill>
        </p:spPr>
      </p:sp>
      <p:sp>
        <p:nvSpPr>
          <p:cNvPr id="12" name="stock-metric">
            <a:extLst xmlns:a="http://schemas.openxmlformats.org/drawingml/2006/main">
              <a:ext uri="{FF2B5EF4-FFF2-40B4-BE49-F238E27FC236}">
                <a16:creationId xmlns:a16="http://schemas.microsoft.com/office/drawing/2014/main" id="{90895F44-2B20-4045-BFDE-B79BC826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05050"/>
            <a:ext cx="1809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7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89%</a:t>
            </a:r>
          </a:p>
        </p:txBody>
      </p:sp>
      <p:sp>
        <p:nvSpPr>
          <p:cNvPr id="13" name="stock-metric-label">
            <a:extLst xmlns:a="http://schemas.openxmlformats.org/drawingml/2006/main">
              <a:ext uri="{FF2B5EF4-FFF2-40B4-BE49-F238E27FC236}">
                <a16:creationId xmlns:a16="http://schemas.microsoft.com/office/drawing/2014/main" id="{BFAAEDE1-A196-42E2-BA65-CAB6AEEA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05150"/>
            <a:ext cx="1952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791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stock classification accuracy</a:t>
            </a:r>
          </a:p>
        </p:txBody>
      </p:sp>
      <p:sp>
        <p:nvSpPr>
          <p:cNvPr id="14" name="food-title">
            <a:extLst xmlns:a="http://schemas.openxmlformats.org/drawingml/2006/main">
              <a:ext uri="{FF2B5EF4-FFF2-40B4-BE49-F238E27FC236}">
                <a16:creationId xmlns:a16="http://schemas.microsoft.com/office/drawing/2014/main" id="{9AE7C4ED-4387-4D74-9E35-7D327766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05275"/>
            <a:ext cx="4552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Food Security Forecasting</a:t>
            </a:r>
          </a:p>
        </p:txBody>
      </p:sp>
      <p:sp>
        <p:nvSpPr>
          <p:cNvPr id="15" name="food-copy">
            <a:extLst xmlns:a="http://schemas.openxmlformats.org/drawingml/2006/main">
              <a:ext uri="{FF2B5EF4-FFF2-40B4-BE49-F238E27FC236}">
                <a16:creationId xmlns:a16="http://schemas.microsoft.com/office/drawing/2014/main" id="{82838244-2F25-46EE-9A8F-A8790B27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52950"/>
            <a:ext cx="461962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Forecasting highlights provinces needing closer attention and turns model output into a public-facing analytical tool.</a:t>
            </a:r>
          </a:p>
        </p:txBody>
      </p:sp>
      <p:sp>
        <p:nvSpPr>
          <p:cNvPr id="16" name="award-strip">
            <a:extLst xmlns:a="http://schemas.openxmlformats.org/drawingml/2006/main">
              <a:ext uri="{FF2B5EF4-FFF2-40B4-BE49-F238E27FC236}">
                <a16:creationId xmlns:a16="http://schemas.microsoft.com/office/drawing/2014/main" id="{FD321A91-AA98-421A-A5E3-680206DF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10200"/>
            <a:ext cx="489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C453"/>
          </a:solidFill>
        </p:spPr>
      </p:sp>
      <p:sp>
        <p:nvSpPr>
          <p:cNvPr id="17" name="award-text">
            <a:extLst xmlns:a="http://schemas.openxmlformats.org/drawingml/2006/main">
              <a:ext uri="{FF2B5EF4-FFF2-40B4-BE49-F238E27FC236}">
                <a16:creationId xmlns:a16="http://schemas.microsoft.com/office/drawing/2014/main" id="{460FEFF9-274B-4305-A801-515D07AF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543550"/>
            <a:ext cx="4457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0D08"/>
                </a:solidFill>
                <a:latin typeface="Aptos"/>
                <a:ea typeface="Aptos"/>
                <a:cs typeface="Aptos"/>
              </a:defRPr>
            </a:pPr>
            <a:r>
              <a:t>BEST PAPER  ·  ICoDSA 2025</a:t>
            </a:r>
          </a:p>
        </p:txBody>
      </p:sp>
      <p:sp>
        <p:nvSpPr>
          <p:cNvPr id="18" name="footer-line-gold-8">
            <a:extLst xmlns:a="http://schemas.openxmlformats.org/drawingml/2006/main">
              <a:ext uri="{FF2B5EF4-FFF2-40B4-BE49-F238E27FC236}">
                <a16:creationId xmlns:a16="http://schemas.microsoft.com/office/drawing/2014/main" id="{32E218AA-B46C-43FC-87A3-A5FB9A35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5276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</p:spPr>
      </p:sp>
      <p:sp>
        <p:nvSpPr>
          <p:cNvPr id="19" name="footer-line-coral-8">
            <a:extLst xmlns:a="http://schemas.openxmlformats.org/drawingml/2006/main">
              <a:ext uri="{FF2B5EF4-FFF2-40B4-BE49-F238E27FC236}">
                <a16:creationId xmlns:a16="http://schemas.microsoft.com/office/drawing/2014/main" id="{E678BADE-2A9D-4652-A3DF-F4809FB8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29375"/>
            <a:ext cx="2638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</p:spPr>
      </p:sp>
      <p:sp>
        <p:nvSpPr>
          <p:cNvPr id="20" name="footer-line-teal-8">
            <a:extLst xmlns:a="http://schemas.openxmlformats.org/drawingml/2006/main">
              <a:ext uri="{FF2B5EF4-FFF2-40B4-BE49-F238E27FC236}">
                <a16:creationId xmlns:a16="http://schemas.microsoft.com/office/drawing/2014/main" id="{0935B54C-3A00-4750-BE8E-DFF7DB07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429375"/>
            <a:ext cx="2638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21" name="footer-name-8">
            <a:extLst xmlns:a="http://schemas.openxmlformats.org/drawingml/2006/main">
              <a:ext uri="{FF2B5EF4-FFF2-40B4-BE49-F238E27FC236}">
                <a16:creationId xmlns:a16="http://schemas.microsoft.com/office/drawing/2014/main" id="{FF9D2001-EC35-4CBA-8C63-5962168F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95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A59B"/>
                </a:solidFill>
                <a:latin typeface="Consolas"/>
                <a:ea typeface="Consolas"/>
                <a:cs typeface="Consolas"/>
              </a:defRPr>
            </a:pPr>
            <a:r>
              <a:t>~/ali_  /  DATA INTELLIGENCE PORTFOLIO</a:t>
            </a:r>
          </a:p>
        </p:txBody>
      </p:sp>
      <p:sp>
        <p:nvSpPr>
          <p:cNvPr id="22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52ED8375-D185-4F4A-AB70-E8E5B7AE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6C453"/>
                </a:solidFill>
                <a:latin typeface="Consolas"/>
                <a:ea typeface="Consolas"/>
                <a:cs typeface="Consolas"/>
              </a:defRPr>
            </a:pPr>
            <a:r>
              <a:t>08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ad065010646e4"/>
          <a:srcRect xmlns:a="http://schemas.openxmlformats.org/drawingml/2006/main" l="0" t="4261" r="0" b="42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33600"/>
            <a:ext cx="5886450" cy="3028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42341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09-bi-gallery-canvas">
            <a:extLst xmlns:a="http://schemas.openxmlformats.org/drawingml/2006/main">
              <a:ext uri="{FF2B5EF4-FFF2-40B4-BE49-F238E27FC236}">
                <a16:creationId xmlns:a16="http://schemas.microsoft.com/office/drawing/2014/main" id="{EC176FFC-F0D8-4767-8942-9E6FBC45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0A"/>
          </a:solidFill>
        </p:spPr>
      </p:sp>
      <p:sp>
        <p:nvSpPr>
          <p:cNvPr id="2" name="09-bi-gallery-edge-gold">
            <a:extLst xmlns:a="http://schemas.openxmlformats.org/drawingml/2006/main">
              <a:ext uri="{FF2B5EF4-FFF2-40B4-BE49-F238E27FC236}">
                <a16:creationId xmlns:a16="http://schemas.microsoft.com/office/drawing/2014/main" id="{B2587789-B1EE-41C6-93CF-D98F4069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</p:spPr>
      </p:sp>
      <p:sp>
        <p:nvSpPr>
          <p:cNvPr id="3" name="09-bi-gallery-edge-coral">
            <a:extLst xmlns:a="http://schemas.openxmlformats.org/drawingml/2006/main">
              <a:ext uri="{FF2B5EF4-FFF2-40B4-BE49-F238E27FC236}">
                <a16:creationId xmlns:a16="http://schemas.microsoft.com/office/drawing/2014/main" id="{0CF31097-3156-4558-8A11-3A9F3806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</p:spPr>
      </p:sp>
      <p:sp>
        <p:nvSpPr>
          <p:cNvPr id="4" name="09-bi-gallery-edge-teal">
            <a:extLst xmlns:a="http://schemas.openxmlformats.org/drawingml/2006/main">
              <a:ext uri="{FF2B5EF4-FFF2-40B4-BE49-F238E27FC236}">
                <a16:creationId xmlns:a16="http://schemas.microsoft.com/office/drawing/2014/main" id="{DF53C7DC-C30F-4162-96B7-C9074638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5" name="eyebrow-9">
            <a:extLst xmlns:a="http://schemas.openxmlformats.org/drawingml/2006/main">
              <a:ext uri="{FF2B5EF4-FFF2-40B4-BE49-F238E27FC236}">
                <a16:creationId xmlns:a16="http://schemas.microsoft.com/office/drawing/2014/main" id="{1A7FD832-80D6-4B33-BB64-AF913910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59"/>
                </a:solidFill>
                <a:latin typeface="Consolas"/>
                <a:ea typeface="Consolas"/>
                <a:cs typeface="Consolas"/>
              </a:defRPr>
            </a:pPr>
            <a:r>
              <a:t>~/ BUSINESS INTELLIGENCE</a:t>
            </a:r>
          </a:p>
        </p:txBody>
      </p:sp>
      <p:sp>
        <p:nvSpPr>
          <p:cNvPr id="6" name="title-9">
            <a:extLst xmlns:a="http://schemas.openxmlformats.org/drawingml/2006/main">
              <a:ext uri="{FF2B5EF4-FFF2-40B4-BE49-F238E27FC236}">
                <a16:creationId xmlns:a16="http://schemas.microsoft.com/office/drawing/2014/main" id="{AAAA166A-1895-4E67-9AE9-CBC306FA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668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023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Dashboards are delivery systems for decisions—not decoration.</a:t>
            </a:r>
          </a:p>
        </p:txBody>
      </p:sp>
      <p:sp>
        <p:nvSpPr>
          <p:cNvPr id="7" name="bi-note">
            <a:extLst xmlns:a="http://schemas.openxmlformats.org/drawingml/2006/main">
              <a:ext uri="{FF2B5EF4-FFF2-40B4-BE49-F238E27FC236}">
                <a16:creationId xmlns:a16="http://schemas.microsoft.com/office/drawing/2014/main" id="{9DD21AE0-6C17-42A7-9B9E-E8EFF9F9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38275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Selected dashboard samples are intentionally blurred to protect sensitive information.</a:t>
            </a:r>
          </a:p>
        </p:txBody>
      </p:sp>
      <p:sp>
        <p:nvSpPr>
          <p:cNvPr id="8" name="dash-frame-1">
            <a:extLst xmlns:a="http://schemas.openxmlformats.org/drawingml/2006/main">
              <a:ext uri="{FF2B5EF4-FFF2-40B4-BE49-F238E27FC236}">
                <a16:creationId xmlns:a16="http://schemas.microsoft.com/office/drawing/2014/main" id="{900DD33E-DC33-497C-96D4-F0C8CE28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35814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211512"/>
          </a:solidFill>
        </p:spPr>
      </p:sp>
      <p:sp>
        <p:nvSpPr>
          <p:cNvPr id="9" name="dash-frame-2">
            <a:extLst xmlns:a="http://schemas.openxmlformats.org/drawingml/2006/main">
              <a:ext uri="{FF2B5EF4-FFF2-40B4-BE49-F238E27FC236}">
                <a16:creationId xmlns:a16="http://schemas.microsoft.com/office/drawing/2014/main" id="{087C0B8A-E01D-433B-80EA-0FFF2853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8350"/>
            <a:ext cx="35814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211512"/>
          </a:solidFill>
        </p:spPr>
      </p:sp>
      <p:sp>
        <p:nvSpPr>
          <p:cNvPr id="10" name="dash-frame-3">
            <a:extLst xmlns:a="http://schemas.openxmlformats.org/drawingml/2006/main">
              <a:ext uri="{FF2B5EF4-FFF2-40B4-BE49-F238E27FC236}">
                <a16:creationId xmlns:a16="http://schemas.microsoft.com/office/drawing/2014/main" id="{3156E863-44C5-4159-BD65-7E1FB64F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35814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211512"/>
          </a:solidFill>
        </p:spPr>
      </p:sp>
      <p:sp>
        <p:nvSpPr>
          <p:cNvPr id="11" name="dash-title-1">
            <a:extLst xmlns:a="http://schemas.openxmlformats.org/drawingml/2006/main">
              <a:ext uri="{FF2B5EF4-FFF2-40B4-BE49-F238E27FC236}">
                <a16:creationId xmlns:a16="http://schemas.microsoft.com/office/drawing/2014/main" id="{AC13FB71-9ACA-4402-BCC3-808DD4CB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05375"/>
            <a:ext cx="30480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Revenue Monitoring</a:t>
            </a:r>
          </a:p>
        </p:txBody>
      </p:sp>
      <p:sp>
        <p:nvSpPr>
          <p:cNvPr id="12" name="dash-caption-1">
            <a:extLst xmlns:a="http://schemas.openxmlformats.org/drawingml/2006/main">
              <a:ext uri="{FF2B5EF4-FFF2-40B4-BE49-F238E27FC236}">
                <a16:creationId xmlns:a16="http://schemas.microsoft.com/office/drawing/2014/main" id="{775D1AEC-CC65-4025-A78A-B258F3DE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Power BI · KPI tracking</a:t>
            </a:r>
          </a:p>
        </p:txBody>
      </p:sp>
      <p:sp>
        <p:nvSpPr>
          <p:cNvPr id="13" name="dash-title-2">
            <a:extLst xmlns:a="http://schemas.openxmlformats.org/drawingml/2006/main">
              <a:ext uri="{FF2B5EF4-FFF2-40B4-BE49-F238E27FC236}">
                <a16:creationId xmlns:a16="http://schemas.microsoft.com/office/drawing/2014/main" id="{B0434688-0B00-4B0C-A21D-94BC17F3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05375"/>
            <a:ext cx="30480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Sales Performance</a:t>
            </a:r>
          </a:p>
        </p:txBody>
      </p:sp>
      <p:sp>
        <p:nvSpPr>
          <p:cNvPr id="14" name="dash-caption-2">
            <a:extLst xmlns:a="http://schemas.openxmlformats.org/drawingml/2006/main">
              <a:ext uri="{FF2B5EF4-FFF2-40B4-BE49-F238E27FC236}">
                <a16:creationId xmlns:a16="http://schemas.microsoft.com/office/drawing/2014/main" id="{460184C8-1AC3-4F78-A38C-E8C74E2F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7685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Looker Studio · trend analysis</a:t>
            </a:r>
          </a:p>
        </p:txBody>
      </p:sp>
      <p:sp>
        <p:nvSpPr>
          <p:cNvPr id="15" name="dash-title-3">
            <a:extLst xmlns:a="http://schemas.openxmlformats.org/drawingml/2006/main">
              <a:ext uri="{FF2B5EF4-FFF2-40B4-BE49-F238E27FC236}">
                <a16:creationId xmlns:a16="http://schemas.microsoft.com/office/drawing/2014/main" id="{DDABF9CD-358A-46BB-A7E5-30847800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05375"/>
            <a:ext cx="30480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Executive Summary</a:t>
            </a:r>
          </a:p>
        </p:txBody>
      </p:sp>
      <p:sp>
        <p:nvSpPr>
          <p:cNvPr id="16" name="dash-caption-3">
            <a:extLst xmlns:a="http://schemas.openxmlformats.org/drawingml/2006/main">
              <a:ext uri="{FF2B5EF4-FFF2-40B4-BE49-F238E27FC236}">
                <a16:creationId xmlns:a16="http://schemas.microsoft.com/office/drawing/2014/main" id="{580F00DC-2459-4B3A-915A-C0AD4DD2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76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Looker Studio · decision overview</a:t>
            </a:r>
          </a:p>
        </p:txBody>
      </p:sp>
      <p:sp>
        <p:nvSpPr>
          <p:cNvPr id="17" name="footer-line-gold-9">
            <a:extLst xmlns:a="http://schemas.openxmlformats.org/drawingml/2006/main">
              <a:ext uri="{FF2B5EF4-FFF2-40B4-BE49-F238E27FC236}">
                <a16:creationId xmlns:a16="http://schemas.microsoft.com/office/drawing/2014/main" id="{4AF5A18D-B92C-47C1-81C7-6E6036DD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5276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</p:spPr>
      </p:sp>
      <p:sp>
        <p:nvSpPr>
          <p:cNvPr id="18" name="footer-line-coral-9">
            <a:extLst xmlns:a="http://schemas.openxmlformats.org/drawingml/2006/main">
              <a:ext uri="{FF2B5EF4-FFF2-40B4-BE49-F238E27FC236}">
                <a16:creationId xmlns:a16="http://schemas.microsoft.com/office/drawing/2014/main" id="{9096AAF7-C27B-4C44-802B-1BE61B38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29375"/>
            <a:ext cx="2638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</p:spPr>
      </p:sp>
      <p:sp>
        <p:nvSpPr>
          <p:cNvPr id="19" name="footer-line-teal-9">
            <a:extLst xmlns:a="http://schemas.openxmlformats.org/drawingml/2006/main">
              <a:ext uri="{FF2B5EF4-FFF2-40B4-BE49-F238E27FC236}">
                <a16:creationId xmlns:a16="http://schemas.microsoft.com/office/drawing/2014/main" id="{713C6CA8-1862-4871-BE7D-CFF9982F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429375"/>
            <a:ext cx="2638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20" name="footer-name-9">
            <a:extLst xmlns:a="http://schemas.openxmlformats.org/drawingml/2006/main">
              <a:ext uri="{FF2B5EF4-FFF2-40B4-BE49-F238E27FC236}">
                <a16:creationId xmlns:a16="http://schemas.microsoft.com/office/drawing/2014/main" id="{C416CE87-63D6-4F1D-9F27-030AF661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95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A59B"/>
                </a:solidFill>
                <a:latin typeface="Consolas"/>
                <a:ea typeface="Consolas"/>
                <a:cs typeface="Consolas"/>
              </a:defRPr>
            </a:pPr>
            <a:r>
              <a:t>~/ali_  /  DATA INTELLIGENCE PORTFOLIO</a:t>
            </a:r>
          </a:p>
        </p:txBody>
      </p:sp>
      <p:sp>
        <p:nvSpPr>
          <p:cNvPr id="21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199779DB-84C9-48F1-8103-1B07BDA8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6C453"/>
                </a:solidFill>
                <a:latin typeface="Consolas"/>
                <a:ea typeface="Consolas"/>
                <a:cs typeface="Consolas"/>
              </a:defRPr>
            </a:pPr>
            <a:r>
              <a:t>09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8c9c6a85a4237"/>
          <a:srcRect xmlns:a="http://schemas.openxmlformats.org/drawingml/2006/main" l="10463" t="0" r="104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90750"/>
            <a:ext cx="3276600" cy="2314575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24df7dcde4c25"/>
          <a:srcRect xmlns:a="http://schemas.openxmlformats.org/drawingml/2006/main" l="0" t="2817" r="0" b="28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57700" y="2190750"/>
            <a:ext cx="3276600" cy="2314575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9cd6bc9374d07"/>
          <a:srcRect xmlns:a="http://schemas.openxmlformats.org/drawingml/2006/main" l="0" t="2500" r="0" b="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2190750"/>
            <a:ext cx="3276600" cy="23145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372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10-capability-canvas">
            <a:extLst xmlns:a="http://schemas.openxmlformats.org/drawingml/2006/main">
              <a:ext uri="{FF2B5EF4-FFF2-40B4-BE49-F238E27FC236}">
                <a16:creationId xmlns:a16="http://schemas.microsoft.com/office/drawing/2014/main" id="{F157593B-EB67-42D5-9AD9-FB6B92DC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0A"/>
          </a:solidFill>
        </p:spPr>
      </p:sp>
      <p:sp>
        <p:nvSpPr>
          <p:cNvPr id="2" name="10-capability-edge-gold">
            <a:extLst xmlns:a="http://schemas.openxmlformats.org/drawingml/2006/main">
              <a:ext uri="{FF2B5EF4-FFF2-40B4-BE49-F238E27FC236}">
                <a16:creationId xmlns:a16="http://schemas.microsoft.com/office/drawing/2014/main" id="{A85AB4C9-4BFB-4683-8E09-7256F26D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</p:spPr>
      </p:sp>
      <p:sp>
        <p:nvSpPr>
          <p:cNvPr id="3" name="10-capability-edge-coral">
            <a:extLst xmlns:a="http://schemas.openxmlformats.org/drawingml/2006/main">
              <a:ext uri="{FF2B5EF4-FFF2-40B4-BE49-F238E27FC236}">
                <a16:creationId xmlns:a16="http://schemas.microsoft.com/office/drawing/2014/main" id="{865FE5D8-02FF-41EE-A7B4-BBE32F8D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</p:spPr>
      </p:sp>
      <p:sp>
        <p:nvSpPr>
          <p:cNvPr id="4" name="10-capability-edge-teal">
            <a:extLst xmlns:a="http://schemas.openxmlformats.org/drawingml/2006/main">
              <a:ext uri="{FF2B5EF4-FFF2-40B4-BE49-F238E27FC236}">
                <a16:creationId xmlns:a16="http://schemas.microsoft.com/office/drawing/2014/main" id="{F52CF5E0-6277-409B-8135-97DB97F2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5" name="eyebrow-10">
            <a:extLst xmlns:a="http://schemas.openxmlformats.org/drawingml/2006/main">
              <a:ext uri="{FF2B5EF4-FFF2-40B4-BE49-F238E27FC236}">
                <a16:creationId xmlns:a16="http://schemas.microsoft.com/office/drawing/2014/main" id="{3D259CEF-7CA4-4BAE-975E-5187B24C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59"/>
                </a:solidFill>
                <a:latin typeface="Consolas"/>
                <a:ea typeface="Consolas"/>
                <a:cs typeface="Consolas"/>
              </a:defRPr>
            </a:pPr>
            <a:r>
              <a:t>~/ CAPABILITY</a:t>
            </a:r>
          </a:p>
        </p:txBody>
      </p:sp>
      <p:sp>
        <p:nvSpPr>
          <p:cNvPr id="6" name="title-10">
            <a:extLst xmlns:a="http://schemas.openxmlformats.org/drawingml/2006/main">
              <a:ext uri="{FF2B5EF4-FFF2-40B4-BE49-F238E27FC236}">
                <a16:creationId xmlns:a16="http://schemas.microsoft.com/office/drawing/2014/main" id="{C11F3E30-3B65-4C4B-9CE6-BA6E0676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668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671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A production-ready stack—grounded in analytical judgment.</a:t>
            </a:r>
          </a:p>
        </p:txBody>
      </p:sp>
      <p:sp>
        <p:nvSpPr>
          <p:cNvPr id="7" name="cap-card-0">
            <a:extLst xmlns:a="http://schemas.openxmlformats.org/drawingml/2006/main">
              <a:ext uri="{FF2B5EF4-FFF2-40B4-BE49-F238E27FC236}">
                <a16:creationId xmlns:a16="http://schemas.microsoft.com/office/drawing/2014/main" id="{7B519F05-BF22-43AE-852F-385035A5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438400" cy="264795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211512"/>
          </a:solidFill>
        </p:spPr>
      </p:sp>
      <p:sp>
        <p:nvSpPr>
          <p:cNvPr id="8" name="cap-accent-0">
            <a:extLst xmlns:a="http://schemas.openxmlformats.org/drawingml/2006/main">
              <a:ext uri="{FF2B5EF4-FFF2-40B4-BE49-F238E27FC236}">
                <a16:creationId xmlns:a16="http://schemas.microsoft.com/office/drawing/2014/main" id="{B3139CE4-CDAB-4D0A-96CD-2CE08C59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4384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453"/>
          </a:solidFill>
        </p:spPr>
      </p:sp>
      <p:sp>
        <p:nvSpPr>
          <p:cNvPr id="9" name="cap-title-0">
            <a:extLst xmlns:a="http://schemas.openxmlformats.org/drawingml/2006/main">
              <a:ext uri="{FF2B5EF4-FFF2-40B4-BE49-F238E27FC236}">
                <a16:creationId xmlns:a16="http://schemas.microsoft.com/office/drawing/2014/main" id="{EAA889AF-2B6A-423F-9AB5-D4C906E4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Analyze</a:t>
            </a:r>
          </a:p>
        </p:txBody>
      </p:sp>
      <p:sp>
        <p:nvSpPr>
          <p:cNvPr id="10" name="cap-items-0">
            <a:extLst xmlns:a="http://schemas.openxmlformats.org/drawingml/2006/main">
              <a:ext uri="{FF2B5EF4-FFF2-40B4-BE49-F238E27FC236}">
                <a16:creationId xmlns:a16="http://schemas.microsoft.com/office/drawing/2014/main" id="{005AAA87-AB89-4D9C-8A4E-DA2F1DB1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0002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Python · SQL
Pandas · NumPy
Statistics · EDA</a:t>
            </a:r>
          </a:p>
        </p:txBody>
      </p:sp>
      <p:sp>
        <p:nvSpPr>
          <p:cNvPr id="11" name="cap-card-1">
            <a:extLst xmlns:a="http://schemas.openxmlformats.org/drawingml/2006/main">
              <a:ext uri="{FF2B5EF4-FFF2-40B4-BE49-F238E27FC236}">
                <a16:creationId xmlns:a16="http://schemas.microsoft.com/office/drawing/2014/main" id="{F09D717C-B08E-4C90-8A19-B32F721D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95500"/>
            <a:ext cx="2438400" cy="264795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211512"/>
          </a:solidFill>
        </p:spPr>
      </p:sp>
      <p:sp>
        <p:nvSpPr>
          <p:cNvPr id="12" name="cap-accent-1">
            <a:extLst xmlns:a="http://schemas.openxmlformats.org/drawingml/2006/main">
              <a:ext uri="{FF2B5EF4-FFF2-40B4-BE49-F238E27FC236}">
                <a16:creationId xmlns:a16="http://schemas.microsoft.com/office/drawing/2014/main" id="{377530BD-68FC-421A-BC49-E36FF3CF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95500"/>
            <a:ext cx="24384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59"/>
          </a:solidFill>
        </p:spPr>
      </p:sp>
      <p:sp>
        <p:nvSpPr>
          <p:cNvPr id="13" name="cap-title-1">
            <a:extLst xmlns:a="http://schemas.openxmlformats.org/drawingml/2006/main">
              <a:ext uri="{FF2B5EF4-FFF2-40B4-BE49-F238E27FC236}">
                <a16:creationId xmlns:a16="http://schemas.microsoft.com/office/drawing/2014/main" id="{1695AD42-2565-48C1-A664-624C7F21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5745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Model</a:t>
            </a:r>
          </a:p>
        </p:txBody>
      </p:sp>
      <p:sp>
        <p:nvSpPr>
          <p:cNvPr id="14" name="cap-items-1">
            <a:extLst xmlns:a="http://schemas.openxmlformats.org/drawingml/2006/main">
              <a:ext uri="{FF2B5EF4-FFF2-40B4-BE49-F238E27FC236}">
                <a16:creationId xmlns:a16="http://schemas.microsoft.com/office/drawing/2014/main" id="{46E0892F-8EDC-4C13-8579-F98A0B1C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05150"/>
            <a:ext cx="20002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Scikit-learn
XGBoost · TensorFlow
Forecasting · NLP</a:t>
            </a:r>
          </a:p>
        </p:txBody>
      </p:sp>
      <p:sp>
        <p:nvSpPr>
          <p:cNvPr id="15" name="cap-card-2">
            <a:extLst xmlns:a="http://schemas.openxmlformats.org/drawingml/2006/main">
              <a:ext uri="{FF2B5EF4-FFF2-40B4-BE49-F238E27FC236}">
                <a16:creationId xmlns:a16="http://schemas.microsoft.com/office/drawing/2014/main" id="{C10E55C1-CC4C-4E36-91F6-6704CD5C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2438400" cy="264795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211512"/>
          </a:solidFill>
        </p:spPr>
      </p:sp>
      <p:sp>
        <p:nvSpPr>
          <p:cNvPr id="16" name="cap-accent-2">
            <a:extLst xmlns:a="http://schemas.openxmlformats.org/drawingml/2006/main">
              <a:ext uri="{FF2B5EF4-FFF2-40B4-BE49-F238E27FC236}">
                <a16:creationId xmlns:a16="http://schemas.microsoft.com/office/drawing/2014/main" id="{0E1F4823-57D8-484E-92AB-3CA699A0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24384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</p:spPr>
      </p:sp>
      <p:sp>
        <p:nvSpPr>
          <p:cNvPr id="17" name="cap-title-2">
            <a:extLst xmlns:a="http://schemas.openxmlformats.org/drawingml/2006/main">
              <a:ext uri="{FF2B5EF4-FFF2-40B4-BE49-F238E27FC236}">
                <a16:creationId xmlns:a16="http://schemas.microsoft.com/office/drawing/2014/main" id="{974B848A-DE4F-47A1-97D4-34D9FDF9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Engineer</a:t>
            </a:r>
          </a:p>
        </p:txBody>
      </p:sp>
      <p:sp>
        <p:nvSpPr>
          <p:cNvPr id="18" name="cap-items-2">
            <a:extLst xmlns:a="http://schemas.openxmlformats.org/drawingml/2006/main">
              <a:ext uri="{FF2B5EF4-FFF2-40B4-BE49-F238E27FC236}">
                <a16:creationId xmlns:a16="http://schemas.microsoft.com/office/drawing/2014/main" id="{B080E255-2654-4854-8A9F-F251824D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20002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MySQL · PostgreSQL
ETL · Data quality
Git · API workflows</a:t>
            </a:r>
          </a:p>
        </p:txBody>
      </p:sp>
      <p:sp>
        <p:nvSpPr>
          <p:cNvPr id="19" name="cap-card-3">
            <a:extLst xmlns:a="http://schemas.openxmlformats.org/drawingml/2006/main">
              <a:ext uri="{FF2B5EF4-FFF2-40B4-BE49-F238E27FC236}">
                <a16:creationId xmlns:a16="http://schemas.microsoft.com/office/drawing/2014/main" id="{2D4AAF62-8504-452A-B774-24AA21C5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95500"/>
            <a:ext cx="2438400" cy="264795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211512"/>
          </a:solidFill>
        </p:spPr>
      </p:sp>
      <p:sp>
        <p:nvSpPr>
          <p:cNvPr id="20" name="cap-accent-3">
            <a:extLst xmlns:a="http://schemas.openxmlformats.org/drawingml/2006/main">
              <a:ext uri="{FF2B5EF4-FFF2-40B4-BE49-F238E27FC236}">
                <a16:creationId xmlns:a16="http://schemas.microsoft.com/office/drawing/2014/main" id="{99F908D6-D06D-4A25-9E94-EF767D45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95500"/>
            <a:ext cx="24384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59"/>
          </a:solidFill>
        </p:spPr>
      </p:sp>
      <p:sp>
        <p:nvSpPr>
          <p:cNvPr id="21" name="cap-title-3">
            <a:extLst xmlns:a="http://schemas.openxmlformats.org/drawingml/2006/main">
              <a:ext uri="{FF2B5EF4-FFF2-40B4-BE49-F238E27FC236}">
                <a16:creationId xmlns:a16="http://schemas.microsoft.com/office/drawing/2014/main" id="{C612CE3B-D756-486E-BDCE-7434F56D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5745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Communicate</a:t>
            </a:r>
          </a:p>
        </p:txBody>
      </p:sp>
      <p:sp>
        <p:nvSpPr>
          <p:cNvPr id="22" name="cap-items-3">
            <a:extLst xmlns:a="http://schemas.openxmlformats.org/drawingml/2006/main">
              <a:ext uri="{FF2B5EF4-FFF2-40B4-BE49-F238E27FC236}">
                <a16:creationId xmlns:a16="http://schemas.microsoft.com/office/drawing/2014/main" id="{F9231E8D-B14A-4C3F-AC41-2B1D7C50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05150"/>
            <a:ext cx="20002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Power BI · Looker
Streamlit · Tableau
Storytelling</a:t>
            </a:r>
          </a:p>
        </p:txBody>
      </p:sp>
      <p:sp>
        <p:nvSpPr>
          <p:cNvPr id="23" name="credentials-strip">
            <a:extLst xmlns:a="http://schemas.openxmlformats.org/drawingml/2006/main">
              <a:ext uri="{FF2B5EF4-FFF2-40B4-BE49-F238E27FC236}">
                <a16:creationId xmlns:a16="http://schemas.microsoft.com/office/drawing/2014/main" id="{7832DFFC-82AE-4DF5-96DB-6163127A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101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A1A17"/>
          </a:solidFill>
        </p:spPr>
      </p:sp>
      <p:sp>
        <p:nvSpPr>
          <p:cNvPr id="24" name="credentials-label">
            <a:extLst xmlns:a="http://schemas.openxmlformats.org/drawingml/2006/main">
              <a:ext uri="{FF2B5EF4-FFF2-40B4-BE49-F238E27FC236}">
                <a16:creationId xmlns:a16="http://schemas.microsoft.com/office/drawing/2014/main" id="{DE17349B-63BD-474E-B02E-FE943519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133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t>CREDENTIALS</a:t>
            </a:r>
          </a:p>
        </p:txBody>
      </p:sp>
      <p:sp>
        <p:nvSpPr>
          <p:cNvPr id="25" name="credentials-text">
            <a:extLst xmlns:a="http://schemas.openxmlformats.org/drawingml/2006/main">
              <a:ext uri="{FF2B5EF4-FFF2-40B4-BE49-F238E27FC236}">
                <a16:creationId xmlns:a16="http://schemas.microsoft.com/office/drawing/2014/main" id="{96947170-50AF-4328-8503-E5F97C4A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14975"/>
            <a:ext cx="1028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B.Sc. Data Science · GPA 3.74/4.00     |     Best Paper, ICoDSA 2025     |     NVIDIA DLI · Google Analytics · Alibaba Cloud</a:t>
            </a:r>
          </a:p>
        </p:txBody>
      </p:sp>
      <p:sp>
        <p:nvSpPr>
          <p:cNvPr id="26" name="footer-line-gold-10">
            <a:extLst xmlns:a="http://schemas.openxmlformats.org/drawingml/2006/main">
              <a:ext uri="{FF2B5EF4-FFF2-40B4-BE49-F238E27FC236}">
                <a16:creationId xmlns:a16="http://schemas.microsoft.com/office/drawing/2014/main" id="{D2FB3AA4-30B9-4C22-AF44-D82E5F3C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5276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</p:spPr>
      </p:sp>
      <p:sp>
        <p:nvSpPr>
          <p:cNvPr id="27" name="footer-line-coral-10">
            <a:extLst xmlns:a="http://schemas.openxmlformats.org/drawingml/2006/main">
              <a:ext uri="{FF2B5EF4-FFF2-40B4-BE49-F238E27FC236}">
                <a16:creationId xmlns:a16="http://schemas.microsoft.com/office/drawing/2014/main" id="{DFA3CDC3-A6DA-41DD-B8DB-66A9B5F7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29375"/>
            <a:ext cx="2638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</p:spPr>
      </p:sp>
      <p:sp>
        <p:nvSpPr>
          <p:cNvPr id="28" name="footer-line-teal-10">
            <a:extLst xmlns:a="http://schemas.openxmlformats.org/drawingml/2006/main">
              <a:ext uri="{FF2B5EF4-FFF2-40B4-BE49-F238E27FC236}">
                <a16:creationId xmlns:a16="http://schemas.microsoft.com/office/drawing/2014/main" id="{560B0449-6934-4613-BACB-8C0B39CC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429375"/>
            <a:ext cx="2638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29" name="footer-name-10">
            <a:extLst xmlns:a="http://schemas.openxmlformats.org/drawingml/2006/main">
              <a:ext uri="{FF2B5EF4-FFF2-40B4-BE49-F238E27FC236}">
                <a16:creationId xmlns:a16="http://schemas.microsoft.com/office/drawing/2014/main" id="{3863B611-C67C-44A9-BB5F-E98FB243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95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A59B"/>
                </a:solidFill>
                <a:latin typeface="Consolas"/>
                <a:ea typeface="Consolas"/>
                <a:cs typeface="Consolas"/>
              </a:defRPr>
            </a:pPr>
            <a:r>
              <a:t>~/ali_  /  DATA INTELLIGENCE PORTFOLIO</a:t>
            </a:r>
          </a:p>
        </p:txBody>
      </p:sp>
      <p:sp>
        <p:nvSpPr>
          <p:cNvPr id="30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BFC0F54F-E951-45F7-A597-521DBA84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6C453"/>
                </a:solidFill>
                <a:latin typeface="Consolas"/>
                <a:ea typeface="Consolas"/>
                <a:cs typeface="Consolas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9060556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11-closing-canvas">
            <a:extLst xmlns:a="http://schemas.openxmlformats.org/drawingml/2006/main">
              <a:ext uri="{FF2B5EF4-FFF2-40B4-BE49-F238E27FC236}">
                <a16:creationId xmlns:a16="http://schemas.microsoft.com/office/drawing/2014/main" id="{77FC7E13-B930-428D-B398-DC5BBAC0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0A"/>
          </a:solidFill>
        </p:spPr>
      </p:sp>
      <p:sp>
        <p:nvSpPr>
          <p:cNvPr id="2" name="11-closing-edge-gold">
            <a:extLst xmlns:a="http://schemas.openxmlformats.org/drawingml/2006/main">
              <a:ext uri="{FF2B5EF4-FFF2-40B4-BE49-F238E27FC236}">
                <a16:creationId xmlns:a16="http://schemas.microsoft.com/office/drawing/2014/main" id="{79A329DB-1F41-422C-9F19-7D4029F5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</p:spPr>
      </p:sp>
      <p:sp>
        <p:nvSpPr>
          <p:cNvPr id="3" name="11-closing-edge-coral">
            <a:extLst xmlns:a="http://schemas.openxmlformats.org/drawingml/2006/main">
              <a:ext uri="{FF2B5EF4-FFF2-40B4-BE49-F238E27FC236}">
                <a16:creationId xmlns:a16="http://schemas.microsoft.com/office/drawing/2014/main" id="{4FECC391-ADEB-47B6-B17D-E01686E7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</p:spPr>
      </p:sp>
      <p:sp>
        <p:nvSpPr>
          <p:cNvPr id="4" name="11-closing-edge-teal">
            <a:extLst xmlns:a="http://schemas.openxmlformats.org/drawingml/2006/main">
              <a:ext uri="{FF2B5EF4-FFF2-40B4-BE49-F238E27FC236}">
                <a16:creationId xmlns:a16="http://schemas.microsoft.com/office/drawing/2014/main" id="{FA8CD67F-C9B1-45E8-9DD8-6DD17BA5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5" name="closing-left">
            <a:extLst xmlns:a="http://schemas.openxmlformats.org/drawingml/2006/main">
              <a:ext uri="{FF2B5EF4-FFF2-40B4-BE49-F238E27FC236}">
                <a16:creationId xmlns:a16="http://schemas.microsoft.com/office/drawing/2014/main" id="{3D2CF0D5-E5C9-479E-9048-0723B8FC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33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0F0D"/>
          </a:solidFill>
        </p:spPr>
      </p:sp>
      <p:sp>
        <p:nvSpPr>
          <p:cNvPr id="6" name="closing-photo-frame">
            <a:extLst xmlns:a="http://schemas.openxmlformats.org/drawingml/2006/main">
              <a:ext uri="{FF2B5EF4-FFF2-40B4-BE49-F238E27FC236}">
                <a16:creationId xmlns:a16="http://schemas.microsoft.com/office/drawing/2014/main" id="{EC57E85D-DFE4-4C10-AF52-0BF825BF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4850"/>
            <a:ext cx="3048000" cy="36004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2A1A17"/>
          </a:solidFill>
        </p:spPr>
      </p:sp>
      <p:sp>
        <p:nvSpPr>
          <p:cNvPr id="7" name="closing-signal-gold">
            <a:extLst xmlns:a="http://schemas.openxmlformats.org/drawingml/2006/main">
              <a:ext uri="{FF2B5EF4-FFF2-40B4-BE49-F238E27FC236}">
                <a16:creationId xmlns:a16="http://schemas.microsoft.com/office/drawing/2014/main" id="{D570474C-E6C9-4C7C-9B49-3EB02446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95800"/>
            <a:ext cx="914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453"/>
          </a:solidFill>
        </p:spPr>
      </p:sp>
      <p:sp>
        <p:nvSpPr>
          <p:cNvPr id="8" name="closing-signal-coral">
            <a:extLst xmlns:a="http://schemas.openxmlformats.org/drawingml/2006/main">
              <a:ext uri="{FF2B5EF4-FFF2-40B4-BE49-F238E27FC236}">
                <a16:creationId xmlns:a16="http://schemas.microsoft.com/office/drawing/2014/main" id="{18F8578B-A6C8-4D00-9CB8-00F83C99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95800"/>
            <a:ext cx="914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59"/>
          </a:solidFill>
        </p:spPr>
      </p:sp>
      <p:sp>
        <p:nvSpPr>
          <p:cNvPr id="9" name="closing-signal-teal">
            <a:extLst xmlns:a="http://schemas.openxmlformats.org/drawingml/2006/main">
              <a:ext uri="{FF2B5EF4-FFF2-40B4-BE49-F238E27FC236}">
                <a16:creationId xmlns:a16="http://schemas.microsoft.com/office/drawing/2014/main" id="{94C8F1E4-01AC-40CA-9B7C-4DC5E805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95800"/>
            <a:ext cx="990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</p:spPr>
      </p:sp>
      <p:sp>
        <p:nvSpPr>
          <p:cNvPr id="10" name="closing-role">
            <a:extLst xmlns:a="http://schemas.openxmlformats.org/drawingml/2006/main">
              <a:ext uri="{FF2B5EF4-FFF2-40B4-BE49-F238E27FC236}">
                <a16:creationId xmlns:a16="http://schemas.microsoft.com/office/drawing/2014/main" id="{15E3D214-BEA4-49DC-AE53-A5618E57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EAD4"/>
                </a:solidFill>
                <a:latin typeface="Consolas"/>
                <a:ea typeface="Consolas"/>
                <a:cs typeface="Consolas"/>
              </a:defRPr>
            </a:pPr>
            <a:r>
              <a:t>DATA  /  MODELS  /  DECISIONS</a:t>
            </a:r>
          </a:p>
        </p:txBody>
      </p:sp>
      <p:sp>
        <p:nvSpPr>
          <p:cNvPr id="11" name="closing-site">
            <a:extLst xmlns:a="http://schemas.openxmlformats.org/drawingml/2006/main">
              <a:ext uri="{FF2B5EF4-FFF2-40B4-BE49-F238E27FC236}">
                <a16:creationId xmlns:a16="http://schemas.microsoft.com/office/drawing/2014/main" id="{9C4B5267-CB15-46E8-B08E-362592CE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14950"/>
            <a:ext cx="3219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6C453"/>
                </a:solidFill>
                <a:latin typeface="Consolas"/>
                <a:ea typeface="Consolas"/>
                <a:cs typeface="Consolas"/>
              </a:defRPr>
            </a:pPr>
            <a:r>
              <a:t>akbaralqahri.github.io/portofolio</a:t>
            </a:r>
          </a:p>
        </p:txBody>
      </p:sp>
      <p:sp>
        <p:nvSpPr>
          <p:cNvPr id="1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9E3EBE82-0CD6-4E7D-AFA4-A323C5C4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876300"/>
            <a:ext cx="643890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Let’s build decisions
people can act on.</a:t>
            </a:r>
          </a:p>
        </p:txBody>
      </p:sp>
      <p:sp>
        <p:nvSpPr>
          <p:cNvPr id="13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917C73F8-1261-42EB-B2F1-1413AA2E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05100"/>
            <a:ext cx="5905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Available for data &amp; AI engineering, analytics, BI, and data science opportunities.</a:t>
            </a:r>
          </a:p>
        </p:txBody>
      </p:sp>
      <p:sp>
        <p:nvSpPr>
          <p:cNvPr id="14" name="closing-line-gold">
            <a:extLst xmlns:a="http://schemas.openxmlformats.org/drawingml/2006/main">
              <a:ext uri="{FF2B5EF4-FFF2-40B4-BE49-F238E27FC236}">
                <a16:creationId xmlns:a16="http://schemas.microsoft.com/office/drawing/2014/main" id="{02DC13A4-8A83-480D-B481-1B0AFB93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38575"/>
            <a:ext cx="3067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</p:spPr>
      </p:sp>
      <p:sp>
        <p:nvSpPr>
          <p:cNvPr id="15" name="closing-line-coral">
            <a:extLst xmlns:a="http://schemas.openxmlformats.org/drawingml/2006/main">
              <a:ext uri="{FF2B5EF4-FFF2-40B4-BE49-F238E27FC236}">
                <a16:creationId xmlns:a16="http://schemas.microsoft.com/office/drawing/2014/main" id="{6A984643-99C1-493E-9A6B-AA9BBCA3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38575"/>
            <a:ext cx="1533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</p:spPr>
      </p:sp>
      <p:sp>
        <p:nvSpPr>
          <p:cNvPr id="16" name="closing-line-teal">
            <a:extLst xmlns:a="http://schemas.openxmlformats.org/drawingml/2006/main">
              <a:ext uri="{FF2B5EF4-FFF2-40B4-BE49-F238E27FC236}">
                <a16:creationId xmlns:a16="http://schemas.microsoft.com/office/drawing/2014/main" id="{F7ED0AC9-EF48-4FEF-8A96-D742A6BD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838575"/>
            <a:ext cx="1533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17" name="closing-email-label">
            <a:extLst xmlns:a="http://schemas.openxmlformats.org/drawingml/2006/main">
              <a:ext uri="{FF2B5EF4-FFF2-40B4-BE49-F238E27FC236}">
                <a16:creationId xmlns:a16="http://schemas.microsoft.com/office/drawing/2014/main" id="{ACDB15F7-0D53-4E5D-907F-D5602C4D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0527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59"/>
                </a:solidFill>
                <a:latin typeface="Consolas"/>
                <a:ea typeface="Consolas"/>
                <a:cs typeface="Consolas"/>
              </a:defRPr>
            </a:pPr>
            <a:r>
              <a:t>~/ EMAIL</a:t>
            </a:r>
          </a:p>
        </p:txBody>
      </p:sp>
      <p:sp>
        <p:nvSpPr>
          <p:cNvPr id="18" name="closing-email">
            <a:extLst xmlns:a="http://schemas.openxmlformats.org/drawingml/2006/main">
              <a:ext uri="{FF2B5EF4-FFF2-40B4-BE49-F238E27FC236}">
                <a16:creationId xmlns:a16="http://schemas.microsoft.com/office/drawing/2014/main" id="{5D990C17-3E5D-40D8-89EC-9583370D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62450"/>
            <a:ext cx="47625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akbaralqahri@gmail.com</a:t>
            </a:r>
          </a:p>
        </p:txBody>
      </p:sp>
      <p:sp>
        <p:nvSpPr>
          <p:cNvPr id="19" name="closing-links">
            <a:extLst xmlns:a="http://schemas.openxmlformats.org/drawingml/2006/main">
              <a:ext uri="{FF2B5EF4-FFF2-40B4-BE49-F238E27FC236}">
                <a16:creationId xmlns:a16="http://schemas.microsoft.com/office/drawing/2014/main" id="{7AE9283C-20F7-46CE-A6FA-B2DA7AC2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933950"/>
            <a:ext cx="5334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A59B"/>
                </a:solidFill>
                <a:latin typeface="Aptos"/>
                <a:ea typeface="Aptos"/>
                <a:cs typeface="Aptos"/>
              </a:defRPr>
            </a:pPr>
            <a:r>
              <a:t>linkedin.com/in/akbaralqahri
akbaralqahri.github.io/portofolio</a:t>
            </a:r>
          </a:p>
        </p:txBody>
      </p:sp>
      <p:sp>
        <p:nvSpPr>
          <p:cNvPr id="20" name="closing-phone">
            <a:extLst xmlns:a="http://schemas.openxmlformats.org/drawingml/2006/main">
              <a:ext uri="{FF2B5EF4-FFF2-40B4-BE49-F238E27FC236}">
                <a16:creationId xmlns:a16="http://schemas.microsoft.com/office/drawing/2014/main" id="{BFB66D98-398D-4916-9E83-44C8F278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79120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t>+62 852 1194 4977</a:t>
            </a:r>
          </a:p>
        </p:txBody>
      </p:sp>
      <p:sp>
        <p:nvSpPr>
          <p:cNvPr id="21" name="closing-page">
            <a:extLst xmlns:a="http://schemas.openxmlformats.org/drawingml/2006/main">
              <a:ext uri="{FF2B5EF4-FFF2-40B4-BE49-F238E27FC236}">
                <a16:creationId xmlns:a16="http://schemas.microsoft.com/office/drawing/2014/main" id="{2593E488-7588-4A49-9FF9-650F08DB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6C453"/>
                </a:solidFill>
                <a:latin typeface="Consolas"/>
                <a:ea typeface="Consolas"/>
                <a:cs typeface="Consolas"/>
              </a:defRPr>
            </a:pPr>
            <a:r>
              <a:t>11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ddbad5bf140d9"/>
          <a:srcRect xmlns:a="http://schemas.openxmlformats.org/drawingml/2006/main" l="0" t="5980" r="0" b="59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838200"/>
            <a:ext cx="2819400" cy="3333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032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2026-07-16T11:29:48.4370000Z</dcterms:created>
  <dcterms:modified xsi:type="dcterms:W3CDTF">2026-07-16T11:29:48.4370000Z</dcterms:modified>
</coreProperties>
</file>