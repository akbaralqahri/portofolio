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086ba97927340a1" /><Relationship Type="http://schemas.openxmlformats.org/officeDocument/2006/relationships/extended-properties" Target="/docProps/app.xml" Id="R8907f4617cca488e" /><Relationship Type="http://schemas.openxmlformats.org/officeDocument/2006/relationships/officeDocument" Target="/ppt/presentation.xml" Id="R5ae962498a9b48d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8f25594fa75406c"/>
  </p:sldMasterIdLst>
  <p:notesMasterIdLst>
    <p:notesMasterId xmlns:r="http://schemas.openxmlformats.org/officeDocument/2006/relationships" r:id="Rcc6a0a974881455f"/>
  </p:notesMasterIdLst>
  <p:sldIdLst>
    <p:sldId xmlns:r="http://schemas.openxmlformats.org/officeDocument/2006/relationships" id="256" r:id="R747cc081cb0e40ba"/>
    <p:sldId xmlns:r="http://schemas.openxmlformats.org/officeDocument/2006/relationships" id="257" r:id="Re4325baf6d404a6a"/>
    <p:sldId xmlns:r="http://schemas.openxmlformats.org/officeDocument/2006/relationships" id="258" r:id="Refa55aecee68443c"/>
    <p:sldId xmlns:r="http://schemas.openxmlformats.org/officeDocument/2006/relationships" id="259" r:id="Rc996029f145840df"/>
    <p:sldId xmlns:r="http://schemas.openxmlformats.org/officeDocument/2006/relationships" id="260" r:id="R9a2e1d7b447a4d0f"/>
    <p:sldId xmlns:r="http://schemas.openxmlformats.org/officeDocument/2006/relationships" id="261" r:id="R10332859be974eb2"/>
    <p:sldId xmlns:r="http://schemas.openxmlformats.org/officeDocument/2006/relationships" id="262" r:id="R54d724df9bc64422"/>
    <p:sldId xmlns:r="http://schemas.openxmlformats.org/officeDocument/2006/relationships" id="263" r:id="Re4d25e2a76064990"/>
    <p:sldId xmlns:r="http://schemas.openxmlformats.org/officeDocument/2006/relationships" id="264" r:id="R204071dedc694e5b"/>
    <p:sldId xmlns:r="http://schemas.openxmlformats.org/officeDocument/2006/relationships" id="265" r:id="Ra3cd14d101e14755"/>
    <p:sldId xmlns:r="http://schemas.openxmlformats.org/officeDocument/2006/relationships" id="266" r:id="R203b6bf2ebaf421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b67b37976f244f9" /><Relationship Type="http://schemas.openxmlformats.org/officeDocument/2006/relationships/slideMaster" Target="/ppt/slideMasters/slideMaster1.xml" Id="R98f25594fa75406c" /><Relationship Type="http://schemas.openxmlformats.org/officeDocument/2006/relationships/notesMaster" Target="/ppt/notesMasters/notesMaster1.xml" Id="Rcc6a0a974881455f" /><Relationship Type="http://schemas.openxmlformats.org/officeDocument/2006/relationships/presProps" Target="/ppt/presProps.xml" Id="R62c66724b007499f" /><Relationship Type="http://schemas.openxmlformats.org/officeDocument/2006/relationships/tableStyles" Target="/ppt/tableStyles.xml" Id="R1bb83a5d951b46de" /><Relationship Type="http://schemas.openxmlformats.org/officeDocument/2006/relationships/slide" Target="/ppt/slides/slide1.xml" Id="R747cc081cb0e40ba" /><Relationship Type="http://schemas.openxmlformats.org/officeDocument/2006/relationships/slide" Target="/ppt/slides/slide2.xml" Id="Re4325baf6d404a6a" /><Relationship Type="http://schemas.openxmlformats.org/officeDocument/2006/relationships/slide" Target="/ppt/slides/slide3.xml" Id="Refa55aecee68443c" /><Relationship Type="http://schemas.openxmlformats.org/officeDocument/2006/relationships/slide" Target="/ppt/slides/slide4.xml" Id="Rc996029f145840df" /><Relationship Type="http://schemas.openxmlformats.org/officeDocument/2006/relationships/slide" Target="/ppt/slides/slide5.xml" Id="R9a2e1d7b447a4d0f" /><Relationship Type="http://schemas.openxmlformats.org/officeDocument/2006/relationships/slide" Target="/ppt/slides/slide6.xml" Id="R10332859be974eb2" /><Relationship Type="http://schemas.openxmlformats.org/officeDocument/2006/relationships/slide" Target="/ppt/slides/slide7.xml" Id="R54d724df9bc64422" /><Relationship Type="http://schemas.openxmlformats.org/officeDocument/2006/relationships/slide" Target="/ppt/slides/slide8.xml" Id="Re4d25e2a76064990" /><Relationship Type="http://schemas.openxmlformats.org/officeDocument/2006/relationships/slide" Target="/ppt/slides/slide9.xml" Id="R204071dedc694e5b" /><Relationship Type="http://schemas.openxmlformats.org/officeDocument/2006/relationships/slide" Target="/ppt/slides/slide10.xml" Id="Ra3cd14d101e14755" /><Relationship Type="http://schemas.openxmlformats.org/officeDocument/2006/relationships/slide" Target="/ppt/slides/slide11.xml" Id="R203b6bf2ebaf421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56d3bd78426470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2e3fb7e44744e62" /><Relationship Type="http://schemas.openxmlformats.org/officeDocument/2006/relationships/notesMaster" Target="/ppt/notesMasters/notesMaster1.xml" Id="R0f6bb1e205534da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0d710e912504cc9" /><Relationship Type="http://schemas.openxmlformats.org/officeDocument/2006/relationships/notesMaster" Target="/ppt/notesMasters/notesMaster1.xml" Id="R8f7d7d8be204415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eee809c6b154cd1" /><Relationship Type="http://schemas.openxmlformats.org/officeDocument/2006/relationships/notesMaster" Target="/ppt/notesMasters/notesMaster1.xml" Id="Rfaea5b819f0a4cd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986386e50214cb2" /><Relationship Type="http://schemas.openxmlformats.org/officeDocument/2006/relationships/notesMaster" Target="/ppt/notesMasters/notesMaster1.xml" Id="R1fbfb9d9c008495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8adf9f662e2401c" /><Relationship Type="http://schemas.openxmlformats.org/officeDocument/2006/relationships/notesMaster" Target="/ppt/notesMasters/notesMaster1.xml" Id="R594818074d21481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e12d150c2eb4edc" /><Relationship Type="http://schemas.openxmlformats.org/officeDocument/2006/relationships/notesMaster" Target="/ppt/notesMasters/notesMaster1.xml" Id="R3093b9a320df41c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5791a2176994383" /><Relationship Type="http://schemas.openxmlformats.org/officeDocument/2006/relationships/notesMaster" Target="/ppt/notesMasters/notesMaster1.xml" Id="Rea7a969de07e428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e0eb5aaaa4449f0" /><Relationship Type="http://schemas.openxmlformats.org/officeDocument/2006/relationships/notesMaster" Target="/ppt/notesMasters/notesMaster1.xml" Id="R3ec99aed2053487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bbfd8d1340040b0" /><Relationship Type="http://schemas.openxmlformats.org/officeDocument/2006/relationships/notesMaster" Target="/ppt/notesMasters/notesMaster1.xml" Id="R83355a30b7c5418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a4c862858914dd3" /><Relationship Type="http://schemas.openxmlformats.org/officeDocument/2006/relationships/notesMaster" Target="/ppt/notesMasters/notesMaster1.xml" Id="Rfbc23f88d5bf4a8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55c90da9d484101" /><Relationship Type="http://schemas.openxmlformats.org/officeDocument/2006/relationships/notesMaster" Target="/ppt/notesMasters/notesMaster1.xml" Id="R3eaded3a958e4e8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3b6d8e5589485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5c8431fdf854c04" /><Relationship Type="http://schemas.openxmlformats.org/officeDocument/2006/relationships/slideLayout" Target="/ppt/slideLayouts/slideLayout1.xml" Id="Rb56336e19df34e4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56336e19df34e4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11c1e0d5f14421" /><Relationship Type="http://schemas.openxmlformats.org/officeDocument/2006/relationships/image" Target="/ppt/media/image.png" Id="Ra4957b4bad0b43e9" /><Relationship Type="http://schemas.openxmlformats.org/officeDocument/2006/relationships/notesSlide" Target="/ppt/notesSlides/notesSlide1.xml" Id="R31a1bd9cd8aa42e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0d9f86370b4b1c" /><Relationship Type="http://schemas.openxmlformats.org/officeDocument/2006/relationships/notesSlide" Target="/ppt/notesSlides/notesSlide2.xml" Id="R56e7f82f7a4745f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645e83594a4883" /><Relationship Type="http://schemas.openxmlformats.org/officeDocument/2006/relationships/notesSlide" Target="/ppt/notesSlides/notesSlide3.xml" Id="R7d465b40803e4e3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6a0d051f6d46ce" /><Relationship Type="http://schemas.openxmlformats.org/officeDocument/2006/relationships/notesSlide" Target="/ppt/notesSlides/notesSlide4.xml" Id="R82350fa8a4d64b1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631f92d5aa426a" /><Relationship Type="http://schemas.openxmlformats.org/officeDocument/2006/relationships/image" Target="/ppt/media/image.jpeg" Id="R130a8e10c76a4f7d" /><Relationship Type="http://schemas.openxmlformats.org/officeDocument/2006/relationships/notesSlide" Target="/ppt/notesSlides/notesSlide5.xml" Id="R1411e3e64a1a442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9d450e449a463f" /><Relationship Type="http://schemas.openxmlformats.org/officeDocument/2006/relationships/image" Target="/ppt/media/image2.jpeg" Id="Re318fd157f5e4695" /><Relationship Type="http://schemas.openxmlformats.org/officeDocument/2006/relationships/image" Target="/ppt/media/image3.jpeg" Id="R59a1ce6cf5cb4846" /><Relationship Type="http://schemas.openxmlformats.org/officeDocument/2006/relationships/notesSlide" Target="/ppt/notesSlides/notesSlide6.xml" Id="Rb0db242c4f6a48a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22e36a9a1a4f50" /><Relationship Type="http://schemas.openxmlformats.org/officeDocument/2006/relationships/image" Target="/ppt/media/image4.jpeg" Id="R9dc0db0d3a4549ad" /><Relationship Type="http://schemas.openxmlformats.org/officeDocument/2006/relationships/image" Target="/ppt/media/image5.jpeg" Id="R0e65082ce6974d6f" /><Relationship Type="http://schemas.openxmlformats.org/officeDocument/2006/relationships/notesSlide" Target="/ppt/notesSlides/notesSlide7.xml" Id="Rdc0d8218e3fc430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d473d937f74256" /><Relationship Type="http://schemas.openxmlformats.org/officeDocument/2006/relationships/image" Target="/ppt/media/image6.jpeg" Id="R0228ba0899e74a9d" /><Relationship Type="http://schemas.openxmlformats.org/officeDocument/2006/relationships/notesSlide" Target="/ppt/notesSlides/notesSlide8.xml" Id="Rbda4bcbe8778432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388447ed744ec8" /><Relationship Type="http://schemas.openxmlformats.org/officeDocument/2006/relationships/image" Target="/ppt/media/image2.png" Id="R5d83bd007fd84362" /><Relationship Type="http://schemas.openxmlformats.org/officeDocument/2006/relationships/image" Target="/ppt/media/image3.png" Id="R7390537c30764e28" /><Relationship Type="http://schemas.openxmlformats.org/officeDocument/2006/relationships/image" Target="/ppt/media/image4.png" Id="R44db98baeb9f42f1" /><Relationship Type="http://schemas.openxmlformats.org/officeDocument/2006/relationships/notesSlide" Target="/ppt/notesSlides/notesSlide9.xml" Id="R9f305f2ae0994ac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e004002fd84583" /><Relationship Type="http://schemas.openxmlformats.org/officeDocument/2006/relationships/notesSlide" Target="/ppt/notesSlides/notesSlide10.xml" Id="R4d95d36ad714460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2260f453d64a56" /><Relationship Type="http://schemas.openxmlformats.org/officeDocument/2006/relationships/notesSlide" Target="/ppt/notesSlides/notesSlide11.xml" Id="R0e913fc1e47249b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01-cover-canvas">
            <a:extLst xmlns:a="http://schemas.openxmlformats.org/drawingml/2006/main">
              <a:ext uri="{FF2B5EF4-FFF2-40B4-BE49-F238E27FC236}">
                <a16:creationId xmlns:a16="http://schemas.microsoft.com/office/drawing/2014/main" id="{EF09E9A7-F066-4381-86A5-247E72BF7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2" name="cover-blue-rail">
            <a:extLst xmlns:a="http://schemas.openxmlformats.org/drawingml/2006/main">
              <a:ext uri="{FF2B5EF4-FFF2-40B4-BE49-F238E27FC236}">
                <a16:creationId xmlns:a16="http://schemas.microsoft.com/office/drawing/2014/main" id="{68A2A6D9-AF4C-4266-92CE-AEF4B4761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</p:spPr>
      </p:sp>
      <p:sp>
        <p:nvSpPr>
          <p:cNvPr id="3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72B3F886-C508-4825-993E-548638244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6572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69E0"/>
                </a:solidFill>
                <a:latin typeface="Arial"/>
                <a:ea typeface="Arial"/>
                <a:cs typeface="Arial"/>
              </a:defRPr>
            </a:pPr>
            <a:r>
              <a:t>DATA ANALYST  ·  DATA SCIENTIST  ·  DATABASE ENGINEER</a:t>
            </a:r>
          </a:p>
        </p:txBody>
      </p:sp>
      <p:sp>
        <p:nvSpPr>
          <p:cNvPr id="4" name="cover-title">
            <a:extLst xmlns:a="http://schemas.openxmlformats.org/drawingml/2006/main">
              <a:ext uri="{FF2B5EF4-FFF2-40B4-BE49-F238E27FC236}">
                <a16:creationId xmlns:a16="http://schemas.microsoft.com/office/drawing/2014/main" id="{A9699A2B-6E55-4B7E-8722-50B9A4E95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04900"/>
            <a:ext cx="6572250" cy="1638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I turn raw data
into decisions.</a:t>
            </a:r>
          </a:p>
        </p:txBody>
      </p:sp>
      <p:sp>
        <p:nvSpPr>
          <p:cNvPr id="5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C41C3CDC-3672-47CB-831D-A007B02ED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24175"/>
            <a:ext cx="6000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Reliable data. Applied models. Decision-ready products.</a:t>
            </a:r>
          </a:p>
        </p:txBody>
      </p:sp>
      <p:sp>
        <p:nvSpPr>
          <p:cNvPr id="6" name="cover-pill-1-bg">
            <a:extLst xmlns:a="http://schemas.openxmlformats.org/drawingml/2006/main">
              <a:ext uri="{FF2B5EF4-FFF2-40B4-BE49-F238E27FC236}">
                <a16:creationId xmlns:a16="http://schemas.microsoft.com/office/drawing/2014/main" id="{88CAC462-F310-4CCC-A48E-01C8CE7F3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62375"/>
            <a:ext cx="15811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AF3FF"/>
          </a:solidFill>
        </p:spPr>
      </p:sp>
      <p:sp>
        <p:nvSpPr>
          <p:cNvPr id="7" name="cover-pill-1-text">
            <a:extLst xmlns:a="http://schemas.openxmlformats.org/drawingml/2006/main">
              <a:ext uri="{FF2B5EF4-FFF2-40B4-BE49-F238E27FC236}">
                <a16:creationId xmlns:a16="http://schemas.microsoft.com/office/drawing/2014/main" id="{5EA49221-E842-41EF-959A-498F82331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29050"/>
            <a:ext cx="1352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69E0"/>
                </a:solidFill>
                <a:latin typeface="Arial"/>
                <a:ea typeface="Arial"/>
                <a:cs typeface="Arial"/>
              </a:defRPr>
            </a:pPr>
            <a:r>
              <a:t>3.74 / 4.00 GPA</a:t>
            </a:r>
          </a:p>
        </p:txBody>
      </p:sp>
      <p:sp>
        <p:nvSpPr>
          <p:cNvPr id="8" name="cover-pill-2-bg">
            <a:extLst xmlns:a="http://schemas.openxmlformats.org/drawingml/2006/main">
              <a:ext uri="{FF2B5EF4-FFF2-40B4-BE49-F238E27FC236}">
                <a16:creationId xmlns:a16="http://schemas.microsoft.com/office/drawing/2014/main" id="{E032CA76-797A-4625-A10A-37FECCF9D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762375"/>
            <a:ext cx="17907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AF3FF"/>
          </a:solidFill>
        </p:spPr>
      </p:sp>
      <p:sp>
        <p:nvSpPr>
          <p:cNvPr id="9" name="cover-pill-2-text">
            <a:extLst xmlns:a="http://schemas.openxmlformats.org/drawingml/2006/main">
              <a:ext uri="{FF2B5EF4-FFF2-40B4-BE49-F238E27FC236}">
                <a16:creationId xmlns:a16="http://schemas.microsoft.com/office/drawing/2014/main" id="{B252E3A4-98E1-4D75-A495-40B7B4DF2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829050"/>
            <a:ext cx="1562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69E0"/>
                </a:solidFill>
                <a:latin typeface="Arial"/>
                <a:ea typeface="Arial"/>
                <a:cs typeface="Arial"/>
              </a:defRPr>
            </a:pPr>
            <a:r>
              <a:t>Best Paper · ICoDSA</a:t>
            </a:r>
          </a:p>
        </p:txBody>
      </p:sp>
      <p:sp>
        <p:nvSpPr>
          <p:cNvPr id="10" name="cover-pill-3-bg">
            <a:extLst xmlns:a="http://schemas.openxmlformats.org/drawingml/2006/main">
              <a:ext uri="{FF2B5EF4-FFF2-40B4-BE49-F238E27FC236}">
                <a16:creationId xmlns:a16="http://schemas.microsoft.com/office/drawing/2014/main" id="{6154A977-BE12-40AA-8232-E8EDFFC20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762375"/>
            <a:ext cx="1085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AF3FF"/>
          </a:solidFill>
        </p:spPr>
      </p:sp>
      <p:sp>
        <p:nvSpPr>
          <p:cNvPr id="11" name="cover-pill-3-text">
            <a:extLst xmlns:a="http://schemas.openxmlformats.org/drawingml/2006/main">
              <a:ext uri="{FF2B5EF4-FFF2-40B4-BE49-F238E27FC236}">
                <a16:creationId xmlns:a16="http://schemas.microsoft.com/office/drawing/2014/main" id="{9345FBF1-4CC9-4EF4-BF0A-BED3A9F34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829050"/>
            <a:ext cx="857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69E0"/>
                </a:solidFill>
                <a:latin typeface="Arial"/>
                <a:ea typeface="Arial"/>
                <a:cs typeface="Arial"/>
              </a:defRPr>
            </a:pPr>
            <a:r>
              <a:t>Indonesia</a:t>
            </a:r>
          </a:p>
        </p:txBody>
      </p:sp>
      <p:sp>
        <p:nvSpPr>
          <p:cNvPr id="12" name="cover-contact-panel">
            <a:extLst xmlns:a="http://schemas.openxmlformats.org/drawingml/2006/main">
              <a:ext uri="{FF2B5EF4-FFF2-40B4-BE49-F238E27FC236}">
                <a16:creationId xmlns:a16="http://schemas.microsoft.com/office/drawing/2014/main" id="{8B46D02B-7F10-46A5-9346-5C125009A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95825"/>
            <a:ext cx="5934075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3F6FA"/>
          </a:solidFill>
        </p:spPr>
      </p:sp>
      <p:sp>
        <p:nvSpPr>
          <p:cNvPr id="13" name="cover-name">
            <a:extLst xmlns:a="http://schemas.openxmlformats.org/drawingml/2006/main">
              <a:ext uri="{FF2B5EF4-FFF2-40B4-BE49-F238E27FC236}">
                <a16:creationId xmlns:a16="http://schemas.microsoft.com/office/drawing/2014/main" id="{59745533-2166-44EF-B92A-D85865A59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05375"/>
            <a:ext cx="50006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Muhammad Ali Akbar Al-Qahri</a:t>
            </a:r>
          </a:p>
        </p:txBody>
      </p:sp>
      <p:sp>
        <p:nvSpPr>
          <p:cNvPr id="14" name="cover-email">
            <a:extLst xmlns:a="http://schemas.openxmlformats.org/drawingml/2006/main">
              <a:ext uri="{FF2B5EF4-FFF2-40B4-BE49-F238E27FC236}">
                <a16:creationId xmlns:a16="http://schemas.microsoft.com/office/drawing/2014/main" id="{E52EE1D8-2D30-4677-81D0-665779AF4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14950"/>
            <a:ext cx="5238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akbaralqahri@gmail.com  ·  linkedin.com/in/akbaralqahri</a:t>
            </a:r>
          </a:p>
        </p:txBody>
      </p:sp>
      <p:sp>
        <p:nvSpPr>
          <p:cNvPr id="15" name="cover-photo-frame">
            <a:extLst xmlns:a="http://schemas.openxmlformats.org/drawingml/2006/main">
              <a:ext uri="{FF2B5EF4-FFF2-40B4-BE49-F238E27FC236}">
                <a16:creationId xmlns:a16="http://schemas.microsoft.com/office/drawing/2014/main" id="{D4C00C3E-F47A-45E0-8D95-5C40FD78A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00050"/>
            <a:ext cx="4362450" cy="5619750"/>
          </a:xfrm>
          <a:prstGeom xmlns:a="http://schemas.openxmlformats.org/drawingml/2006/main" prst="roundRect">
            <a:avLst>
              <a:gd name="adj" fmla="val 1747"/>
            </a:avLst>
          </a:prstGeom>
          <a:solidFill xmlns:a="http://schemas.openxmlformats.org/drawingml/2006/main">
            <a:srgbClr val="EAF3FF"/>
          </a:solidFill>
        </p:spPr>
      </p:sp>
      <p:sp>
        <p:nvSpPr>
          <p:cNvPr id="16" name="cover-photo-accent">
            <a:extLst xmlns:a="http://schemas.openxmlformats.org/drawingml/2006/main">
              <a:ext uri="{FF2B5EF4-FFF2-40B4-BE49-F238E27FC236}">
                <a16:creationId xmlns:a16="http://schemas.microsoft.com/office/drawing/2014/main" id="{113D72FC-CA35-4AB8-981F-B41CA944B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400050"/>
            <a:ext cx="723900" cy="56197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3D8DFF"/>
          </a:solidFill>
        </p:spPr>
      </p:sp>
      <p:sp>
        <p:nvSpPr>
          <p:cNvPr id="17" name="footer-line-1">
            <a:extLst xmlns:a="http://schemas.openxmlformats.org/drawingml/2006/main">
              <a:ext uri="{FF2B5EF4-FFF2-40B4-BE49-F238E27FC236}">
                <a16:creationId xmlns:a16="http://schemas.microsoft.com/office/drawing/2014/main" id="{0A698D02-7A98-4C3B-ACBA-6B091DC0B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10553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9"/>
          </a:solidFill>
        </p:spPr>
      </p:sp>
      <p:sp>
        <p:nvSpPr>
          <p:cNvPr id="18" name="footer-name-1">
            <a:extLst xmlns:a="http://schemas.openxmlformats.org/drawingml/2006/main">
              <a:ext uri="{FF2B5EF4-FFF2-40B4-BE49-F238E27FC236}">
                <a16:creationId xmlns:a16="http://schemas.microsoft.com/office/drawing/2014/main" id="{DE53D55E-6EF6-465E-8AEA-B294E474C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MUHAMMAD ALI AKBAR AL-QAHRI  /  DATA PORTFOLIO</a:t>
            </a:r>
          </a:p>
        </p:txBody>
      </p:sp>
      <p:sp>
        <p:nvSpPr>
          <p:cNvPr id="19" name="footer-page-1">
            <a:extLst xmlns:a="http://schemas.openxmlformats.org/drawingml/2006/main">
              <a:ext uri="{FF2B5EF4-FFF2-40B4-BE49-F238E27FC236}">
                <a16:creationId xmlns:a16="http://schemas.microsoft.com/office/drawing/2014/main" id="{D4E8A8C5-B44D-422C-A262-8979CD33F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957b4bad0b43e9"/>
          <a:srcRect xmlns:a="http://schemas.openxmlformats.org/drawingml/2006/main" l="0" t="1015" r="0" b="10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2850" y="590550"/>
            <a:ext cx="3981450" cy="5238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21668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02-lifecycle-canvas">
            <a:extLst xmlns:a="http://schemas.openxmlformats.org/drawingml/2006/main">
              <a:ext uri="{FF2B5EF4-FFF2-40B4-BE49-F238E27FC236}">
                <a16:creationId xmlns:a16="http://schemas.microsoft.com/office/drawing/2014/main" id="{382C14A4-3204-44D5-8B63-DF280B82E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2" name="eyebrow-2">
            <a:extLst xmlns:a="http://schemas.openxmlformats.org/drawingml/2006/main">
              <a:ext uri="{FF2B5EF4-FFF2-40B4-BE49-F238E27FC236}">
                <a16:creationId xmlns:a16="http://schemas.microsoft.com/office/drawing/2014/main" id="{A9293446-9BF3-42B6-A364-448999573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69E0"/>
                </a:solidFill>
                <a:latin typeface="Arial"/>
                <a:ea typeface="Arial"/>
                <a:cs typeface="Arial"/>
              </a:defRPr>
            </a:pPr>
            <a:r>
              <a:t>POSITIONING</a:t>
            </a:r>
          </a:p>
        </p:txBody>
      </p:sp>
      <p:sp>
        <p:nvSpPr>
          <p:cNvPr id="3" name="title-2">
            <a:extLst xmlns:a="http://schemas.openxmlformats.org/drawingml/2006/main">
              <a:ext uri="{FF2B5EF4-FFF2-40B4-BE49-F238E27FC236}">
                <a16:creationId xmlns:a16="http://schemas.microsoft.com/office/drawing/2014/main" id="{87A233B2-8C56-4C71-8170-A85FA344C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One profile covers the full data lifecycle.</a:t>
            </a:r>
          </a:p>
        </p:txBody>
      </p:sp>
      <p:sp>
        <p:nvSpPr>
          <p:cNvPr id="4" name="subtitle-2">
            <a:extLst xmlns:a="http://schemas.openxmlformats.org/drawingml/2006/main">
              <a:ext uri="{FF2B5EF4-FFF2-40B4-BE49-F238E27FC236}">
                <a16:creationId xmlns:a16="http://schemas.microsoft.com/office/drawing/2014/main" id="{1CF86FDF-A8F9-4B96-827F-DA6106AA0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390650"/>
            <a:ext cx="1028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From trusted inputs to decisions people can act on.</a:t>
            </a:r>
          </a:p>
        </p:txBody>
      </p:sp>
      <p:sp>
        <p:nvSpPr>
          <p:cNvPr id="5" name="role-card-01">
            <a:extLst xmlns:a="http://schemas.openxmlformats.org/drawingml/2006/main">
              <a:ext uri="{FF2B5EF4-FFF2-40B4-BE49-F238E27FC236}">
                <a16:creationId xmlns:a16="http://schemas.microsoft.com/office/drawing/2014/main" id="{B7D32D76-01C1-4836-96E3-0D2859977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09800"/>
            <a:ext cx="3581400" cy="33718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3F6FA"/>
          </a:solidFill>
        </p:spPr>
      </p:sp>
      <p:sp>
        <p:nvSpPr>
          <p:cNvPr id="6" name="role-step-bg-01">
            <a:extLst xmlns:a="http://schemas.openxmlformats.org/drawingml/2006/main">
              <a:ext uri="{FF2B5EF4-FFF2-40B4-BE49-F238E27FC236}">
                <a16:creationId xmlns:a16="http://schemas.microsoft.com/office/drawing/2014/main" id="{43C1B1DA-F9CA-43AF-9703-B71864566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552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3D8DFF"/>
          </a:solidFill>
        </p:spPr>
      </p:sp>
      <p:sp>
        <p:nvSpPr>
          <p:cNvPr id="7" name="role-step-01">
            <a:extLst xmlns:a="http://schemas.openxmlformats.org/drawingml/2006/main">
              <a:ext uri="{FF2B5EF4-FFF2-40B4-BE49-F238E27FC236}">
                <a16:creationId xmlns:a16="http://schemas.microsoft.com/office/drawing/2014/main" id="{2FA6699C-3314-4993-A3F1-DBC2B89C9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00325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8" name="role-title-01">
            <a:extLst xmlns:a="http://schemas.openxmlformats.org/drawingml/2006/main">
              <a:ext uri="{FF2B5EF4-FFF2-40B4-BE49-F238E27FC236}">
                <a16:creationId xmlns:a16="http://schemas.microsoft.com/office/drawing/2014/main" id="{383AD453-AF0C-4272-92E5-8907C39C1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38500"/>
            <a:ext cx="2857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Data Analyst</a:t>
            </a:r>
          </a:p>
        </p:txBody>
      </p:sp>
      <p:sp>
        <p:nvSpPr>
          <p:cNvPr id="9" name="role-desc-01">
            <a:extLst xmlns:a="http://schemas.openxmlformats.org/drawingml/2006/main">
              <a:ext uri="{FF2B5EF4-FFF2-40B4-BE49-F238E27FC236}">
                <a16:creationId xmlns:a16="http://schemas.microsoft.com/office/drawing/2014/main" id="{2FD251E3-2651-423B-9EE2-DE923E760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90950"/>
            <a:ext cx="30670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Frames the question, defines KPIs, and communicates the decision.</a:t>
            </a:r>
          </a:p>
        </p:txBody>
      </p:sp>
      <p:sp>
        <p:nvSpPr>
          <p:cNvPr id="10" name="role-proof-line-01">
            <a:extLst xmlns:a="http://schemas.openxmlformats.org/drawingml/2006/main">
              <a:ext uri="{FF2B5EF4-FFF2-40B4-BE49-F238E27FC236}">
                <a16:creationId xmlns:a16="http://schemas.microsoft.com/office/drawing/2014/main" id="{723C3827-8026-4E54-9BF8-D04090607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95850"/>
            <a:ext cx="3124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9"/>
          </a:solidFill>
        </p:spPr>
      </p:sp>
      <p:sp>
        <p:nvSpPr>
          <p:cNvPr id="11" name="role-proof-01">
            <a:extLst xmlns:a="http://schemas.openxmlformats.org/drawingml/2006/main">
              <a:ext uri="{FF2B5EF4-FFF2-40B4-BE49-F238E27FC236}">
                <a16:creationId xmlns:a16="http://schemas.microsoft.com/office/drawing/2014/main" id="{CB672EE4-1E53-4C37-A369-21EDBA74D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67300"/>
            <a:ext cx="3048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69E0"/>
                </a:solidFill>
                <a:latin typeface="Arial"/>
                <a:ea typeface="Arial"/>
                <a:cs typeface="Arial"/>
              </a:defRPr>
            </a:pPr>
            <a:r>
              <a:t>8 strategic dashboards</a:t>
            </a:r>
          </a:p>
        </p:txBody>
      </p:sp>
      <p:sp>
        <p:nvSpPr>
          <p:cNvPr id="12" name="role-card-02">
            <a:extLst xmlns:a="http://schemas.openxmlformats.org/drawingml/2006/main">
              <a:ext uri="{FF2B5EF4-FFF2-40B4-BE49-F238E27FC236}">
                <a16:creationId xmlns:a16="http://schemas.microsoft.com/office/drawing/2014/main" id="{3F2B27C1-5FC2-40C8-BE45-6050B2F6A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09800"/>
            <a:ext cx="3581400" cy="33718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3F6FA"/>
          </a:solidFill>
        </p:spPr>
      </p:sp>
      <p:sp>
        <p:nvSpPr>
          <p:cNvPr id="13" name="role-step-bg-02">
            <a:extLst xmlns:a="http://schemas.openxmlformats.org/drawingml/2006/main">
              <a:ext uri="{FF2B5EF4-FFF2-40B4-BE49-F238E27FC236}">
                <a16:creationId xmlns:a16="http://schemas.microsoft.com/office/drawing/2014/main" id="{D92A4594-22EE-4716-87B7-3DDE9126F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47925"/>
            <a:ext cx="552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3D8DFF"/>
          </a:solidFill>
        </p:spPr>
      </p:sp>
      <p:sp>
        <p:nvSpPr>
          <p:cNvPr id="14" name="role-step-02">
            <a:extLst xmlns:a="http://schemas.openxmlformats.org/drawingml/2006/main">
              <a:ext uri="{FF2B5EF4-FFF2-40B4-BE49-F238E27FC236}">
                <a16:creationId xmlns:a16="http://schemas.microsoft.com/office/drawing/2014/main" id="{519FF9E3-474E-4917-91DD-C0C9EA765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600325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5" name="role-title-02">
            <a:extLst xmlns:a="http://schemas.openxmlformats.org/drawingml/2006/main">
              <a:ext uri="{FF2B5EF4-FFF2-40B4-BE49-F238E27FC236}">
                <a16:creationId xmlns:a16="http://schemas.microsoft.com/office/drawing/2014/main" id="{D57CA499-F34C-4E47-9AC1-44850B460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238500"/>
            <a:ext cx="2857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Data Scientist</a:t>
            </a:r>
          </a:p>
        </p:txBody>
      </p:sp>
      <p:sp>
        <p:nvSpPr>
          <p:cNvPr id="16" name="role-desc-02">
            <a:extLst xmlns:a="http://schemas.openxmlformats.org/drawingml/2006/main">
              <a:ext uri="{FF2B5EF4-FFF2-40B4-BE49-F238E27FC236}">
                <a16:creationId xmlns:a16="http://schemas.microsoft.com/office/drawing/2014/main" id="{4327F13B-9245-483E-A63F-17313C76A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790950"/>
            <a:ext cx="30670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Builds interpretable models and validates whether they generalize.</a:t>
            </a:r>
          </a:p>
        </p:txBody>
      </p:sp>
      <p:sp>
        <p:nvSpPr>
          <p:cNvPr id="17" name="role-proof-line-02">
            <a:extLst xmlns:a="http://schemas.openxmlformats.org/drawingml/2006/main">
              <a:ext uri="{FF2B5EF4-FFF2-40B4-BE49-F238E27FC236}">
                <a16:creationId xmlns:a16="http://schemas.microsoft.com/office/drawing/2014/main" id="{3DF695C4-7C8C-4593-8FB1-3656B7301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895850"/>
            <a:ext cx="3124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9"/>
          </a:solidFill>
        </p:spPr>
      </p:sp>
      <p:sp>
        <p:nvSpPr>
          <p:cNvPr id="18" name="role-proof-02">
            <a:extLst xmlns:a="http://schemas.openxmlformats.org/drawingml/2006/main">
              <a:ext uri="{FF2B5EF4-FFF2-40B4-BE49-F238E27FC236}">
                <a16:creationId xmlns:a16="http://schemas.microsoft.com/office/drawing/2014/main" id="{CE7C41A4-4DDB-4F0C-B47C-BEB176AB5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067300"/>
            <a:ext cx="3048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69E0"/>
                </a:solidFill>
                <a:latin typeface="Arial"/>
                <a:ea typeface="Arial"/>
                <a:cs typeface="Arial"/>
              </a:defRPr>
            </a:pPr>
            <a:r>
              <a:t>85.1% R² · 89% accuracy</a:t>
            </a:r>
          </a:p>
        </p:txBody>
      </p:sp>
      <p:sp>
        <p:nvSpPr>
          <p:cNvPr id="19" name="role-card-03">
            <a:extLst xmlns:a="http://schemas.openxmlformats.org/drawingml/2006/main">
              <a:ext uri="{FF2B5EF4-FFF2-40B4-BE49-F238E27FC236}">
                <a16:creationId xmlns:a16="http://schemas.microsoft.com/office/drawing/2014/main" id="{4BFE1AFB-90D5-4D03-A88D-24A34F7FE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09800"/>
            <a:ext cx="3581400" cy="33718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3F6FA"/>
          </a:solidFill>
        </p:spPr>
      </p:sp>
      <p:sp>
        <p:nvSpPr>
          <p:cNvPr id="20" name="role-step-bg-03">
            <a:extLst xmlns:a="http://schemas.openxmlformats.org/drawingml/2006/main">
              <a:ext uri="{FF2B5EF4-FFF2-40B4-BE49-F238E27FC236}">
                <a16:creationId xmlns:a16="http://schemas.microsoft.com/office/drawing/2014/main" id="{576A4817-021B-4BF9-BDCF-F832E11AF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447925"/>
            <a:ext cx="552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3D8DFF"/>
          </a:solidFill>
        </p:spPr>
      </p:sp>
      <p:sp>
        <p:nvSpPr>
          <p:cNvPr id="21" name="role-step-03">
            <a:extLst xmlns:a="http://schemas.openxmlformats.org/drawingml/2006/main">
              <a:ext uri="{FF2B5EF4-FFF2-40B4-BE49-F238E27FC236}">
                <a16:creationId xmlns:a16="http://schemas.microsoft.com/office/drawing/2014/main" id="{0508E3F3-F193-445F-900D-0DDA0FD21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600325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22" name="role-title-03">
            <a:extLst xmlns:a="http://schemas.openxmlformats.org/drawingml/2006/main">
              <a:ext uri="{FF2B5EF4-FFF2-40B4-BE49-F238E27FC236}">
                <a16:creationId xmlns:a16="http://schemas.microsoft.com/office/drawing/2014/main" id="{5A841E32-D226-4CE4-8604-1B57D403F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238500"/>
            <a:ext cx="2857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Database Engineer</a:t>
            </a:r>
          </a:p>
        </p:txBody>
      </p:sp>
      <p:sp>
        <p:nvSpPr>
          <p:cNvPr id="23" name="role-desc-03">
            <a:extLst xmlns:a="http://schemas.openxmlformats.org/drawingml/2006/main">
              <a:ext uri="{FF2B5EF4-FFF2-40B4-BE49-F238E27FC236}">
                <a16:creationId xmlns:a16="http://schemas.microsoft.com/office/drawing/2014/main" id="{7CE090CC-9706-402D-825F-91F1074A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790950"/>
            <a:ext cx="30670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Designs reliable pipelines, transformations, and quality controls.</a:t>
            </a:r>
          </a:p>
        </p:txBody>
      </p:sp>
      <p:sp>
        <p:nvSpPr>
          <p:cNvPr id="24" name="role-proof-line-03">
            <a:extLst xmlns:a="http://schemas.openxmlformats.org/drawingml/2006/main">
              <a:ext uri="{FF2B5EF4-FFF2-40B4-BE49-F238E27FC236}">
                <a16:creationId xmlns:a16="http://schemas.microsoft.com/office/drawing/2014/main" id="{C38D7F2F-C020-422B-AA87-13B599935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895850"/>
            <a:ext cx="3124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9"/>
          </a:solidFill>
        </p:spPr>
      </p:sp>
      <p:sp>
        <p:nvSpPr>
          <p:cNvPr id="25" name="role-proof-03">
            <a:extLst xmlns:a="http://schemas.openxmlformats.org/drawingml/2006/main">
              <a:ext uri="{FF2B5EF4-FFF2-40B4-BE49-F238E27FC236}">
                <a16:creationId xmlns:a16="http://schemas.microsoft.com/office/drawing/2014/main" id="{4B6EF80E-2375-4665-929C-190D0827D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5067300"/>
            <a:ext cx="3048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69E0"/>
                </a:solidFill>
                <a:latin typeface="Arial"/>
                <a:ea typeface="Arial"/>
                <a:cs typeface="Arial"/>
              </a:defRPr>
            </a:pPr>
            <a:r>
              <a:t>10K+ questions automated</a:t>
            </a:r>
          </a:p>
        </p:txBody>
      </p:sp>
      <p:sp>
        <p:nvSpPr>
          <p:cNvPr id="26" name="footer-line-2">
            <a:extLst xmlns:a="http://schemas.openxmlformats.org/drawingml/2006/main">
              <a:ext uri="{FF2B5EF4-FFF2-40B4-BE49-F238E27FC236}">
                <a16:creationId xmlns:a16="http://schemas.microsoft.com/office/drawing/2014/main" id="{F07FD335-B8B6-4C84-9787-FE68E12F5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10553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9"/>
          </a:solidFill>
        </p:spPr>
      </p:sp>
      <p:sp>
        <p:nvSpPr>
          <p:cNvPr id="27" name="footer-name-2">
            <a:extLst xmlns:a="http://schemas.openxmlformats.org/drawingml/2006/main">
              <a:ext uri="{FF2B5EF4-FFF2-40B4-BE49-F238E27FC236}">
                <a16:creationId xmlns:a16="http://schemas.microsoft.com/office/drawing/2014/main" id="{2A652A89-5978-414F-A47F-B4E92D22D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MUHAMMAD ALI AKBAR AL-QAHRI  /  DATA PORTFOLIO</a:t>
            </a:r>
          </a:p>
        </p:txBody>
      </p:sp>
      <p:sp>
        <p:nvSpPr>
          <p:cNvPr id="28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2809B252-49AE-488E-9A5E-BBD3CA7D8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75681068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03-proof-canvas">
            <a:extLst xmlns:a="http://schemas.openxmlformats.org/drawingml/2006/main">
              <a:ext uri="{FF2B5EF4-FFF2-40B4-BE49-F238E27FC236}">
                <a16:creationId xmlns:a16="http://schemas.microsoft.com/office/drawing/2014/main" id="{F6834E5E-D3A6-4B2F-BA83-6F82680F5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2" name="eyebrow-3">
            <a:extLst xmlns:a="http://schemas.openxmlformats.org/drawingml/2006/main">
              <a:ext uri="{FF2B5EF4-FFF2-40B4-BE49-F238E27FC236}">
                <a16:creationId xmlns:a16="http://schemas.microsoft.com/office/drawing/2014/main" id="{FC293B96-575B-4B0D-8C2C-E798ACD3C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69E0"/>
                </a:solidFill>
                <a:latin typeface="Arial"/>
                <a:ea typeface="Arial"/>
                <a:cs typeface="Arial"/>
              </a:defRPr>
            </a:pPr>
            <a:r>
              <a:t>EVIDENCE</a:t>
            </a:r>
          </a:p>
        </p:txBody>
      </p:sp>
      <p:sp>
        <p:nvSpPr>
          <p:cNvPr id="3" name="title-3">
            <a:extLst xmlns:a="http://schemas.openxmlformats.org/drawingml/2006/main">
              <a:ext uri="{FF2B5EF4-FFF2-40B4-BE49-F238E27FC236}">
                <a16:creationId xmlns:a16="http://schemas.microsoft.com/office/drawing/2014/main" id="{BA8A7808-08DC-4E06-8AA0-3DABB8376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The work is already measurable.</a:t>
            </a:r>
          </a:p>
        </p:txBody>
      </p:sp>
      <p:sp>
        <p:nvSpPr>
          <p:cNvPr id="4" name="subtitle-3">
            <a:extLst xmlns:a="http://schemas.openxmlformats.org/drawingml/2006/main">
              <a:ext uri="{FF2B5EF4-FFF2-40B4-BE49-F238E27FC236}">
                <a16:creationId xmlns:a16="http://schemas.microsoft.com/office/drawing/2014/main" id="{61C77AA1-1F22-48BB-B20E-A3E9883FD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390650"/>
            <a:ext cx="1028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Three outcomes spanning business intelligence, automation, and machine learning.</a:t>
            </a:r>
          </a:p>
        </p:txBody>
      </p:sp>
      <p:sp>
        <p:nvSpPr>
          <p:cNvPr id="5" name="metric-card-40%">
            <a:extLst xmlns:a="http://schemas.openxmlformats.org/drawingml/2006/main">
              <a:ext uri="{FF2B5EF4-FFF2-40B4-BE49-F238E27FC236}">
                <a16:creationId xmlns:a16="http://schemas.microsoft.com/office/drawing/2014/main" id="{B938189A-1BE9-4018-B14F-ED08C0349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35814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3F6FA"/>
          </a:solidFill>
        </p:spPr>
      </p:sp>
      <p:sp>
        <p:nvSpPr>
          <p:cNvPr id="6" name="metric-accent-40%">
            <a:extLst xmlns:a="http://schemas.openxmlformats.org/drawingml/2006/main">
              <a:ext uri="{FF2B5EF4-FFF2-40B4-BE49-F238E27FC236}">
                <a16:creationId xmlns:a16="http://schemas.microsoft.com/office/drawing/2014/main" id="{81903176-3B44-4949-A635-FE658B04E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35814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D8DFF"/>
          </a:solidFill>
        </p:spPr>
      </p:sp>
      <p:sp>
        <p:nvSpPr>
          <p:cNvPr id="7" name="metric-value-40%">
            <a:extLst xmlns:a="http://schemas.openxmlformats.org/drawingml/2006/main">
              <a:ext uri="{FF2B5EF4-FFF2-40B4-BE49-F238E27FC236}">
                <a16:creationId xmlns:a16="http://schemas.microsoft.com/office/drawing/2014/main" id="{066388BD-BCAA-450F-B601-0518C22DC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76550"/>
            <a:ext cx="295275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40%</a:t>
            </a:r>
          </a:p>
        </p:txBody>
      </p:sp>
      <p:sp>
        <p:nvSpPr>
          <p:cNvPr id="8" name="metric-label-40%">
            <a:extLst xmlns:a="http://schemas.openxmlformats.org/drawingml/2006/main">
              <a:ext uri="{FF2B5EF4-FFF2-40B4-BE49-F238E27FC236}">
                <a16:creationId xmlns:a16="http://schemas.microsoft.com/office/drawing/2014/main" id="{E4E12559-2432-4854-872C-DF50E7367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76675"/>
            <a:ext cx="2952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faster reporting</a:t>
            </a:r>
          </a:p>
        </p:txBody>
      </p:sp>
      <p:sp>
        <p:nvSpPr>
          <p:cNvPr id="9" name="metric-detail-40%">
            <a:extLst xmlns:a="http://schemas.openxmlformats.org/drawingml/2006/main">
              <a:ext uri="{FF2B5EF4-FFF2-40B4-BE49-F238E27FC236}">
                <a16:creationId xmlns:a16="http://schemas.microsoft.com/office/drawing/2014/main" id="{87F22E4F-8994-4E09-89F1-8C598CF6B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2952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Across five Bank Indonesia branches</a:t>
            </a:r>
          </a:p>
        </p:txBody>
      </p:sp>
      <p:sp>
        <p:nvSpPr>
          <p:cNvPr id="10" name="metric-card-92%">
            <a:extLst xmlns:a="http://schemas.openxmlformats.org/drawingml/2006/main">
              <a:ext uri="{FF2B5EF4-FFF2-40B4-BE49-F238E27FC236}">
                <a16:creationId xmlns:a16="http://schemas.microsoft.com/office/drawing/2014/main" id="{B16E0D76-DFCD-4AE2-A425-15F82934C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57450"/>
            <a:ext cx="35814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3F6FA"/>
          </a:solidFill>
        </p:spPr>
      </p:sp>
      <p:sp>
        <p:nvSpPr>
          <p:cNvPr id="11" name="metric-accent-92%">
            <a:extLst xmlns:a="http://schemas.openxmlformats.org/drawingml/2006/main">
              <a:ext uri="{FF2B5EF4-FFF2-40B4-BE49-F238E27FC236}">
                <a16:creationId xmlns:a16="http://schemas.microsoft.com/office/drawing/2014/main" id="{BA0914A2-D0CF-4FE1-85F2-DBDB9431F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57450"/>
            <a:ext cx="35814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CBF4"/>
          </a:solidFill>
        </p:spPr>
      </p:sp>
      <p:sp>
        <p:nvSpPr>
          <p:cNvPr id="12" name="metric-value-92%">
            <a:extLst xmlns:a="http://schemas.openxmlformats.org/drawingml/2006/main">
              <a:ext uri="{FF2B5EF4-FFF2-40B4-BE49-F238E27FC236}">
                <a16:creationId xmlns:a16="http://schemas.microsoft.com/office/drawing/2014/main" id="{7480921B-2585-40F0-8207-170090141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76550"/>
            <a:ext cx="295275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92%</a:t>
            </a:r>
          </a:p>
        </p:txBody>
      </p:sp>
      <p:sp>
        <p:nvSpPr>
          <p:cNvPr id="13" name="metric-label-92%">
            <a:extLst xmlns:a="http://schemas.openxmlformats.org/drawingml/2006/main">
              <a:ext uri="{FF2B5EF4-FFF2-40B4-BE49-F238E27FC236}">
                <a16:creationId xmlns:a16="http://schemas.microsoft.com/office/drawing/2014/main" id="{0C4D535A-C238-4713-88C8-07AC98EEB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876675"/>
            <a:ext cx="2952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text-processing accuracy</a:t>
            </a:r>
          </a:p>
        </p:txBody>
      </p:sp>
      <p:sp>
        <p:nvSpPr>
          <p:cNvPr id="14" name="metric-detail-92%">
            <a:extLst xmlns:a="http://schemas.openxmlformats.org/drawingml/2006/main">
              <a:ext uri="{FF2B5EF4-FFF2-40B4-BE49-F238E27FC236}">
                <a16:creationId xmlns:a16="http://schemas.microsoft.com/office/drawing/2014/main" id="{F06FA15F-47BA-49E0-AB35-62FAD1012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629150"/>
            <a:ext cx="2952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Gemini API workflow for question automation</a:t>
            </a:r>
          </a:p>
        </p:txBody>
      </p:sp>
      <p:sp>
        <p:nvSpPr>
          <p:cNvPr id="15" name="metric-card-89%">
            <a:extLst xmlns:a="http://schemas.openxmlformats.org/drawingml/2006/main">
              <a:ext uri="{FF2B5EF4-FFF2-40B4-BE49-F238E27FC236}">
                <a16:creationId xmlns:a16="http://schemas.microsoft.com/office/drawing/2014/main" id="{4C59DB9B-EB54-4422-BDB2-5D3F3A15C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57450"/>
            <a:ext cx="35814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3F6FA"/>
          </a:solidFill>
        </p:spPr>
      </p:sp>
      <p:sp>
        <p:nvSpPr>
          <p:cNvPr id="16" name="metric-accent-89%">
            <a:extLst xmlns:a="http://schemas.openxmlformats.org/drawingml/2006/main">
              <a:ext uri="{FF2B5EF4-FFF2-40B4-BE49-F238E27FC236}">
                <a16:creationId xmlns:a16="http://schemas.microsoft.com/office/drawing/2014/main" id="{FEB7A62F-DA7E-474B-AEF0-0C7D37089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57450"/>
            <a:ext cx="35814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A36D"/>
          </a:solidFill>
        </p:spPr>
      </p:sp>
      <p:sp>
        <p:nvSpPr>
          <p:cNvPr id="17" name="metric-value-89%">
            <a:extLst xmlns:a="http://schemas.openxmlformats.org/drawingml/2006/main">
              <a:ext uri="{FF2B5EF4-FFF2-40B4-BE49-F238E27FC236}">
                <a16:creationId xmlns:a16="http://schemas.microsoft.com/office/drawing/2014/main" id="{DBA1AB0B-264A-4D66-A61B-38005A69D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76550"/>
            <a:ext cx="295275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89%</a:t>
            </a:r>
          </a:p>
        </p:txBody>
      </p:sp>
      <p:sp>
        <p:nvSpPr>
          <p:cNvPr id="18" name="metric-label-89%">
            <a:extLst xmlns:a="http://schemas.openxmlformats.org/drawingml/2006/main">
              <a:ext uri="{FF2B5EF4-FFF2-40B4-BE49-F238E27FC236}">
                <a16:creationId xmlns:a16="http://schemas.microsoft.com/office/drawing/2014/main" id="{ABD489DE-652F-4D76-B9CA-ED003B063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876675"/>
            <a:ext cx="2952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classification accuracy</a:t>
            </a:r>
          </a:p>
        </p:txBody>
      </p:sp>
      <p:sp>
        <p:nvSpPr>
          <p:cNvPr id="19" name="metric-detail-89%">
            <a:extLst xmlns:a="http://schemas.openxmlformats.org/drawingml/2006/main">
              <a:ext uri="{FF2B5EF4-FFF2-40B4-BE49-F238E27FC236}">
                <a16:creationId xmlns:a16="http://schemas.microsoft.com/office/drawing/2014/main" id="{01B4DE4C-A3E9-47F2-9F49-E42B26711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629150"/>
            <a:ext cx="2952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Stock movement research · Best Paper</a:t>
            </a:r>
          </a:p>
        </p:txBody>
      </p:sp>
      <p:sp>
        <p:nvSpPr>
          <p:cNvPr id="20" name="footer-line-3">
            <a:extLst xmlns:a="http://schemas.openxmlformats.org/drawingml/2006/main">
              <a:ext uri="{FF2B5EF4-FFF2-40B4-BE49-F238E27FC236}">
                <a16:creationId xmlns:a16="http://schemas.microsoft.com/office/drawing/2014/main" id="{B0FBCAEB-0C15-4D37-977D-64A1315D8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10553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9"/>
          </a:solidFill>
        </p:spPr>
      </p:sp>
      <p:sp>
        <p:nvSpPr>
          <p:cNvPr id="21" name="footer-name-3">
            <a:extLst xmlns:a="http://schemas.openxmlformats.org/drawingml/2006/main">
              <a:ext uri="{FF2B5EF4-FFF2-40B4-BE49-F238E27FC236}">
                <a16:creationId xmlns:a16="http://schemas.microsoft.com/office/drawing/2014/main" id="{AED2C076-39AF-4BE2-BF43-906ABD8CC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MUHAMMAD ALI AKBAR AL-QAHRI  /  DATA PORTFOLIO</a:t>
            </a:r>
          </a:p>
        </p:txBody>
      </p:sp>
      <p:sp>
        <p:nvSpPr>
          <p:cNvPr id="22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BD0AE470-6408-4C0F-9783-7D2DF000F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69369248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04-experience-canvas">
            <a:extLst xmlns:a="http://schemas.openxmlformats.org/drawingml/2006/main">
              <a:ext uri="{FF2B5EF4-FFF2-40B4-BE49-F238E27FC236}">
                <a16:creationId xmlns:a16="http://schemas.microsoft.com/office/drawing/2014/main" id="{E796E8DD-B9F7-4642-8D5E-BBA34397B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2" name="eyebrow-4">
            <a:extLst xmlns:a="http://schemas.openxmlformats.org/drawingml/2006/main">
              <a:ext uri="{FF2B5EF4-FFF2-40B4-BE49-F238E27FC236}">
                <a16:creationId xmlns:a16="http://schemas.microsoft.com/office/drawing/2014/main" id="{F7DAA213-39BA-47A1-95D7-C9CFD2109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69E0"/>
                </a:solidFill>
                <a:latin typeface="Arial"/>
                <a:ea typeface="Arial"/>
                <a:cs typeface="Arial"/>
              </a:defRPr>
            </a:pPr>
            <a:r>
              <a:t>EXPERIENCE</a:t>
            </a:r>
          </a:p>
        </p:txBody>
      </p:sp>
      <p:sp>
        <p:nvSpPr>
          <p:cNvPr id="3" name="title-4">
            <a:extLst xmlns:a="http://schemas.openxmlformats.org/drawingml/2006/main">
              <a:ext uri="{FF2B5EF4-FFF2-40B4-BE49-F238E27FC236}">
                <a16:creationId xmlns:a16="http://schemas.microsoft.com/office/drawing/2014/main" id="{437C9F15-4F32-40C1-B410-7B54041DB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3023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I have delivered across analytics, engineering, and enablement.</a:t>
            </a:r>
          </a:p>
        </p:txBody>
      </p:sp>
      <p:sp>
        <p:nvSpPr>
          <p:cNvPr id="4" name="timeline-line">
            <a:extLst xmlns:a="http://schemas.openxmlformats.org/drawingml/2006/main">
              <a:ext uri="{FF2B5EF4-FFF2-40B4-BE49-F238E27FC236}">
                <a16:creationId xmlns:a16="http://schemas.microsoft.com/office/drawing/2014/main" id="{041F4304-9C49-4A62-AAA3-4B624B7F0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86075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9"/>
          </a:solidFill>
        </p:spPr>
      </p:sp>
      <p:sp>
        <p:nvSpPr>
          <p:cNvPr id="5" name="timeline-dot-0">
            <a:extLst xmlns:a="http://schemas.openxmlformats.org/drawingml/2006/main">
              <a:ext uri="{FF2B5EF4-FFF2-40B4-BE49-F238E27FC236}">
                <a16:creationId xmlns:a16="http://schemas.microsoft.com/office/drawing/2014/main" id="{D837D2AF-06FF-4669-9808-340443CB0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2714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AF3FF"/>
          </a:solidFill>
        </p:spPr>
      </p:sp>
      <p:sp>
        <p:nvSpPr>
          <p:cNvPr id="6" name="timeline-dot-core-0">
            <a:extLst xmlns:a="http://schemas.openxmlformats.org/drawingml/2006/main">
              <a:ext uri="{FF2B5EF4-FFF2-40B4-BE49-F238E27FC236}">
                <a16:creationId xmlns:a16="http://schemas.microsoft.com/office/drawing/2014/main" id="{64FB88D0-4445-4432-AD4B-3C6E0C563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38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D8DFF"/>
          </a:solidFill>
        </p:spPr>
      </p:sp>
      <p:sp>
        <p:nvSpPr>
          <p:cNvPr id="7" name="timeline-period-0">
            <a:extLst xmlns:a="http://schemas.openxmlformats.org/drawingml/2006/main">
              <a:ext uri="{FF2B5EF4-FFF2-40B4-BE49-F238E27FC236}">
                <a16:creationId xmlns:a16="http://schemas.microsoft.com/office/drawing/2014/main" id="{2DE46EDF-5BE9-4471-B532-A8E11DFB1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383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9E0"/>
                </a:solidFill>
                <a:latin typeface="Arial"/>
                <a:ea typeface="Arial"/>
                <a:cs typeface="Arial"/>
              </a:defRPr>
            </a:pPr>
            <a:r>
              <a:t>2024</a:t>
            </a:r>
          </a:p>
        </p:txBody>
      </p:sp>
      <p:sp>
        <p:nvSpPr>
          <p:cNvPr id="8" name="timeline-org-0">
            <a:extLst xmlns:a="http://schemas.openxmlformats.org/drawingml/2006/main">
              <a:ext uri="{FF2B5EF4-FFF2-40B4-BE49-F238E27FC236}">
                <a16:creationId xmlns:a16="http://schemas.microsoft.com/office/drawing/2014/main" id="{DD59C452-EF21-4AD7-BC17-63BEAEC11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4327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Bank Indonesia</a:t>
            </a:r>
          </a:p>
        </p:txBody>
      </p:sp>
      <p:sp>
        <p:nvSpPr>
          <p:cNvPr id="9" name="timeline-role-0">
            <a:extLst xmlns:a="http://schemas.openxmlformats.org/drawingml/2006/main">
              <a:ext uri="{FF2B5EF4-FFF2-40B4-BE49-F238E27FC236}">
                <a16:creationId xmlns:a16="http://schemas.microsoft.com/office/drawing/2014/main" id="{145B6D69-F9CA-4C50-A67F-1FD6A979A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71925"/>
            <a:ext cx="238125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Business Intelligence Intern</a:t>
            </a:r>
          </a:p>
        </p:txBody>
      </p:sp>
      <p:sp>
        <p:nvSpPr>
          <p:cNvPr id="10" name="timeline-result-0">
            <a:extLst xmlns:a="http://schemas.openxmlformats.org/drawingml/2006/main">
              <a:ext uri="{FF2B5EF4-FFF2-40B4-BE49-F238E27FC236}">
                <a16:creationId xmlns:a16="http://schemas.microsoft.com/office/drawing/2014/main" id="{98BC2C73-33F9-46EA-9900-03F71BCB4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9582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8 dashboards · 85% stakeholder satisfaction</a:t>
            </a:r>
          </a:p>
        </p:txBody>
      </p:sp>
      <p:sp>
        <p:nvSpPr>
          <p:cNvPr id="11" name="timeline-dot-1">
            <a:extLst xmlns:a="http://schemas.openxmlformats.org/drawingml/2006/main">
              <a:ext uri="{FF2B5EF4-FFF2-40B4-BE49-F238E27FC236}">
                <a16:creationId xmlns:a16="http://schemas.microsoft.com/office/drawing/2014/main" id="{93C8FE9F-37FC-4D94-ACC4-57F06C33F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714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AF3FF"/>
          </a:solidFill>
        </p:spPr>
      </p:sp>
      <p:sp>
        <p:nvSpPr>
          <p:cNvPr id="12" name="timeline-dot-core-1">
            <a:extLst xmlns:a="http://schemas.openxmlformats.org/drawingml/2006/main">
              <a:ext uri="{FF2B5EF4-FFF2-40B4-BE49-F238E27FC236}">
                <a16:creationId xmlns:a16="http://schemas.microsoft.com/office/drawing/2014/main" id="{066BCE51-0677-41D1-88F9-7400B2A56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838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D8DFF"/>
          </a:solidFill>
        </p:spPr>
      </p:sp>
      <p:sp>
        <p:nvSpPr>
          <p:cNvPr id="13" name="timeline-period-1">
            <a:extLst xmlns:a="http://schemas.openxmlformats.org/drawingml/2006/main">
              <a:ext uri="{FF2B5EF4-FFF2-40B4-BE49-F238E27FC236}">
                <a16:creationId xmlns:a16="http://schemas.microsoft.com/office/drawing/2014/main" id="{EBDD1655-275C-4FE2-BCF5-108A5102B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2383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9E0"/>
                </a:solidFill>
                <a:latin typeface="Arial"/>
                <a:ea typeface="Arial"/>
                <a:cs typeface="Arial"/>
              </a:defRPr>
            </a:pPr>
            <a:r>
              <a:t>2024–25</a:t>
            </a:r>
          </a:p>
        </p:txBody>
      </p:sp>
      <p:sp>
        <p:nvSpPr>
          <p:cNvPr id="14" name="timeline-org-1">
            <a:extLst xmlns:a="http://schemas.openxmlformats.org/drawingml/2006/main">
              <a:ext uri="{FF2B5EF4-FFF2-40B4-BE49-F238E27FC236}">
                <a16:creationId xmlns:a16="http://schemas.microsoft.com/office/drawing/2014/main" id="{419BA8C8-F56D-44EF-A27F-475846FE2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34327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Telkom University</a:t>
            </a:r>
          </a:p>
        </p:txBody>
      </p:sp>
      <p:sp>
        <p:nvSpPr>
          <p:cNvPr id="15" name="timeline-role-1">
            <a:extLst xmlns:a="http://schemas.openxmlformats.org/drawingml/2006/main">
              <a:ext uri="{FF2B5EF4-FFF2-40B4-BE49-F238E27FC236}">
                <a16:creationId xmlns:a16="http://schemas.microsoft.com/office/drawing/2014/main" id="{6912FE72-4ADE-4082-9BC4-25284DF16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971925"/>
            <a:ext cx="238125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Teaching Assistant</a:t>
            </a:r>
          </a:p>
        </p:txBody>
      </p:sp>
      <p:sp>
        <p:nvSpPr>
          <p:cNvPr id="16" name="timeline-result-1">
            <a:extLst xmlns:a="http://schemas.openxmlformats.org/drawingml/2006/main">
              <a:ext uri="{FF2B5EF4-FFF2-40B4-BE49-F238E27FC236}">
                <a16:creationId xmlns:a16="http://schemas.microsoft.com/office/drawing/2014/main" id="{0DBC2C36-FAD3-419B-A504-CE68283A9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69582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500+ assignments · 30% performance lift</a:t>
            </a:r>
          </a:p>
        </p:txBody>
      </p:sp>
      <p:sp>
        <p:nvSpPr>
          <p:cNvPr id="17" name="timeline-dot-2">
            <a:extLst xmlns:a="http://schemas.openxmlformats.org/drawingml/2006/main">
              <a:ext uri="{FF2B5EF4-FFF2-40B4-BE49-F238E27FC236}">
                <a16:creationId xmlns:a16="http://schemas.microsoft.com/office/drawing/2014/main" id="{8AE70BF8-79F3-4F43-94B7-87B28E62B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714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AF3FF"/>
          </a:solidFill>
        </p:spPr>
      </p:sp>
      <p:sp>
        <p:nvSpPr>
          <p:cNvPr id="18" name="timeline-dot-core-2">
            <a:extLst xmlns:a="http://schemas.openxmlformats.org/drawingml/2006/main">
              <a:ext uri="{FF2B5EF4-FFF2-40B4-BE49-F238E27FC236}">
                <a16:creationId xmlns:a16="http://schemas.microsoft.com/office/drawing/2014/main" id="{BAE89546-87D0-4934-B6F6-FEDDB0E04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38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D8DFF"/>
          </a:solidFill>
        </p:spPr>
      </p:sp>
      <p:sp>
        <p:nvSpPr>
          <p:cNvPr id="19" name="timeline-period-2">
            <a:extLst xmlns:a="http://schemas.openxmlformats.org/drawingml/2006/main">
              <a:ext uri="{FF2B5EF4-FFF2-40B4-BE49-F238E27FC236}">
                <a16:creationId xmlns:a16="http://schemas.microsoft.com/office/drawing/2014/main" id="{F2AEC194-BAEB-42CC-827A-62F19AD48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2383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9E0"/>
                </a:solidFill>
                <a:latin typeface="Arial"/>
                <a:ea typeface="Arial"/>
                <a:cs typeface="Arial"/>
              </a:defRPr>
            </a:pPr>
            <a:r>
              <a:t>2025</a:t>
            </a:r>
          </a:p>
        </p:txBody>
      </p:sp>
      <p:sp>
        <p:nvSpPr>
          <p:cNvPr id="20" name="timeline-org-2">
            <a:extLst xmlns:a="http://schemas.openxmlformats.org/drawingml/2006/main">
              <a:ext uri="{FF2B5EF4-FFF2-40B4-BE49-F238E27FC236}">
                <a16:creationId xmlns:a16="http://schemas.microsoft.com/office/drawing/2014/main" id="{47606A67-6237-4CCF-9FB9-AB4EB2080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4327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Garda Abdi Negara</a:t>
            </a:r>
          </a:p>
        </p:txBody>
      </p:sp>
      <p:sp>
        <p:nvSpPr>
          <p:cNvPr id="21" name="timeline-role-2">
            <a:extLst xmlns:a="http://schemas.openxmlformats.org/drawingml/2006/main">
              <a:ext uri="{FF2B5EF4-FFF2-40B4-BE49-F238E27FC236}">
                <a16:creationId xmlns:a16="http://schemas.microsoft.com/office/drawing/2014/main" id="{06FEB51F-F9A7-40FD-90DB-A10A12B7B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71925"/>
            <a:ext cx="238125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Database Engineer</a:t>
            </a:r>
          </a:p>
        </p:txBody>
      </p:sp>
      <p:sp>
        <p:nvSpPr>
          <p:cNvPr id="22" name="timeline-result-2">
            <a:extLst xmlns:a="http://schemas.openxmlformats.org/drawingml/2006/main">
              <a:ext uri="{FF2B5EF4-FFF2-40B4-BE49-F238E27FC236}">
                <a16:creationId xmlns:a16="http://schemas.microsoft.com/office/drawing/2014/main" id="{53A83A50-4CAC-48DA-B565-EFC710B1C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69582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10K+ questions · 75% faster processing</a:t>
            </a:r>
          </a:p>
        </p:txBody>
      </p:sp>
      <p:sp>
        <p:nvSpPr>
          <p:cNvPr id="23" name="timeline-dot-3">
            <a:extLst xmlns:a="http://schemas.openxmlformats.org/drawingml/2006/main">
              <a:ext uri="{FF2B5EF4-FFF2-40B4-BE49-F238E27FC236}">
                <a16:creationId xmlns:a16="http://schemas.microsoft.com/office/drawing/2014/main" id="{E131A8C6-BF10-44B1-B84E-A8A4A1841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714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3D8DFF"/>
          </a:solidFill>
        </p:spPr>
      </p:sp>
      <p:sp>
        <p:nvSpPr>
          <p:cNvPr id="24" name="timeline-dot-core-3">
            <a:extLst xmlns:a="http://schemas.openxmlformats.org/drawingml/2006/main">
              <a:ext uri="{FF2B5EF4-FFF2-40B4-BE49-F238E27FC236}">
                <a16:creationId xmlns:a16="http://schemas.microsoft.com/office/drawing/2014/main" id="{E01E0D76-311C-47DB-93D5-D38277A02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838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25" name="timeline-period-3">
            <a:extLst xmlns:a="http://schemas.openxmlformats.org/drawingml/2006/main">
              <a:ext uri="{FF2B5EF4-FFF2-40B4-BE49-F238E27FC236}">
                <a16:creationId xmlns:a16="http://schemas.microsoft.com/office/drawing/2014/main" id="{54CFA38E-B62A-47CC-88D4-9672ECE13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2383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9E0"/>
                </a:solidFill>
                <a:latin typeface="Arial"/>
                <a:ea typeface="Arial"/>
                <a:cs typeface="Arial"/>
              </a:defRPr>
            </a:pPr>
            <a:r>
              <a:t>2025–now</a:t>
            </a:r>
          </a:p>
        </p:txBody>
      </p:sp>
      <p:sp>
        <p:nvSpPr>
          <p:cNvPr id="26" name="timeline-org-3">
            <a:extLst xmlns:a="http://schemas.openxmlformats.org/drawingml/2006/main">
              <a:ext uri="{FF2B5EF4-FFF2-40B4-BE49-F238E27FC236}">
                <a16:creationId xmlns:a16="http://schemas.microsoft.com/office/drawing/2014/main" id="{95E59926-B0C5-455F-88FA-74287E172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4327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Cerebrum</a:t>
            </a:r>
          </a:p>
        </p:txBody>
      </p:sp>
      <p:sp>
        <p:nvSpPr>
          <p:cNvPr id="27" name="timeline-role-3">
            <a:extLst xmlns:a="http://schemas.openxmlformats.org/drawingml/2006/main">
              <a:ext uri="{FF2B5EF4-FFF2-40B4-BE49-F238E27FC236}">
                <a16:creationId xmlns:a16="http://schemas.microsoft.com/office/drawing/2014/main" id="{460084C6-1C44-46F5-9121-DC4B26718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971925"/>
            <a:ext cx="238125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Data Analyst</a:t>
            </a:r>
          </a:p>
        </p:txBody>
      </p:sp>
      <p:sp>
        <p:nvSpPr>
          <p:cNvPr id="28" name="timeline-result-3">
            <a:extLst xmlns:a="http://schemas.openxmlformats.org/drawingml/2006/main">
              <a:ext uri="{FF2B5EF4-FFF2-40B4-BE49-F238E27FC236}">
                <a16:creationId xmlns:a16="http://schemas.microsoft.com/office/drawing/2014/main" id="{ABD285C2-6933-49B9-B6E3-4A20A85AE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69582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MySQL ETL · Power BI KPI systems</a:t>
            </a:r>
          </a:p>
        </p:txBody>
      </p:sp>
      <p:sp>
        <p:nvSpPr>
          <p:cNvPr id="29" name="footer-line-4">
            <a:extLst xmlns:a="http://schemas.openxmlformats.org/drawingml/2006/main">
              <a:ext uri="{FF2B5EF4-FFF2-40B4-BE49-F238E27FC236}">
                <a16:creationId xmlns:a16="http://schemas.microsoft.com/office/drawing/2014/main" id="{1AD27370-21AB-428C-A384-EC1F54246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10553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9"/>
          </a:solidFill>
        </p:spPr>
      </p:sp>
      <p:sp>
        <p:nvSpPr>
          <p:cNvPr id="30" name="footer-name-4">
            <a:extLst xmlns:a="http://schemas.openxmlformats.org/drawingml/2006/main">
              <a:ext uri="{FF2B5EF4-FFF2-40B4-BE49-F238E27FC236}">
                <a16:creationId xmlns:a16="http://schemas.microsoft.com/office/drawing/2014/main" id="{64D865C2-FEEC-4228-A97E-36BE4E689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MUHAMMAD ALI AKBAR AL-QAHRI  /  DATA PORTFOLIO</a:t>
            </a:r>
          </a:p>
        </p:txBody>
      </p:sp>
      <p:sp>
        <p:nvSpPr>
          <p:cNvPr id="31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9015D369-03E1-4ED7-AFDC-E234DDC4B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27478979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05-pddikti-canvas">
            <a:extLst xmlns:a="http://schemas.openxmlformats.org/drawingml/2006/main">
              <a:ext uri="{FF2B5EF4-FFF2-40B4-BE49-F238E27FC236}">
                <a16:creationId xmlns:a16="http://schemas.microsoft.com/office/drawing/2014/main" id="{585B598C-F988-47D5-B16F-34227E94D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2" name="eyebrow-5">
            <a:extLst xmlns:a="http://schemas.openxmlformats.org/drawingml/2006/main">
              <a:ext uri="{FF2B5EF4-FFF2-40B4-BE49-F238E27FC236}">
                <a16:creationId xmlns:a16="http://schemas.microsoft.com/office/drawing/2014/main" id="{54609DC5-5D80-483B-9ADC-7BB97706E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69E0"/>
                </a:solidFill>
                <a:latin typeface="Arial"/>
                <a:ea typeface="Arial"/>
                <a:cs typeface="Arial"/>
              </a:defRPr>
            </a:pPr>
            <a:r>
              <a:t>FLAGSHIP PRODUCT</a:t>
            </a:r>
          </a:p>
        </p:txBody>
      </p:sp>
      <p:sp>
        <p:nvSpPr>
          <p:cNvPr id="3" name="title-5">
            <a:extLst xmlns:a="http://schemas.openxmlformats.org/drawingml/2006/main">
              <a:ext uri="{FF2B5EF4-FFF2-40B4-BE49-F238E27FC236}">
                <a16:creationId xmlns:a16="http://schemas.microsoft.com/office/drawing/2014/main" id="{8B6D3714-5426-4350-B282-6071B153C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3023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PDDIKTI turns fragmented education data into a national map.</a:t>
            </a:r>
          </a:p>
        </p:txBody>
      </p:sp>
      <p:sp>
        <p:nvSpPr>
          <p:cNvPr id="4" name="pddikti-copy">
            <a:extLst xmlns:a="http://schemas.openxmlformats.org/drawingml/2006/main">
              <a:ext uri="{FF2B5EF4-FFF2-40B4-BE49-F238E27FC236}">
                <a16:creationId xmlns:a16="http://schemas.microsoft.com/office/drawing/2014/main" id="{1DA15CE5-9910-4298-AA3B-C925839B7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114550"/>
            <a:ext cx="4019550" cy="971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A public exploration product for comparing higher-education coverage across provinces and cities—supported by explicit data-quality checks.</a:t>
            </a:r>
          </a:p>
        </p:txBody>
      </p:sp>
      <p:sp>
        <p:nvSpPr>
          <p:cNvPr id="5" name="pddikti-pill-bg">
            <a:extLst xmlns:a="http://schemas.openxmlformats.org/drawingml/2006/main">
              <a:ext uri="{FF2B5EF4-FFF2-40B4-BE49-F238E27FC236}">
                <a16:creationId xmlns:a16="http://schemas.microsoft.com/office/drawing/2014/main" id="{83DDCD15-9C43-4C51-8051-C50B2F9A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333750"/>
            <a:ext cx="16573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AF3FF"/>
          </a:solidFill>
        </p:spPr>
      </p:sp>
      <p:sp>
        <p:nvSpPr>
          <p:cNvPr id="6" name="pddikti-pill-text">
            <a:extLst xmlns:a="http://schemas.openxmlformats.org/drawingml/2006/main">
              <a:ext uri="{FF2B5EF4-FFF2-40B4-BE49-F238E27FC236}">
                <a16:creationId xmlns:a16="http://schemas.microsoft.com/office/drawing/2014/main" id="{F497C7BE-B29F-4BD3-9B12-5A35EDB85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00425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573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69E0"/>
                </a:solidFill>
                <a:latin typeface="Arial"/>
                <a:ea typeface="Arial"/>
                <a:cs typeface="Arial"/>
              </a:defRPr>
            </a:pPr>
            <a:r>
              <a:t>DEPLOYED WEB APP</a:t>
            </a:r>
          </a:p>
        </p:txBody>
      </p:sp>
      <p:sp>
        <p:nvSpPr>
          <p:cNvPr id="7" name="pddikti-metric-1">
            <a:extLst xmlns:a="http://schemas.openxmlformats.org/drawingml/2006/main">
              <a:ext uri="{FF2B5EF4-FFF2-40B4-BE49-F238E27FC236}">
                <a16:creationId xmlns:a16="http://schemas.microsoft.com/office/drawing/2014/main" id="{14E01DD3-C529-4755-BBEF-78185BB9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010025"/>
            <a:ext cx="1714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5,433</a:t>
            </a:r>
          </a:p>
        </p:txBody>
      </p:sp>
      <p:sp>
        <p:nvSpPr>
          <p:cNvPr id="8" name="pddikti-label-1">
            <a:extLst xmlns:a="http://schemas.openxmlformats.org/drawingml/2006/main">
              <a:ext uri="{FF2B5EF4-FFF2-40B4-BE49-F238E27FC236}">
                <a16:creationId xmlns:a16="http://schemas.microsoft.com/office/drawing/2014/main" id="{99DBA529-70AB-4B45-AFD7-503D57FB8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3867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institutions</a:t>
            </a:r>
          </a:p>
        </p:txBody>
      </p:sp>
      <p:sp>
        <p:nvSpPr>
          <p:cNvPr id="9" name="pddikti-metric-2">
            <a:extLst xmlns:a="http://schemas.openxmlformats.org/drawingml/2006/main">
              <a:ext uri="{FF2B5EF4-FFF2-40B4-BE49-F238E27FC236}">
                <a16:creationId xmlns:a16="http://schemas.microsoft.com/office/drawing/2014/main" id="{37A16DD5-5583-46CC-BDAA-B290B9CFC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010025"/>
            <a:ext cx="1000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38</a:t>
            </a:r>
          </a:p>
        </p:txBody>
      </p:sp>
      <p:sp>
        <p:nvSpPr>
          <p:cNvPr id="10" name="pddikti-label-2">
            <a:extLst xmlns:a="http://schemas.openxmlformats.org/drawingml/2006/main">
              <a:ext uri="{FF2B5EF4-FFF2-40B4-BE49-F238E27FC236}">
                <a16:creationId xmlns:a16="http://schemas.microsoft.com/office/drawing/2014/main" id="{6FC997B5-234C-4CDD-90F5-E6BA96A7A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638675"/>
            <a:ext cx="9525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provinces</a:t>
            </a:r>
          </a:p>
        </p:txBody>
      </p:sp>
      <p:sp>
        <p:nvSpPr>
          <p:cNvPr id="11" name="pddikti-metric-3">
            <a:extLst xmlns:a="http://schemas.openxmlformats.org/drawingml/2006/main">
              <a:ext uri="{FF2B5EF4-FFF2-40B4-BE49-F238E27FC236}">
                <a16:creationId xmlns:a16="http://schemas.microsoft.com/office/drawing/2014/main" id="{C4228B18-6998-4FB8-B8D9-6D47A0274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010025"/>
            <a:ext cx="1000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34</a:t>
            </a:r>
          </a:p>
        </p:txBody>
      </p:sp>
      <p:sp>
        <p:nvSpPr>
          <p:cNvPr id="12" name="pddikti-label-3">
            <a:extLst xmlns:a="http://schemas.openxmlformats.org/drawingml/2006/main">
              <a:ext uri="{FF2B5EF4-FFF2-40B4-BE49-F238E27FC236}">
                <a16:creationId xmlns:a16="http://schemas.microsoft.com/office/drawing/2014/main" id="{E1793B3D-328A-4603-A614-205C5D580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638675"/>
            <a:ext cx="11049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quality checks</a:t>
            </a:r>
          </a:p>
        </p:txBody>
      </p:sp>
      <p:sp>
        <p:nvSpPr>
          <p:cNvPr id="13" name="pddikti-frame">
            <a:extLst xmlns:a="http://schemas.openxmlformats.org/drawingml/2006/main">
              <a:ext uri="{FF2B5EF4-FFF2-40B4-BE49-F238E27FC236}">
                <a16:creationId xmlns:a16="http://schemas.microsoft.com/office/drawing/2014/main" id="{53E946DA-FE02-44E9-8C6E-85A0ACFD0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952625"/>
            <a:ext cx="6953250" cy="3981450"/>
          </a:xfrm>
          <a:prstGeom xmlns:a="http://schemas.openxmlformats.org/drawingml/2006/main" prst="roundRect">
            <a:avLst>
              <a:gd name="adj" fmla="val 1914"/>
            </a:avLst>
          </a:prstGeom>
          <a:solidFill xmlns:a="http://schemas.openxmlformats.org/drawingml/2006/main">
            <a:srgbClr val="F3F6FA"/>
          </a:solidFill>
        </p:spPr>
      </p:sp>
      <p:sp>
        <p:nvSpPr>
          <p:cNvPr id="14" name="pddikti-url">
            <a:extLst xmlns:a="http://schemas.openxmlformats.org/drawingml/2006/main">
              <a:ext uri="{FF2B5EF4-FFF2-40B4-BE49-F238E27FC236}">
                <a16:creationId xmlns:a16="http://schemas.microsoft.com/office/drawing/2014/main" id="{FCACA772-FE94-4976-8230-82C47580C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6057900"/>
            <a:ext cx="6667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769E0"/>
                </a:solidFill>
                <a:latin typeface="Arial"/>
                <a:ea typeface="Arial"/>
                <a:cs typeface="Arial"/>
              </a:defRPr>
            </a:pPr>
            <a:r>
              <a:t>perguruan-tinggi-indonesia-nu.vercel.app</a:t>
            </a:r>
          </a:p>
        </p:txBody>
      </p:sp>
      <p:sp>
        <p:nvSpPr>
          <p:cNvPr id="15" name="footer-line-5">
            <a:extLst xmlns:a="http://schemas.openxmlformats.org/drawingml/2006/main">
              <a:ext uri="{FF2B5EF4-FFF2-40B4-BE49-F238E27FC236}">
                <a16:creationId xmlns:a16="http://schemas.microsoft.com/office/drawing/2014/main" id="{2F2AB097-2F88-40E6-A3CB-5F29857DF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10553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9"/>
          </a:solidFill>
        </p:spPr>
      </p:sp>
      <p:sp>
        <p:nvSpPr>
          <p:cNvPr id="16" name="footer-name-5">
            <a:extLst xmlns:a="http://schemas.openxmlformats.org/drawingml/2006/main">
              <a:ext uri="{FF2B5EF4-FFF2-40B4-BE49-F238E27FC236}">
                <a16:creationId xmlns:a16="http://schemas.microsoft.com/office/drawing/2014/main" id="{D3F3A40D-A46F-4A4B-9079-7CD4C7E1E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MUHAMMAD ALI AKBAR AL-QAHRI  /  DATA PORTFOLIO</a:t>
            </a:r>
          </a:p>
        </p:txBody>
      </p:sp>
      <p:sp>
        <p:nvSpPr>
          <p:cNvPr id="17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3265C82B-0BA4-43FD-B783-8682F9B3A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05</a:t>
            </a:r>
          </a:p>
        </p:txBody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0a8e10c76a4f7d"/>
          <a:srcRect xmlns:a="http://schemas.openxmlformats.org/drawingml/2006/main" l="0" t="874" r="0" b="8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72050" y="2105025"/>
            <a:ext cx="6648450" cy="36766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15036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06-decision-products-canvas">
            <a:extLst xmlns:a="http://schemas.openxmlformats.org/drawingml/2006/main">
              <a:ext uri="{FF2B5EF4-FFF2-40B4-BE49-F238E27FC236}">
                <a16:creationId xmlns:a16="http://schemas.microsoft.com/office/drawing/2014/main" id="{27F2E4EA-0C5D-4D6B-88B8-BDDBD874A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2" name="eyebrow-6">
            <a:extLst xmlns:a="http://schemas.openxmlformats.org/drawingml/2006/main">
              <a:ext uri="{FF2B5EF4-FFF2-40B4-BE49-F238E27FC236}">
                <a16:creationId xmlns:a16="http://schemas.microsoft.com/office/drawing/2014/main" id="{3630F324-8DBC-4696-8421-46C1360D1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69E0"/>
                </a:solidFill>
                <a:latin typeface="Arial"/>
                <a:ea typeface="Arial"/>
                <a:cs typeface="Arial"/>
              </a:defRPr>
            </a:pPr>
            <a:r>
              <a:t>DECISION PRODUCTS</a:t>
            </a:r>
          </a:p>
        </p:txBody>
      </p:sp>
      <p:sp>
        <p:nvSpPr>
          <p:cNvPr id="3" name="title-6">
            <a:extLst xmlns:a="http://schemas.openxmlformats.org/drawingml/2006/main">
              <a:ext uri="{FF2B5EF4-FFF2-40B4-BE49-F238E27FC236}">
                <a16:creationId xmlns:a16="http://schemas.microsoft.com/office/drawing/2014/main" id="{3A517EDB-B548-4B88-BEF0-135C351FC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3023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Two deployed apps convert complex choices into guided analysis.</a:t>
            </a:r>
          </a:p>
        </p:txBody>
      </p:sp>
      <p:sp>
        <p:nvSpPr>
          <p:cNvPr id="4" name="planner-frame">
            <a:extLst xmlns:a="http://schemas.openxmlformats.org/drawingml/2006/main">
              <a:ext uri="{FF2B5EF4-FFF2-40B4-BE49-F238E27FC236}">
                <a16:creationId xmlns:a16="http://schemas.microsoft.com/office/drawing/2014/main" id="{71B533CF-4179-4B2E-84ED-5278643E9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5486400" cy="2886075"/>
          </a:xfrm>
          <a:prstGeom xmlns:a="http://schemas.openxmlformats.org/drawingml/2006/main" prst="roundRect">
            <a:avLst>
              <a:gd name="adj" fmla="val 2640"/>
            </a:avLst>
          </a:prstGeom>
          <a:solidFill xmlns:a="http://schemas.openxmlformats.org/drawingml/2006/main">
            <a:srgbClr val="F3F6FA"/>
          </a:solidFill>
        </p:spPr>
      </p:sp>
      <p:sp>
        <p:nvSpPr>
          <p:cNvPr id="5" name="snpmb-frame">
            <a:extLst xmlns:a="http://schemas.openxmlformats.org/drawingml/2006/main">
              <a:ext uri="{FF2B5EF4-FFF2-40B4-BE49-F238E27FC236}">
                <a16:creationId xmlns:a16="http://schemas.microsoft.com/office/drawing/2014/main" id="{CCD9C7D2-C075-4673-BEEC-DFB09D0DC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52625"/>
            <a:ext cx="5486400" cy="2886075"/>
          </a:xfrm>
          <a:prstGeom xmlns:a="http://schemas.openxmlformats.org/drawingml/2006/main" prst="roundRect">
            <a:avLst>
              <a:gd name="adj" fmla="val 2640"/>
            </a:avLst>
          </a:prstGeom>
          <a:solidFill xmlns:a="http://schemas.openxmlformats.org/drawingml/2006/main">
            <a:srgbClr val="F3F6FA"/>
          </a:solidFill>
        </p:spPr>
      </p:sp>
      <p:sp>
        <p:nvSpPr>
          <p:cNvPr id="6" name="planner-title">
            <a:extLst xmlns:a="http://schemas.openxmlformats.org/drawingml/2006/main">
              <a:ext uri="{FF2B5EF4-FFF2-40B4-BE49-F238E27FC236}">
                <a16:creationId xmlns:a16="http://schemas.microsoft.com/office/drawing/2014/main" id="{D365A9AC-9884-44F5-A1D4-FED13C0C1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76825"/>
            <a:ext cx="3714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Financial Planner</a:t>
            </a:r>
          </a:p>
        </p:txBody>
      </p:sp>
      <p:sp>
        <p:nvSpPr>
          <p:cNvPr id="7" name="planner-body">
            <a:extLst xmlns:a="http://schemas.openxmlformats.org/drawingml/2006/main">
              <a:ext uri="{FF2B5EF4-FFF2-40B4-BE49-F238E27FC236}">
                <a16:creationId xmlns:a16="http://schemas.microsoft.com/office/drawing/2014/main" id="{65FF7B0A-88BB-4DC1-97D7-E8ACFC6D3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76875"/>
            <a:ext cx="5143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Scenario-based financial planning with actionable summaries.</a:t>
            </a:r>
          </a:p>
        </p:txBody>
      </p:sp>
      <p:sp>
        <p:nvSpPr>
          <p:cNvPr id="8" name="planner-tech-bg">
            <a:extLst xmlns:a="http://schemas.openxmlformats.org/drawingml/2006/main">
              <a:ext uri="{FF2B5EF4-FFF2-40B4-BE49-F238E27FC236}">
                <a16:creationId xmlns:a16="http://schemas.microsoft.com/office/drawing/2014/main" id="{87424682-FB64-47EA-8E4E-42B45CE02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038725"/>
            <a:ext cx="1257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AF3FF"/>
          </a:solidFill>
        </p:spPr>
      </p:sp>
      <p:sp>
        <p:nvSpPr>
          <p:cNvPr id="9" name="planner-tech-text">
            <a:extLst xmlns:a="http://schemas.openxmlformats.org/drawingml/2006/main">
              <a:ext uri="{FF2B5EF4-FFF2-40B4-BE49-F238E27FC236}">
                <a16:creationId xmlns:a16="http://schemas.microsoft.com/office/drawing/2014/main" id="{85402DDB-C532-4269-BA01-AED943C90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5105400"/>
            <a:ext cx="1028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69E0"/>
                </a:solidFill>
                <a:latin typeface="Arial"/>
                <a:ea typeface="Arial"/>
                <a:cs typeface="Arial"/>
              </a:defRPr>
            </a:pPr>
            <a:r>
              <a:t>STREAMLIT</a:t>
            </a:r>
          </a:p>
        </p:txBody>
      </p:sp>
      <p:sp>
        <p:nvSpPr>
          <p:cNvPr id="10" name="snpmb-title">
            <a:extLst xmlns:a="http://schemas.openxmlformats.org/drawingml/2006/main">
              <a:ext uri="{FF2B5EF4-FFF2-40B4-BE49-F238E27FC236}">
                <a16:creationId xmlns:a16="http://schemas.microsoft.com/office/drawing/2014/main" id="{34CA870D-0DAD-4823-963E-376B1708E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076825"/>
            <a:ext cx="3714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SNPMB Analyst</a:t>
            </a:r>
          </a:p>
        </p:txBody>
      </p:sp>
      <p:sp>
        <p:nvSpPr>
          <p:cNvPr id="11" name="snpmb-body">
            <a:extLst xmlns:a="http://schemas.openxmlformats.org/drawingml/2006/main">
              <a:ext uri="{FF2B5EF4-FFF2-40B4-BE49-F238E27FC236}">
                <a16:creationId xmlns:a16="http://schemas.microsoft.com/office/drawing/2014/main" id="{A3F6CB97-5BC9-4AEB-ABBD-A1444099A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476875"/>
            <a:ext cx="5143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Exploration and comparison for Indonesia’s university admission pathway.</a:t>
            </a:r>
          </a:p>
        </p:txBody>
      </p:sp>
      <p:sp>
        <p:nvSpPr>
          <p:cNvPr id="12" name="snpmb-tech-bg">
            <a:extLst xmlns:a="http://schemas.openxmlformats.org/drawingml/2006/main">
              <a:ext uri="{FF2B5EF4-FFF2-40B4-BE49-F238E27FC236}">
                <a16:creationId xmlns:a16="http://schemas.microsoft.com/office/drawing/2014/main" id="{9F258929-1B03-4C97-A39B-B9A8B9D30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5038725"/>
            <a:ext cx="1257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AF3FF"/>
          </a:solidFill>
        </p:spPr>
      </p:sp>
      <p:sp>
        <p:nvSpPr>
          <p:cNvPr id="13" name="snpmb-tech-text">
            <a:extLst xmlns:a="http://schemas.openxmlformats.org/drawingml/2006/main">
              <a:ext uri="{FF2B5EF4-FFF2-40B4-BE49-F238E27FC236}">
                <a16:creationId xmlns:a16="http://schemas.microsoft.com/office/drawing/2014/main" id="{A4B4EC6D-1534-445F-A32E-616088DA4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5105400"/>
            <a:ext cx="1028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69E0"/>
                </a:solidFill>
                <a:latin typeface="Arial"/>
                <a:ea typeface="Arial"/>
                <a:cs typeface="Arial"/>
              </a:defRPr>
            </a:pPr>
            <a:r>
              <a:t>STREAMLIT</a:t>
            </a:r>
          </a:p>
        </p:txBody>
      </p:sp>
      <p:sp>
        <p:nvSpPr>
          <p:cNvPr id="14" name="footer-line-6">
            <a:extLst xmlns:a="http://schemas.openxmlformats.org/drawingml/2006/main">
              <a:ext uri="{FF2B5EF4-FFF2-40B4-BE49-F238E27FC236}">
                <a16:creationId xmlns:a16="http://schemas.microsoft.com/office/drawing/2014/main" id="{96F8BE65-DE51-42E1-B2C9-989EE2B4A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10553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9"/>
          </a:solidFill>
        </p:spPr>
      </p:sp>
      <p:sp>
        <p:nvSpPr>
          <p:cNvPr id="15" name="footer-name-6">
            <a:extLst xmlns:a="http://schemas.openxmlformats.org/drawingml/2006/main">
              <a:ext uri="{FF2B5EF4-FFF2-40B4-BE49-F238E27FC236}">
                <a16:creationId xmlns:a16="http://schemas.microsoft.com/office/drawing/2014/main" id="{30982FCA-3648-4EB8-836D-027A2DA63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MUHAMMAD ALI AKBAR AL-QAHRI  /  DATA PORTFOLIO</a:t>
            </a:r>
          </a:p>
        </p:txBody>
      </p:sp>
      <p:sp>
        <p:nvSpPr>
          <p:cNvPr id="16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BAA3FF95-DF48-4920-89AF-31E431633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06</a:t>
            </a:r>
          </a:p>
        </p:txBody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18fd157f5e4695"/>
          <a:srcRect xmlns:a="http://schemas.openxmlformats.org/drawingml/2006/main" l="0" t="5719" r="0" b="57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105025"/>
            <a:ext cx="5181600" cy="2581275"/>
          </a:xfrm>
          <a:prstGeom xmlns:a="http://schemas.openxmlformats.org/drawingml/2006/main" prst="rect">
            <a:avLst/>
          </a:prstGeom>
        </p:spPr>
      </p:pic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a1ce6cf5cb4846"/>
          <a:srcRect xmlns:a="http://schemas.openxmlformats.org/drawingml/2006/main" l="0" t="5719" r="0" b="57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57950" y="2105025"/>
            <a:ext cx="5181600" cy="25812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6289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07-market-products-canvas">
            <a:extLst xmlns:a="http://schemas.openxmlformats.org/drawingml/2006/main">
              <a:ext uri="{FF2B5EF4-FFF2-40B4-BE49-F238E27FC236}">
                <a16:creationId xmlns:a16="http://schemas.microsoft.com/office/drawing/2014/main" id="{799DB8C5-A79A-4216-89B4-7B6A06579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2" name="eyebrow-7">
            <a:extLst xmlns:a="http://schemas.openxmlformats.org/drawingml/2006/main">
              <a:ext uri="{FF2B5EF4-FFF2-40B4-BE49-F238E27FC236}">
                <a16:creationId xmlns:a16="http://schemas.microsoft.com/office/drawing/2014/main" id="{12CD01FB-3844-4FB5-9CAF-BB61139D2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69E0"/>
                </a:solidFill>
                <a:latin typeface="Arial"/>
                <a:ea typeface="Arial"/>
                <a:cs typeface="Arial"/>
              </a:defRPr>
            </a:pPr>
            <a:r>
              <a:t>MARKET INTELLIGENCE</a:t>
            </a:r>
          </a:p>
        </p:txBody>
      </p:sp>
      <p:sp>
        <p:nvSpPr>
          <p:cNvPr id="3" name="title-7">
            <a:extLst xmlns:a="http://schemas.openxmlformats.org/drawingml/2006/main">
              <a:ext uri="{FF2B5EF4-FFF2-40B4-BE49-F238E27FC236}">
                <a16:creationId xmlns:a16="http://schemas.microsoft.com/office/drawing/2014/main" id="{9EB9F259-33AA-4646-8E1D-CD5D26458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3023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Financial-market analysis becomes easier when the product leads the user.</a:t>
            </a:r>
          </a:p>
        </p:txBody>
      </p:sp>
      <p:sp>
        <p:nvSpPr>
          <p:cNvPr id="4" name="market-left-panel">
            <a:extLst xmlns:a="http://schemas.openxmlformats.org/drawingml/2006/main">
              <a:ext uri="{FF2B5EF4-FFF2-40B4-BE49-F238E27FC236}">
                <a16:creationId xmlns:a16="http://schemas.microsoft.com/office/drawing/2014/main" id="{494BF6A5-58EF-42FB-9874-069B70E9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19300"/>
            <a:ext cx="5334000" cy="3857625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F3F6FA"/>
          </a:solidFill>
        </p:spPr>
      </p:sp>
      <p:sp>
        <p:nvSpPr>
          <p:cNvPr id="5" name="market-right-panel">
            <a:extLst xmlns:a="http://schemas.openxmlformats.org/drawingml/2006/main">
              <a:ext uri="{FF2B5EF4-FFF2-40B4-BE49-F238E27FC236}">
                <a16:creationId xmlns:a16="http://schemas.microsoft.com/office/drawing/2014/main" id="{4B144D87-CF09-4722-B2DB-4C17BD844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19300"/>
            <a:ext cx="5715000" cy="3857625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F3F6FA"/>
          </a:solidFill>
        </p:spPr>
      </p:sp>
      <p:sp>
        <p:nvSpPr>
          <p:cNvPr id="6" name="ipo-eyebrow">
            <a:extLst xmlns:a="http://schemas.openxmlformats.org/drawingml/2006/main">
              <a:ext uri="{FF2B5EF4-FFF2-40B4-BE49-F238E27FC236}">
                <a16:creationId xmlns:a16="http://schemas.microsoft.com/office/drawing/2014/main" id="{06B4C01D-735F-4A1D-87D1-9DEE9207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66950"/>
            <a:ext cx="1714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69E0"/>
                </a:solidFill>
                <a:latin typeface="Arial"/>
                <a:ea typeface="Arial"/>
                <a:cs typeface="Arial"/>
              </a:defRPr>
            </a:pPr>
            <a:r>
              <a:t>IPO TERMINAL</a:t>
            </a:r>
          </a:p>
        </p:txBody>
      </p:sp>
      <p:sp>
        <p:nvSpPr>
          <p:cNvPr id="7" name="ipo-title">
            <a:extLst xmlns:a="http://schemas.openxmlformats.org/drawingml/2006/main">
              <a:ext uri="{FF2B5EF4-FFF2-40B4-BE49-F238E27FC236}">
                <a16:creationId xmlns:a16="http://schemas.microsoft.com/office/drawing/2014/main" id="{4BE5D4F7-634D-46B9-9167-2CF0698CB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00325"/>
            <a:ext cx="447675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Screen new listings
with a focused workflow.</a:t>
            </a:r>
          </a:p>
        </p:txBody>
      </p:sp>
      <p:sp>
        <p:nvSpPr>
          <p:cNvPr id="8" name="ipo-copy">
            <a:extLst xmlns:a="http://schemas.openxmlformats.org/drawingml/2006/main">
              <a:ext uri="{FF2B5EF4-FFF2-40B4-BE49-F238E27FC236}">
                <a16:creationId xmlns:a16="http://schemas.microsoft.com/office/drawing/2014/main" id="{F6F354F0-17B8-4B3F-8264-63AD006DD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05200"/>
            <a:ext cx="4572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A product view designed to reduce cognitive load while comparing IPO opportunities.</a:t>
            </a:r>
          </a:p>
        </p:txBody>
      </p:sp>
      <p:sp>
        <p:nvSpPr>
          <p:cNvPr id="9" name="ipo-url">
            <a:extLst xmlns:a="http://schemas.openxmlformats.org/drawingml/2006/main">
              <a:ext uri="{FF2B5EF4-FFF2-40B4-BE49-F238E27FC236}">
                <a16:creationId xmlns:a16="http://schemas.microsoft.com/office/drawing/2014/main" id="{3E6FAC3B-5D60-4A23-931A-2CC277A11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00700"/>
            <a:ext cx="2571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69E0"/>
                </a:solidFill>
                <a:latin typeface="Arial"/>
                <a:ea typeface="Arial"/>
                <a:cs typeface="Arial"/>
              </a:defRPr>
            </a:pPr>
            <a:r>
              <a:t>ypcemas.streamlit.app</a:t>
            </a:r>
          </a:p>
        </p:txBody>
      </p:sp>
      <p:sp>
        <p:nvSpPr>
          <p:cNvPr id="10" name="ihsg-eyebrow">
            <a:extLst xmlns:a="http://schemas.openxmlformats.org/drawingml/2006/main">
              <a:ext uri="{FF2B5EF4-FFF2-40B4-BE49-F238E27FC236}">
                <a16:creationId xmlns:a16="http://schemas.microsoft.com/office/drawing/2014/main" id="{F0CC1EB2-CF6F-4EF7-BC22-0D1A416B3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1714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2A36D"/>
                </a:solidFill>
                <a:latin typeface="Arial"/>
                <a:ea typeface="Arial"/>
                <a:cs typeface="Arial"/>
              </a:defRPr>
            </a:pPr>
            <a:r>
              <a:t>IHSG ANALYSIS</a:t>
            </a:r>
          </a:p>
        </p:txBody>
      </p:sp>
      <p:sp>
        <p:nvSpPr>
          <p:cNvPr id="11" name="ihsg-title">
            <a:extLst xmlns:a="http://schemas.openxmlformats.org/drawingml/2006/main">
              <a:ext uri="{FF2B5EF4-FFF2-40B4-BE49-F238E27FC236}">
                <a16:creationId xmlns:a16="http://schemas.microsoft.com/office/drawing/2014/main" id="{7E5DCB9C-0306-4F18-A02A-FAC3C1130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00325"/>
            <a:ext cx="495300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Explore market signals
in one visual workspace.</a:t>
            </a:r>
          </a:p>
        </p:txBody>
      </p:sp>
      <p:sp>
        <p:nvSpPr>
          <p:cNvPr id="12" name="ihsg-url">
            <a:extLst xmlns:a="http://schemas.openxmlformats.org/drawingml/2006/main">
              <a:ext uri="{FF2B5EF4-FFF2-40B4-BE49-F238E27FC236}">
                <a16:creationId xmlns:a16="http://schemas.microsoft.com/office/drawing/2014/main" id="{70DF4C1B-D695-48A3-9898-06490B24B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400675"/>
            <a:ext cx="2571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69E0"/>
                </a:solidFill>
                <a:latin typeface="Arial"/>
                <a:ea typeface="Arial"/>
                <a:cs typeface="Arial"/>
              </a:defRPr>
            </a:pPr>
            <a:r>
              <a:t>ypcsaham.streamlit.app</a:t>
            </a:r>
          </a:p>
        </p:txBody>
      </p:sp>
      <p:sp>
        <p:nvSpPr>
          <p:cNvPr id="13" name="footer-line-7">
            <a:extLst xmlns:a="http://schemas.openxmlformats.org/drawingml/2006/main">
              <a:ext uri="{FF2B5EF4-FFF2-40B4-BE49-F238E27FC236}">
                <a16:creationId xmlns:a16="http://schemas.microsoft.com/office/drawing/2014/main" id="{FBBDD721-2649-4FCF-8D12-30F4FFBDB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10553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9"/>
          </a:solidFill>
        </p:spPr>
      </p:sp>
      <p:sp>
        <p:nvSpPr>
          <p:cNvPr id="14" name="footer-name-7">
            <a:extLst xmlns:a="http://schemas.openxmlformats.org/drawingml/2006/main">
              <a:ext uri="{FF2B5EF4-FFF2-40B4-BE49-F238E27FC236}">
                <a16:creationId xmlns:a16="http://schemas.microsoft.com/office/drawing/2014/main" id="{C11BCAC0-4F07-4DC6-9A63-BEBFEC52D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MUHAMMAD ALI AKBAR AL-QAHRI  /  DATA PORTFOLIO</a:t>
            </a:r>
          </a:p>
        </p:txBody>
      </p:sp>
      <p:sp>
        <p:nvSpPr>
          <p:cNvPr id="15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8BB0E74C-8AB2-4E80-93C0-DB8F9790E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07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c0db0d3a4549ad"/>
          <a:srcRect xmlns:a="http://schemas.openxmlformats.org/drawingml/2006/main" l="0" t="22720" r="0" b="227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" y="4038600"/>
            <a:ext cx="4838700" cy="1485900"/>
          </a:xfrm>
          <a:prstGeom xmlns:a="http://schemas.openxmlformats.org/drawingml/2006/main" prst="rect">
            <a:avLst/>
          </a:prstGeom>
        </p:spPr>
      </p:pic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65082ce6974d6f"/>
          <a:srcRect xmlns:a="http://schemas.openxmlformats.org/drawingml/2006/main" l="0" t="22324" r="0" b="223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24600" y="3552825"/>
            <a:ext cx="5200650" cy="1619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558620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08-ml-evidence-canvas">
            <a:extLst xmlns:a="http://schemas.openxmlformats.org/drawingml/2006/main">
              <a:ext uri="{FF2B5EF4-FFF2-40B4-BE49-F238E27FC236}">
                <a16:creationId xmlns:a16="http://schemas.microsoft.com/office/drawing/2014/main" id="{A8156572-F02C-47E7-8BA7-13289E33B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2" name="eyebrow-8">
            <a:extLst xmlns:a="http://schemas.openxmlformats.org/drawingml/2006/main">
              <a:ext uri="{FF2B5EF4-FFF2-40B4-BE49-F238E27FC236}">
                <a16:creationId xmlns:a16="http://schemas.microsoft.com/office/drawing/2014/main" id="{9B23671A-B16B-4F35-A956-1F407A138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69E0"/>
                </a:solidFill>
                <a:latin typeface="Arial"/>
                <a:ea typeface="Arial"/>
                <a:cs typeface="Arial"/>
              </a:defRPr>
            </a:pPr>
            <a:r>
              <a:t>APPLIED MACHINE LEARNING</a:t>
            </a:r>
          </a:p>
        </p:txBody>
      </p:sp>
      <p:sp>
        <p:nvSpPr>
          <p:cNvPr id="3" name="title-8">
            <a:extLst xmlns:a="http://schemas.openxmlformats.org/drawingml/2006/main">
              <a:ext uri="{FF2B5EF4-FFF2-40B4-BE49-F238E27FC236}">
                <a16:creationId xmlns:a16="http://schemas.microsoft.com/office/drawing/2014/main" id="{D22E47F2-7403-4E83-8F5C-95797F5E4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3023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Model quality matters most when it supports a real decision.</a:t>
            </a:r>
          </a:p>
        </p:txBody>
      </p:sp>
      <p:sp>
        <p:nvSpPr>
          <p:cNvPr id="4" name="food-image-frame">
            <a:extLst xmlns:a="http://schemas.openxmlformats.org/drawingml/2006/main">
              <a:ext uri="{FF2B5EF4-FFF2-40B4-BE49-F238E27FC236}">
                <a16:creationId xmlns:a16="http://schemas.microsoft.com/office/drawing/2014/main" id="{A09E27BC-A9E5-4B09-99E8-753812B70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81200"/>
            <a:ext cx="619125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3F6FA"/>
          </a:solidFill>
        </p:spPr>
      </p:sp>
      <p:sp>
        <p:nvSpPr>
          <p:cNvPr id="5" name="food-metric-card">
            <a:extLst xmlns:a="http://schemas.openxmlformats.org/drawingml/2006/main">
              <a:ext uri="{FF2B5EF4-FFF2-40B4-BE49-F238E27FC236}">
                <a16:creationId xmlns:a16="http://schemas.microsoft.com/office/drawing/2014/main" id="{4B673F51-C53F-4CBB-A03E-3DE9D0547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981200"/>
            <a:ext cx="2286000" cy="1771650"/>
          </a:xfrm>
          <a:prstGeom xmlns:a="http://schemas.openxmlformats.org/drawingml/2006/main" prst="roundRect">
            <a:avLst>
              <a:gd name="adj" fmla="val 4301"/>
            </a:avLst>
          </a:prstGeom>
          <a:solidFill xmlns:a="http://schemas.openxmlformats.org/drawingml/2006/main">
            <a:srgbClr val="EAF3FF"/>
          </a:solidFill>
        </p:spPr>
      </p:sp>
      <p:sp>
        <p:nvSpPr>
          <p:cNvPr id="6" name="food-metric">
            <a:extLst xmlns:a="http://schemas.openxmlformats.org/drawingml/2006/main">
              <a:ext uri="{FF2B5EF4-FFF2-40B4-BE49-F238E27FC236}">
                <a16:creationId xmlns:a16="http://schemas.microsoft.com/office/drawing/2014/main" id="{3EAE5D22-0728-4243-85E4-45914078B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2305050"/>
            <a:ext cx="18097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975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85.1%</a:t>
            </a:r>
          </a:p>
        </p:txBody>
      </p:sp>
      <p:sp>
        <p:nvSpPr>
          <p:cNvPr id="7" name="food-metric-label">
            <a:extLst xmlns:a="http://schemas.openxmlformats.org/drawingml/2006/main">
              <a:ext uri="{FF2B5EF4-FFF2-40B4-BE49-F238E27FC236}">
                <a16:creationId xmlns:a16="http://schemas.microsoft.com/office/drawing/2014/main" id="{055FEBDA-E621-460E-8762-21A786C00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3105150"/>
            <a:ext cx="1809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R² across 34 provinces</a:t>
            </a:r>
          </a:p>
        </p:txBody>
      </p:sp>
      <p:sp>
        <p:nvSpPr>
          <p:cNvPr id="8" name="stock-metric-card">
            <a:extLst xmlns:a="http://schemas.openxmlformats.org/drawingml/2006/main">
              <a:ext uri="{FF2B5EF4-FFF2-40B4-BE49-F238E27FC236}">
                <a16:creationId xmlns:a16="http://schemas.microsoft.com/office/drawing/2014/main" id="{A1FAA8D5-678F-4CFC-AD96-88961B70A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981200"/>
            <a:ext cx="2381250" cy="1771650"/>
          </a:xfrm>
          <a:prstGeom xmlns:a="http://schemas.openxmlformats.org/drawingml/2006/main" prst="roundRect">
            <a:avLst>
              <a:gd name="adj" fmla="val 4301"/>
            </a:avLst>
          </a:prstGeom>
          <a:solidFill xmlns:a="http://schemas.openxmlformats.org/drawingml/2006/main">
            <a:srgbClr val="F3F6FA"/>
          </a:solidFill>
        </p:spPr>
      </p:sp>
      <p:sp>
        <p:nvSpPr>
          <p:cNvPr id="9" name="stock-metric">
            <a:extLst xmlns:a="http://schemas.openxmlformats.org/drawingml/2006/main">
              <a:ext uri="{FF2B5EF4-FFF2-40B4-BE49-F238E27FC236}">
                <a16:creationId xmlns:a16="http://schemas.microsoft.com/office/drawing/2014/main" id="{92F90E30-0C80-4DA9-97F5-AECE5ADA2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305050"/>
            <a:ext cx="18097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975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89%</a:t>
            </a:r>
          </a:p>
        </p:txBody>
      </p:sp>
      <p:sp>
        <p:nvSpPr>
          <p:cNvPr id="10" name="stock-metric-label">
            <a:extLst xmlns:a="http://schemas.openxmlformats.org/drawingml/2006/main">
              <a:ext uri="{FF2B5EF4-FFF2-40B4-BE49-F238E27FC236}">
                <a16:creationId xmlns:a16="http://schemas.microsoft.com/office/drawing/2014/main" id="{72B7EDA3-652C-40C6-BC58-9B35E544D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10515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6021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stock classification accuracy</a:t>
            </a:r>
          </a:p>
        </p:txBody>
      </p:sp>
      <p:sp>
        <p:nvSpPr>
          <p:cNvPr id="11" name="food-title">
            <a:extLst xmlns:a="http://schemas.openxmlformats.org/drawingml/2006/main">
              <a:ext uri="{FF2B5EF4-FFF2-40B4-BE49-F238E27FC236}">
                <a16:creationId xmlns:a16="http://schemas.microsoft.com/office/drawing/2014/main" id="{68404119-42EE-4D11-B8FA-52B50A2A3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105275"/>
            <a:ext cx="45529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Food Security Forecasting</a:t>
            </a:r>
          </a:p>
        </p:txBody>
      </p:sp>
      <p:sp>
        <p:nvSpPr>
          <p:cNvPr id="12" name="food-copy">
            <a:extLst xmlns:a="http://schemas.openxmlformats.org/drawingml/2006/main">
              <a:ext uri="{FF2B5EF4-FFF2-40B4-BE49-F238E27FC236}">
                <a16:creationId xmlns:a16="http://schemas.microsoft.com/office/drawing/2014/main" id="{8B381734-B53D-465D-9C47-46E3A40C6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552950"/>
            <a:ext cx="4619625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Forecasting highlights provinces needing closer attention and turns model output into a public-facing analytical tool.</a:t>
            </a:r>
          </a:p>
        </p:txBody>
      </p:sp>
      <p:sp>
        <p:nvSpPr>
          <p:cNvPr id="13" name="award-strip">
            <a:extLst xmlns:a="http://schemas.openxmlformats.org/drawingml/2006/main">
              <a:ext uri="{FF2B5EF4-FFF2-40B4-BE49-F238E27FC236}">
                <a16:creationId xmlns:a16="http://schemas.microsoft.com/office/drawing/2014/main" id="{0389B973-3BDC-433B-B423-748DD1EDA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5410200"/>
            <a:ext cx="48958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D8DFF"/>
          </a:solidFill>
        </p:spPr>
      </p:sp>
      <p:sp>
        <p:nvSpPr>
          <p:cNvPr id="14" name="award-text">
            <a:extLst xmlns:a="http://schemas.openxmlformats.org/drawingml/2006/main">
              <a:ext uri="{FF2B5EF4-FFF2-40B4-BE49-F238E27FC236}">
                <a16:creationId xmlns:a16="http://schemas.microsoft.com/office/drawing/2014/main" id="{B8C0F831-05B8-44AB-A450-FA18C8DCB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5543550"/>
            <a:ext cx="44577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BEST PAPER  ·  ICoDSA 2025</a:t>
            </a:r>
          </a:p>
        </p:txBody>
      </p:sp>
      <p:sp>
        <p:nvSpPr>
          <p:cNvPr id="15" name="footer-line-8">
            <a:extLst xmlns:a="http://schemas.openxmlformats.org/drawingml/2006/main">
              <a:ext uri="{FF2B5EF4-FFF2-40B4-BE49-F238E27FC236}">
                <a16:creationId xmlns:a16="http://schemas.microsoft.com/office/drawing/2014/main" id="{F8EB5624-C4AC-475F-8AD0-7D865C23C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10553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9"/>
          </a:solidFill>
        </p:spPr>
      </p:sp>
      <p:sp>
        <p:nvSpPr>
          <p:cNvPr id="16" name="footer-name-8">
            <a:extLst xmlns:a="http://schemas.openxmlformats.org/drawingml/2006/main">
              <a:ext uri="{FF2B5EF4-FFF2-40B4-BE49-F238E27FC236}">
                <a16:creationId xmlns:a16="http://schemas.microsoft.com/office/drawing/2014/main" id="{71D59580-CF23-45F5-9C76-A7D9C34B8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MUHAMMAD ALI AKBAR AL-QAHRI  /  DATA PORTFOLIO</a:t>
            </a:r>
          </a:p>
        </p:txBody>
      </p:sp>
      <p:sp>
        <p:nvSpPr>
          <p:cNvPr id="17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EC7119FB-1F8B-4757-AA94-BA2E4BB8C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08</a:t>
            </a:r>
          </a:p>
        </p:txBody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28ba0899e74a9d"/>
          <a:srcRect xmlns:a="http://schemas.openxmlformats.org/drawingml/2006/main" l="0" t="4261" r="0" b="42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133600"/>
            <a:ext cx="5886450" cy="30289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410230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09-bi-gallery-canvas">
            <a:extLst xmlns:a="http://schemas.openxmlformats.org/drawingml/2006/main">
              <a:ext uri="{FF2B5EF4-FFF2-40B4-BE49-F238E27FC236}">
                <a16:creationId xmlns:a16="http://schemas.microsoft.com/office/drawing/2014/main" id="{19FF8792-11E9-486A-8A52-D7D58EE84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2" name="eyebrow-9">
            <a:extLst xmlns:a="http://schemas.openxmlformats.org/drawingml/2006/main">
              <a:ext uri="{FF2B5EF4-FFF2-40B4-BE49-F238E27FC236}">
                <a16:creationId xmlns:a16="http://schemas.microsoft.com/office/drawing/2014/main" id="{2A1A76BC-8109-4B4D-B134-25895F513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69E0"/>
                </a:solidFill>
                <a:latin typeface="Arial"/>
                <a:ea typeface="Arial"/>
                <a:cs typeface="Arial"/>
              </a:defRPr>
            </a:pPr>
            <a:r>
              <a:t>BUSINESS INTELLIGENCE</a:t>
            </a:r>
          </a:p>
        </p:txBody>
      </p:sp>
      <p:sp>
        <p:nvSpPr>
          <p:cNvPr id="3" name="title-9">
            <a:extLst xmlns:a="http://schemas.openxmlformats.org/drawingml/2006/main">
              <a:ext uri="{FF2B5EF4-FFF2-40B4-BE49-F238E27FC236}">
                <a16:creationId xmlns:a16="http://schemas.microsoft.com/office/drawing/2014/main" id="{25546EA3-3F02-4CE2-A00C-B4321DC62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3023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Dashboards are delivery systems for decisions—not decoration.</a:t>
            </a:r>
          </a:p>
        </p:txBody>
      </p:sp>
      <p:sp>
        <p:nvSpPr>
          <p:cNvPr id="4" name="bi-note">
            <a:extLst xmlns:a="http://schemas.openxmlformats.org/drawingml/2006/main">
              <a:ext uri="{FF2B5EF4-FFF2-40B4-BE49-F238E27FC236}">
                <a16:creationId xmlns:a16="http://schemas.microsoft.com/office/drawing/2014/main" id="{CE1413D8-DE43-469E-A0DF-61C8DDD79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38275"/>
            <a:ext cx="7239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Selected dashboard samples are intentionally blurred to protect sensitive information.</a:t>
            </a:r>
          </a:p>
        </p:txBody>
      </p:sp>
      <p:sp>
        <p:nvSpPr>
          <p:cNvPr id="5" name="dash-frame-1">
            <a:extLst xmlns:a="http://schemas.openxmlformats.org/drawingml/2006/main">
              <a:ext uri="{FF2B5EF4-FFF2-40B4-BE49-F238E27FC236}">
                <a16:creationId xmlns:a16="http://schemas.microsoft.com/office/drawing/2014/main" id="{9075C2E3-7825-4733-9EC1-664D4B4B9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38350"/>
            <a:ext cx="3581400" cy="2619375"/>
          </a:xfrm>
          <a:prstGeom xmlns:a="http://schemas.openxmlformats.org/drawingml/2006/main" prst="roundRect">
            <a:avLst>
              <a:gd name="adj" fmla="val 2909"/>
            </a:avLst>
          </a:prstGeom>
          <a:solidFill xmlns:a="http://schemas.openxmlformats.org/drawingml/2006/main">
            <a:srgbClr val="F3F6FA"/>
          </a:solidFill>
        </p:spPr>
      </p:sp>
      <p:sp>
        <p:nvSpPr>
          <p:cNvPr id="6" name="dash-frame-2">
            <a:extLst xmlns:a="http://schemas.openxmlformats.org/drawingml/2006/main">
              <a:ext uri="{FF2B5EF4-FFF2-40B4-BE49-F238E27FC236}">
                <a16:creationId xmlns:a16="http://schemas.microsoft.com/office/drawing/2014/main" id="{4916D493-33C3-494A-857B-1D683F6F0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38350"/>
            <a:ext cx="3581400" cy="2619375"/>
          </a:xfrm>
          <a:prstGeom xmlns:a="http://schemas.openxmlformats.org/drawingml/2006/main" prst="roundRect">
            <a:avLst>
              <a:gd name="adj" fmla="val 2909"/>
            </a:avLst>
          </a:prstGeom>
          <a:solidFill xmlns:a="http://schemas.openxmlformats.org/drawingml/2006/main">
            <a:srgbClr val="F3F6FA"/>
          </a:solidFill>
        </p:spPr>
      </p:sp>
      <p:sp>
        <p:nvSpPr>
          <p:cNvPr id="7" name="dash-frame-3">
            <a:extLst xmlns:a="http://schemas.openxmlformats.org/drawingml/2006/main">
              <a:ext uri="{FF2B5EF4-FFF2-40B4-BE49-F238E27FC236}">
                <a16:creationId xmlns:a16="http://schemas.microsoft.com/office/drawing/2014/main" id="{404BABB7-9388-47E8-9296-1A1BDCDB4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38350"/>
            <a:ext cx="3581400" cy="2619375"/>
          </a:xfrm>
          <a:prstGeom xmlns:a="http://schemas.openxmlformats.org/drawingml/2006/main" prst="roundRect">
            <a:avLst>
              <a:gd name="adj" fmla="val 2909"/>
            </a:avLst>
          </a:prstGeom>
          <a:solidFill xmlns:a="http://schemas.openxmlformats.org/drawingml/2006/main">
            <a:srgbClr val="F3F6FA"/>
          </a:solidFill>
        </p:spPr>
      </p:sp>
      <p:sp>
        <p:nvSpPr>
          <p:cNvPr id="8" name="dash-title-1">
            <a:extLst xmlns:a="http://schemas.openxmlformats.org/drawingml/2006/main">
              <a:ext uri="{FF2B5EF4-FFF2-40B4-BE49-F238E27FC236}">
                <a16:creationId xmlns:a16="http://schemas.microsoft.com/office/drawing/2014/main" id="{DBF86D3C-736E-4BB6-9300-A91B21046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05375"/>
            <a:ext cx="30480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Revenue Monitoring</a:t>
            </a:r>
          </a:p>
        </p:txBody>
      </p:sp>
      <p:sp>
        <p:nvSpPr>
          <p:cNvPr id="9" name="dash-caption-1">
            <a:extLst xmlns:a="http://schemas.openxmlformats.org/drawingml/2006/main">
              <a:ext uri="{FF2B5EF4-FFF2-40B4-BE49-F238E27FC236}">
                <a16:creationId xmlns:a16="http://schemas.microsoft.com/office/drawing/2014/main" id="{66A729FB-7D45-41A0-A825-AFDCEE8BF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76850"/>
            <a:ext cx="3238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Power BI · KPI tracking</a:t>
            </a:r>
          </a:p>
        </p:txBody>
      </p:sp>
      <p:sp>
        <p:nvSpPr>
          <p:cNvPr id="10" name="dash-title-2">
            <a:extLst xmlns:a="http://schemas.openxmlformats.org/drawingml/2006/main">
              <a:ext uri="{FF2B5EF4-FFF2-40B4-BE49-F238E27FC236}">
                <a16:creationId xmlns:a16="http://schemas.microsoft.com/office/drawing/2014/main" id="{7C1B1266-95F6-42E6-893C-24BE6290C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905375"/>
            <a:ext cx="30480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Sales Performance</a:t>
            </a:r>
          </a:p>
        </p:txBody>
      </p:sp>
      <p:sp>
        <p:nvSpPr>
          <p:cNvPr id="11" name="dash-caption-2">
            <a:extLst xmlns:a="http://schemas.openxmlformats.org/drawingml/2006/main">
              <a:ext uri="{FF2B5EF4-FFF2-40B4-BE49-F238E27FC236}">
                <a16:creationId xmlns:a16="http://schemas.microsoft.com/office/drawing/2014/main" id="{6ABC7572-4D99-4AE0-B84E-699353C4E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276850"/>
            <a:ext cx="3238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Looker Studio · trend analysis</a:t>
            </a:r>
          </a:p>
        </p:txBody>
      </p:sp>
      <p:sp>
        <p:nvSpPr>
          <p:cNvPr id="12" name="dash-title-3">
            <a:extLst xmlns:a="http://schemas.openxmlformats.org/drawingml/2006/main">
              <a:ext uri="{FF2B5EF4-FFF2-40B4-BE49-F238E27FC236}">
                <a16:creationId xmlns:a16="http://schemas.microsoft.com/office/drawing/2014/main" id="{C19F5C10-8236-467E-B16F-5CA17D79A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905375"/>
            <a:ext cx="30480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Executive Summary</a:t>
            </a:r>
          </a:p>
        </p:txBody>
      </p:sp>
      <p:sp>
        <p:nvSpPr>
          <p:cNvPr id="13" name="dash-caption-3">
            <a:extLst xmlns:a="http://schemas.openxmlformats.org/drawingml/2006/main">
              <a:ext uri="{FF2B5EF4-FFF2-40B4-BE49-F238E27FC236}">
                <a16:creationId xmlns:a16="http://schemas.microsoft.com/office/drawing/2014/main" id="{EB7C3E66-517F-453B-A00C-F9D82AD0A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276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Looker Studio · decision overview</a:t>
            </a:r>
          </a:p>
        </p:txBody>
      </p:sp>
      <p:sp>
        <p:nvSpPr>
          <p:cNvPr id="14" name="footer-line-9">
            <a:extLst xmlns:a="http://schemas.openxmlformats.org/drawingml/2006/main">
              <a:ext uri="{FF2B5EF4-FFF2-40B4-BE49-F238E27FC236}">
                <a16:creationId xmlns:a16="http://schemas.microsoft.com/office/drawing/2014/main" id="{A5F0918C-79A0-426C-93C0-D8BBF379F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10553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9"/>
          </a:solidFill>
        </p:spPr>
      </p:sp>
      <p:sp>
        <p:nvSpPr>
          <p:cNvPr id="15" name="footer-name-9">
            <a:extLst xmlns:a="http://schemas.openxmlformats.org/drawingml/2006/main">
              <a:ext uri="{FF2B5EF4-FFF2-40B4-BE49-F238E27FC236}">
                <a16:creationId xmlns:a16="http://schemas.microsoft.com/office/drawing/2014/main" id="{0F3D0DED-7AD0-44CB-AC49-593566DD1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MUHAMMAD ALI AKBAR AL-QAHRI  /  DATA PORTFOLIO</a:t>
            </a:r>
          </a:p>
        </p:txBody>
      </p:sp>
      <p:sp>
        <p:nvSpPr>
          <p:cNvPr id="16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668A67A2-4FD8-41B7-8E93-27B0A7117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09</a:t>
            </a:r>
          </a:p>
        </p:txBody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83bd007fd84362"/>
          <a:srcRect xmlns:a="http://schemas.openxmlformats.org/drawingml/2006/main" l="10463" t="0" r="1046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190750"/>
            <a:ext cx="3276600" cy="2314575"/>
          </a:xfrm>
          <a:prstGeom xmlns:a="http://schemas.openxmlformats.org/drawingml/2006/main" prst="rect">
            <a:avLst/>
          </a:prstGeom>
        </p:spPr>
      </p:pic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90537c30764e28"/>
          <a:srcRect xmlns:a="http://schemas.openxmlformats.org/drawingml/2006/main" l="0" t="2817" r="0" b="28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57700" y="2190750"/>
            <a:ext cx="3276600" cy="2314575"/>
          </a:xfrm>
          <a:prstGeom xmlns:a="http://schemas.openxmlformats.org/drawingml/2006/main" prst="rect">
            <a:avLst/>
          </a:prstGeom>
        </p:spPr>
      </p:pic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db98baeb9f42f1"/>
          <a:srcRect xmlns:a="http://schemas.openxmlformats.org/drawingml/2006/main" l="0" t="2500" r="0" b="25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62950" y="2190750"/>
            <a:ext cx="3276600" cy="23145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0221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10-capability-canvas">
            <a:extLst xmlns:a="http://schemas.openxmlformats.org/drawingml/2006/main">
              <a:ext uri="{FF2B5EF4-FFF2-40B4-BE49-F238E27FC236}">
                <a16:creationId xmlns:a16="http://schemas.microsoft.com/office/drawing/2014/main" id="{CA1D87DB-74E4-4A97-92CF-62DE6F9B1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2" name="eyebrow-10">
            <a:extLst xmlns:a="http://schemas.openxmlformats.org/drawingml/2006/main">
              <a:ext uri="{FF2B5EF4-FFF2-40B4-BE49-F238E27FC236}">
                <a16:creationId xmlns:a16="http://schemas.microsoft.com/office/drawing/2014/main" id="{F3D86B20-42A7-4111-BB3F-2949F19BE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69E0"/>
                </a:solidFill>
                <a:latin typeface="Arial"/>
                <a:ea typeface="Arial"/>
                <a:cs typeface="Arial"/>
              </a:defRPr>
            </a:pPr>
            <a:r>
              <a:t>CAPABILITY</a:t>
            </a:r>
          </a:p>
        </p:txBody>
      </p:sp>
      <p:sp>
        <p:nvSpPr>
          <p:cNvPr id="3" name="title-10">
            <a:extLst xmlns:a="http://schemas.openxmlformats.org/drawingml/2006/main">
              <a:ext uri="{FF2B5EF4-FFF2-40B4-BE49-F238E27FC236}">
                <a16:creationId xmlns:a16="http://schemas.microsoft.com/office/drawing/2014/main" id="{CA2555B2-36DB-4CDD-BDF7-4A210DF42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3023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A production-ready stack—grounded in analytical judgment.</a:t>
            </a:r>
          </a:p>
        </p:txBody>
      </p:sp>
      <p:sp>
        <p:nvSpPr>
          <p:cNvPr id="4" name="cap-card-0">
            <a:extLst xmlns:a="http://schemas.openxmlformats.org/drawingml/2006/main">
              <a:ext uri="{FF2B5EF4-FFF2-40B4-BE49-F238E27FC236}">
                <a16:creationId xmlns:a16="http://schemas.microsoft.com/office/drawing/2014/main" id="{A91DA0A1-00DA-489F-BB2A-10A7CA24A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2438400" cy="264795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3F6FA"/>
          </a:solidFill>
        </p:spPr>
      </p:sp>
      <p:sp>
        <p:nvSpPr>
          <p:cNvPr id="5" name="cap-accent-0">
            <a:extLst xmlns:a="http://schemas.openxmlformats.org/drawingml/2006/main">
              <a:ext uri="{FF2B5EF4-FFF2-40B4-BE49-F238E27FC236}">
                <a16:creationId xmlns:a16="http://schemas.microsoft.com/office/drawing/2014/main" id="{D9648BAC-5E2A-4618-90CE-8939F78AB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24384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D8DFF"/>
          </a:solidFill>
        </p:spPr>
      </p:sp>
      <p:sp>
        <p:nvSpPr>
          <p:cNvPr id="6" name="cap-title-0">
            <a:extLst xmlns:a="http://schemas.openxmlformats.org/drawingml/2006/main">
              <a:ext uri="{FF2B5EF4-FFF2-40B4-BE49-F238E27FC236}">
                <a16:creationId xmlns:a16="http://schemas.microsoft.com/office/drawing/2014/main" id="{23280969-998E-4EC2-9032-4E25DAFBE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2000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Analyze</a:t>
            </a:r>
          </a:p>
        </p:txBody>
      </p:sp>
      <p:sp>
        <p:nvSpPr>
          <p:cNvPr id="7" name="cap-items-0">
            <a:extLst xmlns:a="http://schemas.openxmlformats.org/drawingml/2006/main">
              <a:ext uri="{FF2B5EF4-FFF2-40B4-BE49-F238E27FC236}">
                <a16:creationId xmlns:a16="http://schemas.microsoft.com/office/drawing/2014/main" id="{84BB7560-D15B-45C3-A876-82EB8F240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2000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Python · SQL
Pandas · NumPy
Statistics · EDA</a:t>
            </a:r>
          </a:p>
        </p:txBody>
      </p:sp>
      <p:sp>
        <p:nvSpPr>
          <p:cNvPr id="8" name="cap-card-1">
            <a:extLst xmlns:a="http://schemas.openxmlformats.org/drawingml/2006/main">
              <a:ext uri="{FF2B5EF4-FFF2-40B4-BE49-F238E27FC236}">
                <a16:creationId xmlns:a16="http://schemas.microsoft.com/office/drawing/2014/main" id="{5B1492E1-0D6E-43AB-BD9A-784388DC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095500"/>
            <a:ext cx="2438400" cy="264795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3F6FA"/>
          </a:solidFill>
        </p:spPr>
      </p:sp>
      <p:sp>
        <p:nvSpPr>
          <p:cNvPr id="9" name="cap-accent-1">
            <a:extLst xmlns:a="http://schemas.openxmlformats.org/drawingml/2006/main">
              <a:ext uri="{FF2B5EF4-FFF2-40B4-BE49-F238E27FC236}">
                <a16:creationId xmlns:a16="http://schemas.microsoft.com/office/drawing/2014/main" id="{A4C8EE99-B8E0-46EB-8177-9B351C52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095500"/>
            <a:ext cx="24384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CBF4"/>
          </a:solidFill>
        </p:spPr>
      </p:sp>
      <p:sp>
        <p:nvSpPr>
          <p:cNvPr id="10" name="cap-title-1">
            <a:extLst xmlns:a="http://schemas.openxmlformats.org/drawingml/2006/main">
              <a:ext uri="{FF2B5EF4-FFF2-40B4-BE49-F238E27FC236}">
                <a16:creationId xmlns:a16="http://schemas.microsoft.com/office/drawing/2014/main" id="{57E164BD-02BE-4663-BB36-C297DB6E6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457450"/>
            <a:ext cx="2000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Model</a:t>
            </a:r>
          </a:p>
        </p:txBody>
      </p:sp>
      <p:sp>
        <p:nvSpPr>
          <p:cNvPr id="11" name="cap-items-1">
            <a:extLst xmlns:a="http://schemas.openxmlformats.org/drawingml/2006/main">
              <a:ext uri="{FF2B5EF4-FFF2-40B4-BE49-F238E27FC236}">
                <a16:creationId xmlns:a16="http://schemas.microsoft.com/office/drawing/2014/main" id="{5FC4E3BB-B970-42ED-B92D-9D3E28E98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105150"/>
            <a:ext cx="2000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Scikit-learn
XGBoost · TensorFlow
Forecasting · NLP</a:t>
            </a:r>
          </a:p>
        </p:txBody>
      </p:sp>
      <p:sp>
        <p:nvSpPr>
          <p:cNvPr id="12" name="cap-card-2">
            <a:extLst xmlns:a="http://schemas.openxmlformats.org/drawingml/2006/main">
              <a:ext uri="{FF2B5EF4-FFF2-40B4-BE49-F238E27FC236}">
                <a16:creationId xmlns:a16="http://schemas.microsoft.com/office/drawing/2014/main" id="{6DC18B71-1987-4459-8FE1-012654303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095500"/>
            <a:ext cx="2438400" cy="264795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3F6FA"/>
          </a:solidFill>
        </p:spPr>
      </p:sp>
      <p:sp>
        <p:nvSpPr>
          <p:cNvPr id="13" name="cap-accent-2">
            <a:extLst xmlns:a="http://schemas.openxmlformats.org/drawingml/2006/main">
              <a:ext uri="{FF2B5EF4-FFF2-40B4-BE49-F238E27FC236}">
                <a16:creationId xmlns:a16="http://schemas.microsoft.com/office/drawing/2014/main" id="{369A4D99-CBE0-48EC-9EE6-41682CFFF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095500"/>
            <a:ext cx="24384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A36D"/>
          </a:solidFill>
        </p:spPr>
      </p:sp>
      <p:sp>
        <p:nvSpPr>
          <p:cNvPr id="14" name="cap-title-2">
            <a:extLst xmlns:a="http://schemas.openxmlformats.org/drawingml/2006/main">
              <a:ext uri="{FF2B5EF4-FFF2-40B4-BE49-F238E27FC236}">
                <a16:creationId xmlns:a16="http://schemas.microsoft.com/office/drawing/2014/main" id="{658EEDAA-6C75-4BC4-B09A-28813B916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57450"/>
            <a:ext cx="2000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Engineer</a:t>
            </a:r>
          </a:p>
        </p:txBody>
      </p:sp>
      <p:sp>
        <p:nvSpPr>
          <p:cNvPr id="15" name="cap-items-2">
            <a:extLst xmlns:a="http://schemas.openxmlformats.org/drawingml/2006/main">
              <a:ext uri="{FF2B5EF4-FFF2-40B4-BE49-F238E27FC236}">
                <a16:creationId xmlns:a16="http://schemas.microsoft.com/office/drawing/2014/main" id="{35488A8F-ECAF-471F-AFBF-71974CCFE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05150"/>
            <a:ext cx="2000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MySQL · PostgreSQL
ETL · Data quality
Git · API workflows</a:t>
            </a:r>
          </a:p>
        </p:txBody>
      </p:sp>
      <p:sp>
        <p:nvSpPr>
          <p:cNvPr id="16" name="cap-card-3">
            <a:extLst xmlns:a="http://schemas.openxmlformats.org/drawingml/2006/main">
              <a:ext uri="{FF2B5EF4-FFF2-40B4-BE49-F238E27FC236}">
                <a16:creationId xmlns:a16="http://schemas.microsoft.com/office/drawing/2014/main" id="{1C6F27DA-42D7-41B9-93D6-FB809D325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95500"/>
            <a:ext cx="2438400" cy="264795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3F6FA"/>
          </a:solidFill>
        </p:spPr>
      </p:sp>
      <p:sp>
        <p:nvSpPr>
          <p:cNvPr id="17" name="cap-accent-3">
            <a:extLst xmlns:a="http://schemas.openxmlformats.org/drawingml/2006/main">
              <a:ext uri="{FF2B5EF4-FFF2-40B4-BE49-F238E27FC236}">
                <a16:creationId xmlns:a16="http://schemas.microsoft.com/office/drawing/2014/main" id="{E583C847-2AE5-498F-90E6-7A02B2420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95500"/>
            <a:ext cx="24384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A712"/>
          </a:solidFill>
        </p:spPr>
      </p:sp>
      <p:sp>
        <p:nvSpPr>
          <p:cNvPr id="18" name="cap-title-3">
            <a:extLst xmlns:a="http://schemas.openxmlformats.org/drawingml/2006/main">
              <a:ext uri="{FF2B5EF4-FFF2-40B4-BE49-F238E27FC236}">
                <a16:creationId xmlns:a16="http://schemas.microsoft.com/office/drawing/2014/main" id="{08226B23-5836-4356-8033-27383B1F0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57450"/>
            <a:ext cx="2000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Communicate</a:t>
            </a:r>
          </a:p>
        </p:txBody>
      </p:sp>
      <p:sp>
        <p:nvSpPr>
          <p:cNvPr id="19" name="cap-items-3">
            <a:extLst xmlns:a="http://schemas.openxmlformats.org/drawingml/2006/main">
              <a:ext uri="{FF2B5EF4-FFF2-40B4-BE49-F238E27FC236}">
                <a16:creationId xmlns:a16="http://schemas.microsoft.com/office/drawing/2014/main" id="{CEA22BDD-B68B-4278-9032-5D98C4194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105150"/>
            <a:ext cx="2000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Power BI · Looker
Streamlit · Tableau
Storytelling</a:t>
            </a:r>
          </a:p>
        </p:txBody>
      </p:sp>
      <p:sp>
        <p:nvSpPr>
          <p:cNvPr id="20" name="credentials-strip">
            <a:extLst xmlns:a="http://schemas.openxmlformats.org/drawingml/2006/main">
              <a:ext uri="{FF2B5EF4-FFF2-40B4-BE49-F238E27FC236}">
                <a16:creationId xmlns:a16="http://schemas.microsoft.com/office/drawing/2014/main" id="{9CB65168-FE37-4811-8D0D-0498744B9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29200"/>
            <a:ext cx="110109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AF3FF"/>
          </a:solidFill>
        </p:spPr>
      </p:sp>
      <p:sp>
        <p:nvSpPr>
          <p:cNvPr id="21" name="credentials-label">
            <a:extLst xmlns:a="http://schemas.openxmlformats.org/drawingml/2006/main">
              <a:ext uri="{FF2B5EF4-FFF2-40B4-BE49-F238E27FC236}">
                <a16:creationId xmlns:a16="http://schemas.microsoft.com/office/drawing/2014/main" id="{C8501AB4-6046-4E45-A645-81E02CBF0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38750"/>
            <a:ext cx="1333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69E0"/>
                </a:solidFill>
                <a:latin typeface="Arial"/>
                <a:ea typeface="Arial"/>
                <a:cs typeface="Arial"/>
              </a:defRPr>
            </a:pPr>
            <a:r>
              <a:t>CREDENTIALS</a:t>
            </a:r>
          </a:p>
        </p:txBody>
      </p:sp>
      <p:sp>
        <p:nvSpPr>
          <p:cNvPr id="22" name="credentials-text">
            <a:extLst xmlns:a="http://schemas.openxmlformats.org/drawingml/2006/main">
              <a:ext uri="{FF2B5EF4-FFF2-40B4-BE49-F238E27FC236}">
                <a16:creationId xmlns:a16="http://schemas.microsoft.com/office/drawing/2014/main" id="{A6CA503F-48C1-441A-81E7-CEBC25183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149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B.Sc. Data Science · GPA 3.74/4.00     |     Best Paper, ICoDSA 2025     |     NVIDIA DLI · Google Analytics · Alibaba Cloud</a:t>
            </a:r>
          </a:p>
        </p:txBody>
      </p:sp>
      <p:sp>
        <p:nvSpPr>
          <p:cNvPr id="23" name="footer-line-10">
            <a:extLst xmlns:a="http://schemas.openxmlformats.org/drawingml/2006/main">
              <a:ext uri="{FF2B5EF4-FFF2-40B4-BE49-F238E27FC236}">
                <a16:creationId xmlns:a16="http://schemas.microsoft.com/office/drawing/2014/main" id="{9C1B9C3D-6329-4FE0-A645-1F6AA47DD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10553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9"/>
          </a:solidFill>
        </p:spPr>
      </p:sp>
      <p:sp>
        <p:nvSpPr>
          <p:cNvPr id="24" name="footer-name-10">
            <a:extLst xmlns:a="http://schemas.openxmlformats.org/drawingml/2006/main">
              <a:ext uri="{FF2B5EF4-FFF2-40B4-BE49-F238E27FC236}">
                <a16:creationId xmlns:a16="http://schemas.microsoft.com/office/drawing/2014/main" id="{CBECA872-4A6F-45B5-A41B-AD38F7C0B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MUHAMMAD ALI AKBAR AL-QAHRI  /  DATA PORTFOLIO</a:t>
            </a:r>
          </a:p>
        </p:txBody>
      </p:sp>
      <p:sp>
        <p:nvSpPr>
          <p:cNvPr id="25" name="footer-page-10">
            <a:extLst xmlns:a="http://schemas.openxmlformats.org/drawingml/2006/main">
              <a:ext uri="{FF2B5EF4-FFF2-40B4-BE49-F238E27FC236}">
                <a16:creationId xmlns:a16="http://schemas.microsoft.com/office/drawing/2014/main" id="{5CC6082B-6D82-4265-A787-23140E1BF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04871263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11-closing-canvas">
            <a:extLst xmlns:a="http://schemas.openxmlformats.org/drawingml/2006/main">
              <a:ext uri="{FF2B5EF4-FFF2-40B4-BE49-F238E27FC236}">
                <a16:creationId xmlns:a16="http://schemas.microsoft.com/office/drawing/2014/main" id="{293A1A83-1E16-403C-A53B-7C0E26EA8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2" name="closing-blue">
            <a:extLst xmlns:a="http://schemas.openxmlformats.org/drawingml/2006/main">
              <a:ext uri="{FF2B5EF4-FFF2-40B4-BE49-F238E27FC236}">
                <a16:creationId xmlns:a16="http://schemas.microsoft.com/office/drawing/2014/main" id="{59A3B09A-1CA8-4829-A9DF-9C9F83B28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3338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</p:spPr>
      </p:sp>
      <p:sp>
        <p:nvSpPr>
          <p:cNvPr id="3" name="closing-blue-detail">
            <a:extLst xmlns:a="http://schemas.openxmlformats.org/drawingml/2006/main">
              <a:ext uri="{FF2B5EF4-FFF2-40B4-BE49-F238E27FC236}">
                <a16:creationId xmlns:a16="http://schemas.microsoft.com/office/drawing/2014/main" id="{1D148B5D-31DA-4716-B65A-065C7CE64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3009900" cy="3009900"/>
          </a:xfrm>
          <a:prstGeom xmlns:a="http://schemas.openxmlformats.org/drawingml/2006/main" prst="roundRect">
            <a:avLst>
              <a:gd name="adj" fmla="val 2532"/>
            </a:avLst>
          </a:prstGeom>
          <a:solidFill xmlns:a="http://schemas.openxmlformats.org/drawingml/2006/main">
            <a:srgbClr val="1769E0"/>
          </a:solidFill>
        </p:spPr>
      </p:sp>
      <p:sp>
        <p:nvSpPr>
          <p:cNvPr id="4" name="closing-monogram">
            <a:extLst xmlns:a="http://schemas.openxmlformats.org/drawingml/2006/main">
              <a:ext uri="{FF2B5EF4-FFF2-40B4-BE49-F238E27FC236}">
                <a16:creationId xmlns:a16="http://schemas.microsoft.com/office/drawing/2014/main" id="{850E7E3A-8238-49B3-BD12-259EDEE00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352550"/>
            <a:ext cx="26289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MA</a:t>
            </a:r>
          </a:p>
        </p:txBody>
      </p:sp>
      <p:sp>
        <p:nvSpPr>
          <p:cNvPr id="5" name="closing-role">
            <a:extLst xmlns:a="http://schemas.openxmlformats.org/drawingml/2006/main">
              <a:ext uri="{FF2B5EF4-FFF2-40B4-BE49-F238E27FC236}">
                <a16:creationId xmlns:a16="http://schemas.microsoft.com/office/drawing/2014/main" id="{37D32111-E1A9-4868-81CE-D814C9137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28765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DATA · MODELS · DECISIONS</a:t>
            </a:r>
          </a:p>
        </p:txBody>
      </p:sp>
      <p:sp>
        <p:nvSpPr>
          <p:cNvPr id="6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64037A91-1E87-46D4-9DE6-B75918570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876300"/>
            <a:ext cx="6438900" cy="1466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Let’s build decisions
people can act on.</a:t>
            </a:r>
          </a:p>
        </p:txBody>
      </p:sp>
      <p:sp>
        <p:nvSpPr>
          <p:cNvPr id="7" name="closing-copy">
            <a:extLst xmlns:a="http://schemas.openxmlformats.org/drawingml/2006/main">
              <a:ext uri="{FF2B5EF4-FFF2-40B4-BE49-F238E27FC236}">
                <a16:creationId xmlns:a16="http://schemas.microsoft.com/office/drawing/2014/main" id="{91535760-9E05-4A5B-AFB8-96C6FF813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705100"/>
            <a:ext cx="59055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Available for data analyst, business intelligence, data science, and data engineering opportunities.</a:t>
            </a:r>
          </a:p>
        </p:txBody>
      </p:sp>
      <p:sp>
        <p:nvSpPr>
          <p:cNvPr id="8" name="closing-line">
            <a:extLst xmlns:a="http://schemas.openxmlformats.org/drawingml/2006/main">
              <a:ext uri="{FF2B5EF4-FFF2-40B4-BE49-F238E27FC236}">
                <a16:creationId xmlns:a16="http://schemas.microsoft.com/office/drawing/2014/main" id="{044F9902-2D61-4617-A42F-58C85AF4A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838575"/>
            <a:ext cx="6134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9"/>
          </a:solidFill>
        </p:spPr>
      </p:sp>
      <p:sp>
        <p:nvSpPr>
          <p:cNvPr id="9" name="closing-email-label">
            <a:extLst xmlns:a="http://schemas.openxmlformats.org/drawingml/2006/main">
              <a:ext uri="{FF2B5EF4-FFF2-40B4-BE49-F238E27FC236}">
                <a16:creationId xmlns:a16="http://schemas.microsoft.com/office/drawing/2014/main" id="{A44EF13F-B77E-4AF9-8DD8-A6799BFD7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105275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69E0"/>
                </a:solidFill>
                <a:latin typeface="Arial"/>
                <a:ea typeface="Arial"/>
                <a:cs typeface="Arial"/>
              </a:defRPr>
            </a:pPr>
            <a:r>
              <a:t>EMAIL</a:t>
            </a:r>
          </a:p>
        </p:txBody>
      </p:sp>
      <p:sp>
        <p:nvSpPr>
          <p:cNvPr id="10" name="closing-email">
            <a:extLst xmlns:a="http://schemas.openxmlformats.org/drawingml/2006/main">
              <a:ext uri="{FF2B5EF4-FFF2-40B4-BE49-F238E27FC236}">
                <a16:creationId xmlns:a16="http://schemas.microsoft.com/office/drawing/2014/main" id="{0FBB9FF1-5EF8-44CE-92FD-944F1035B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362450"/>
            <a:ext cx="47625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akbaralqahri@gmail.com</a:t>
            </a:r>
          </a:p>
        </p:txBody>
      </p:sp>
      <p:sp>
        <p:nvSpPr>
          <p:cNvPr id="11" name="closing-links">
            <a:extLst xmlns:a="http://schemas.openxmlformats.org/drawingml/2006/main">
              <a:ext uri="{FF2B5EF4-FFF2-40B4-BE49-F238E27FC236}">
                <a16:creationId xmlns:a16="http://schemas.microsoft.com/office/drawing/2014/main" id="{7BC66D2F-83AE-4AE9-B642-0C1E1F74A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933950"/>
            <a:ext cx="5334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linkedin.com/in/akbaralqahri
akbaralqahri.github.io/portofolio</a:t>
            </a:r>
          </a:p>
        </p:txBody>
      </p:sp>
      <p:sp>
        <p:nvSpPr>
          <p:cNvPr id="12" name="closing-phone">
            <a:extLst xmlns:a="http://schemas.openxmlformats.org/drawingml/2006/main">
              <a:ext uri="{FF2B5EF4-FFF2-40B4-BE49-F238E27FC236}">
                <a16:creationId xmlns:a16="http://schemas.microsoft.com/office/drawing/2014/main" id="{99AC1F4A-6CB6-4FD0-B7C6-77045F81A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5791200"/>
            <a:ext cx="3810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318"/>
                </a:solidFill>
                <a:latin typeface="Arial"/>
                <a:ea typeface="Arial"/>
                <a:cs typeface="Arial"/>
              </a:defRPr>
            </a:pPr>
            <a:r>
              <a:t>+62 852 1194 4977</a:t>
            </a:r>
          </a:p>
        </p:txBody>
      </p:sp>
      <p:sp>
        <p:nvSpPr>
          <p:cNvPr id="13" name="closing-page">
            <a:extLst xmlns:a="http://schemas.openxmlformats.org/drawingml/2006/main">
              <a:ext uri="{FF2B5EF4-FFF2-40B4-BE49-F238E27FC236}">
                <a16:creationId xmlns:a16="http://schemas.microsoft.com/office/drawing/2014/main" id="{F4944A1B-CE08-4016-A7FB-75CC08CE6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2086910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2026-07-16T03:34:28.3570000Z</dcterms:created>
  <dcterms:modified xsi:type="dcterms:W3CDTF">2026-07-16T03:34:28.3570000Z</dcterms:modified>
</coreProperties>
</file>